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音声対話 × Text-to-Motion × VRM</a:t>
            </a:r>
          </a:p>
          <a:p/>
          <a:p>
            <a:r>
              <a:t>既存の実推論・音声入力・動画・CSVを再集計した報告。追加のGPU課金やモデル推論は実施していない。実験日の原記録はUTC、報告日は日本時間。</a:t>
            </a:r>
          </a:p>
          <a:p/>
          <a:p>
            <a:r>
              <a:t>出典: 報告日 2026-10-16（日本時間） / nk-an-nk/textToMotion /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生成単体の高速化は確認。会話の待ち時間には課題が残る</a:t>
            </a:r>
          </a:p>
          <a:p/>
          <a:p>
            <a:r>
              <a:t>MotionLCMはRTX4090で初回を除く4つの異なる区間の中央値。Kimodoの0.435秒はB300、149フレーム、3反復の中央値。3.252秒は別の実音声入力会話1回の値であり、同じ統計量や実行条件ではない。</a:t>
            </a:r>
          </a:p>
          <a:p/>
          <a:p>
            <a:r>
              <a:t>出典: [R1] common/*/motion-generation.json  [R3] benchmark/summary.json  [R4] dialogue-times.csv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目標は、音声の返答と上半身ジェスチャーをそろえること</a:t>
            </a:r>
          </a:p>
          <a:p/>
          <a:p>
            <a:r>
              <a:t>学生は録音済み合成音声を実時間で送信。生マイクの連続会話や自由回答の試験ではない。基準時刻は生徒の発話終了。教師の全文を受信してから動作を生成し、教師音声は骨格受信まで保留する。</a:t>
            </a:r>
          </a:p>
          <a:p/>
          <a:p>
            <a:r>
              <a:t>出典: [R2] audio-response-times.csv  [R4] dialogue-*/measurement.json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7モデルを実生成。出力する役割が異なるモデルを含む</a:t>
            </a:r>
          </a:p>
          <a:p/>
          <a:p>
            <a:r>
              <a:t>text-to-vrmaはARDYを用いる変換・後処理経路であり独立した動作モデルではない。公式Node関数と形式変換は確認したが、今回の7モデル実測に実生成データは含まない。MaAIは生徒音声を使い、ReactMotionは会話デモで生徒の認識文を使う。</a:t>
            </a:r>
          </a:p>
          <a:p/>
          <a:p>
            <a:r>
              <a:t>出典: [R1] common-input-times.csv  [R2] README.md  [R8] model_compatibility.md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研究室PCの制約を意識しつつ、GPU環境を段階的に拡張</a:t>
            </a:r>
          </a:p>
          <a:p/>
          <a:p>
            <a:r>
              <a:t>RTX4090はCPUスレッドとaffinityを8に設定、PyTorch allocator上限を12227MiBに設定。GPU自体は24GBであり12GB GPUそのものではない。RAM32GBのハード上限は未設定。B300はCPU推論8スレッド、ホスト可視192論理CPUを割当コア数と混同しない。API観測の割当は24vCPUと251GB。Kimodoの旧共通5文は4090ではなく公式オンラインL40S表示の経路。</a:t>
            </a:r>
          </a:p>
          <a:p/>
          <a:p>
            <a:r>
              <a:t>出典: [R5] reproducibility/hardware.json  [R6] benchmark/hardware.json  docs/windows_lab.md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共通の英語学習5区間と、生徒→先生の短い会話を使用</a:t>
            </a:r>
          </a:p>
          <a:p/>
          <a:p>
            <a:r>
              <a:t>共通5文の後期比較は原文をそのまま使用。最初期の文分割デモは発話に合わせた英語動作命令を使っており、その結果を後期共通入力と混同しない。ReactMotionとMaAIは聞き手として評価。会話の教師返答は固定しており自由回答の試験ではない。</a:t>
            </a:r>
          </a:p>
          <a:p/>
          <a:p>
            <a:r>
              <a:t>出典: [R1] common-input-times.csv  [R2] audio-input-dialogue/*/measurement.json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計測を3段階に分け、Realtimeとの差を明確に定義</a:t>
            </a:r>
          </a:p>
          <a:p/>
          <a:p>
            <a:r>
              <a:t>T_audioは生徒発話終了から最初の教師音声チャンク受信まで。T_boneは同じ起点から骨格受信または動作完了観測まで。差はT_bone−T_audio。スピーカー再生の物理遅延、口形の音素一致、運動品質の誤差ではない。動画では両方を同一フレームで開始するよう音声を保留。MP4書き出しはCPU処理。</a:t>
            </a:r>
          </a:p>
          <a:p/>
          <a:p>
            <a:r>
              <a:t>出典: [R1–R4] 計測CSV・measurement.json / docs/audio_input_comparison.md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共通5区間の記録：生成処理と動画化を別々に保存</a:t>
            </a:r>
          </a:p>
          <a:p/>
          <a:p>
            <a:r>
              <a:t>Kimodoは公式オンラインでテキスト処理と通信を含む骨格取得時間。ARDYはCPUテキスト特徴を事前計算し、その実処理時間をCUDA生成に加算した。モデルロードは別、会話版では実際に受け取った教師全文からエンコードする。MaAIは同じ発話の音声を使う。描画はCPU SwiftShaderで一部並行実行。UTC入力→MP4経過時間は待ちや再描画が入るため速度比較に使わない。</a:t>
            </a:r>
          </a:p>
          <a:p/>
          <a:p>
            <a:r>
              <a:t>出典: [R1] common-input-times.csv / 値は各5区間の合計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同じRTX 4090・入力5区間ではMotionLCMが最短</a:t>
            </a:r>
          </a:p>
          <a:p/>
          <a:p>
            <a:r>
              <a:t>MotionLCM 0.0388537359秒、MMM 0.0607730370秒、MoMask 0.2023586521秒。これは同一文の反復中央値ではなく異なる4文の中央値。初回区間は40フレームで0.414、0.527、0.705秒。GPUピークはTorch allocated値で全デバイス使用量や必要VRAMの保証ではない。各モデルの意味適合性・品質は未採点。</a:t>
            </a:r>
          </a:p>
          <a:p/>
          <a:p>
            <a:r>
              <a:t>出典: [R1] common/{motionlcm,mmm,momask}/segments/*/motion-generation.json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従来の会話経路では、起動・中継の待ちが大きかった</a:t>
            </a:r>
          </a:p>
          <a:p/>
          <a:p>
            <a:r>
              <a:t>完了観測の時間は純粋な骨格生成ではない。ローカルGPU経路は起動とモデルロード、RPC、最大5秒の完了ポーリング等を含む。ARDYは言語モデルの読込・CPUエンコードも実施。Realtime接続の旧3秒終了待ちもある。Kimodoは公式オンラインである。ReactMotion/MaAIの聞き手反応を先生のジェスチャー品質ランキングに使わない。</a:t>
            </a:r>
          </a:p>
          <a:p/>
          <a:p>
            <a:r>
              <a:t>出典: [R2] audio-response-times.csv / Kimodoは公式オンライン、他はRTX 4090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Kimodo / B300：20ステップでは生成単体が1秒未満</a:t>
            </a:r>
          </a:p>
          <a:p/>
          <a:p>
            <a:r>
              <a:t>各設定を1回ウォームアップ後、seed0/1/2で計測。毎回テキスト特徴を再計算。入力処理、CUDA生成・復元、CPU転送、上半身JSON化まで含む。モデルロード・ネットワーク・動画化は除く。動作モデルfloat32、テキストエンコーダーbfloat16。TF32は許可設定であり全カーネルがTF32とは断定しない。torch.compileは使用せず、後処理も無効。100→20ステップの品質・FIDは未評価。</a:t>
            </a:r>
          </a:p>
          <a:p/>
          <a:p>
            <a:r>
              <a:t>出典: [R3] benchmark/summary.json・hardware.json / Kimodo-SOMA-RP-v1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B300でも、骨格が届くまでの追加待ちは約3.25秒</a:t>
            </a:r>
          </a:p>
          <a:p/>
          <a:p>
            <a:r>
              <a:t>高速経路は最初の音声0.685386秒、全文1.673376秒、生成送信1.782977秒、骨格受信3.936996秒。追加待ち3.251610秒。内訳は全文待ち0.987990秒、送信まで0.109601秒、生成0.496237秒、中継・通知・保存用NPZ等を含む残差1.657782秒。残差は純粋なネットワーク遅延ではない。生成した長さは通常144frames/4.8秒、高速162frames/5.4秒で、前スライドの149framesとは別実行。GPUと常駐化、接続終了待ち短縮等を同時に変えており、旧15.395秒からの変化をGPUだけの効果とは扱わない。</a:t>
            </a:r>
          </a:p>
          <a:p/>
          <a:p>
            <a:r>
              <a:t>出典: [R4] dialogue-{fp32-100,tf32-20}/measurement.json / 各1回・同一クライアント時計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上半身・正面1080pのデモで、実測した待ち時間を確認</a:t>
            </a:r>
          </a:p>
          <a:p/>
          <a:p>
            <a:r>
              <a:t>この動画は実測した待ち時間を再現するオフライン再生でありライブ録画ではない。音声は実際のRealtime応答、動作は受信した全文から実生成。発話と動作を同一フレームにそろえて開始する。動画内の表示時刻と30fpsの切り上げにより、実再生開始は通常5.00秒、高速3.9667秒。PowerPointでは2本のMP4を埋め込む。PDFは静止画プレビューで音声動画は同梱MP4またはindex.htmlを使用。</a:t>
            </a:r>
          </a:p>
          <a:p/>
          <a:p>
            <a:r>
              <a:t>出典: [R4] video-{fp32-100,tf32-20}/demo.mp4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文ごとに発話・動作を同期し、連結する経路を実装</a:t>
            </a:r>
          </a:p>
          <a:p/>
          <a:p>
            <a:r>
              <a:t>初期の分割デモでは発話に対応する英語動作指示を使用。Kimodo骨格合計72.91秒、音声25.32秒、描画237.03秒、成功処理335.27秒。ARDY Horizon40コミュニティSpaceは骨格115.29秒、描画1038.91秒、成功処理1154.20秒、最初の入力からMP4完成1219.86秒。これらは後期Core8/4090の共通原文比較と異なる。区間音声の開始位置はPCM検査で0サンプル差。短い音声の区間はモデル最短長の骨格を生成して再生速度を調整、元骨格を保持。B300は全77関節を生成後、上半身67関節を抽出。腰・脚の表示を固定するため上半身専用モデルへの高速化ではない。</a:t>
            </a:r>
          </a:p>
          <a:p/>
          <a:p>
            <a:r>
              <a:t>出典: [R7] segmented/english-lesson*/README.md  [R4] B300 README.md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B300の1会話は約5円相当。ただし借りている間は連続課金</a:t>
            </a:r>
          </a:p>
          <a:p/>
          <a:p>
            <a:r>
              <a:t>GPU料金は生徒音声入力開始から骨格受信までの約6.8725秒/5.8374秒を時間換算。骨格生成単体だけの費用0.97円/0.25円を総費用とは扱わない。Realtimeはinput text89/audio19、output text38/audio96（通常）、output text61/audio108（高速）。100万tokenあたりtext input$4/output$24/audio input$32/output$64。reasoning23tokensはoutput text61に含まれる内訳として二重加算しない。料金確認2026-10-15、確定請求額は未取得。ASR・ストレージ・起動・待機・動画化は合計から除外。研究用の録音済み入力作成費用も1会話の見積もりに含まない。</a:t>
            </a:r>
          </a:p>
          <a:p/>
          <a:p>
            <a:r>
              <a:t>出典: [R4] usage・入力開始〜骨格受信  [R9] trial-cleanup.json  [P1] OpenAI公式モデル料金</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研究室PCでは、小型モデルから常駐実行を検証する</a:t>
            </a:r>
          </a:p>
          <a:p/>
          <a:p>
            <a:r>
              <a:t>SSH・WSL・Dockerを前提としないWindowsネイティブ手順。Python/Node/FFmpeg/BuildToolsを事前チェックし、専用venvと固定ソースを用いる。現物Windows/5070のビルドと実推論は未検証。Torchピークだけで必要VRAMを保証しない。KimodoのGPUテキストエンコーダー込み15.3GiB構成は12GBに収まらない。CPUテキストエンコーダーは公式に提供されるがCPU待ちが増える可能性があり5070で再測定する。初回loadやRAM容量、Blackwell対応CUDAビルドも確認が必要。</a:t>
            </a:r>
          </a:p>
          <a:p/>
          <a:p>
            <a:r>
              <a:t>出典: docs/windows_lab.md / configs/lab-windows.json / [R1][R3] VRAM記録</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論文の順位との比較は限定的。品質を含む優劣は未確定</a:t>
            </a:r>
          </a:p>
          <a:p/>
          <a:p>
            <a:r>
              <a:t>MoSCo表はユーザーが提示した紹介画像から引用。原論文Table1の独立再検証や全14モデルの再現ではない。画像のAITSはMotionLCM0.030秒、MoMask0.120秒、RTX4090/HumanML3D。今回の初回を除く4文の中央値では0.039秒/0.202秒で順序は同じだが条件や統計量が違う。MoSCo本体、TEMOS、MotionMamba等は実行していない。FIDを今回の日本語会話ジェスチャーにそのまま適用して順位を決めない。</a:t>
            </a:r>
          </a:p>
          <a:p/>
          <a:p>
            <a:r>
              <a:t>出典: [U1] ユーザー提示のMoSCo紹介画像（Table 1）  [R1] MotionLCM・MoMask実測</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次は常駐・短区間化と、品質評価を組み合わせる</a:t>
            </a:r>
          </a:p>
          <a:p/>
          <a:p>
            <a:r>
              <a:t>達成済みと未達を明示。B300で生成単体1秒未満は確認したが、会話での差は3.252秒。次の仮説はモデル常駐の徹底、全文完了前の短い意味区間での開始、Jupyter中継から直接サービスへの変更、保存用NPZ転送を同期経路から外す。これらの効果は未測定。複数音声・複数seed・反復回数を増やして品質とp50/p95を測り、5070Windows実機と同条件に近づける。</a:t>
            </a:r>
          </a:p>
          <a:p/>
          <a:p>
            <a:r>
              <a:t>出典: 判断根拠：[R1–R4] / 右の施策は提案であり、達成時間の予測ではない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付録：初期調査からの到達点と、未測定の経路</a:t>
            </a:r>
          </a:p>
          <a:p/>
          <a:p>
            <a:r>
              <a:t>初期CPU環境では9モデルを調査しARDY無条件CPUとKimodo公式オンラインの動作指示を実行。後続でARDY Horizon40のテキスト条件付き生成、Core8のGPU実生成、7モデル比較とB300Kimodoを追加した。初期のStage3未達という表記は初期日付の範囲。会話内容の意味に合った自然なジェスチャーの品質検証は引き続き未達。text-to-vrmaは形式変換fixtureをモデル生成成功に数えない。</a:t>
            </a:r>
          </a:p>
          <a:p/>
          <a:p>
            <a:r>
              <a:t>出典: [R7] segmented/english-lesson*/README.md  [R8] execution_results.md・model_compatibility.md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付録：初期の文分割デモは、発話に合わせた動作指示を使用</a:t>
            </a:r>
          </a:p>
          <a:p/>
          <a:p>
            <a:r>
              <a:t>Kimodoは公式オンライン、ARDYはHorizon40の公開コミュニティSpace。両方とも原発話そのままではなく発話に合わせた英語動作指示を使用。ARDYの音声は既存のKimodo音声を共有し、追加OpenAI音声生成は0回。各動画は14.133秒、424フレーム、1080p/30fps。最短長制約を満たす新規骨格を生成し再生速度を調整した区間がある。これはライブ会話の待ち時間ではない。</a:t>
            </a:r>
          </a:p>
          <a:p/>
          <a:p>
            <a:r>
              <a:t>出典: [R7] reports/segmented/english-lesson*/README.md / 成功処理の合計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付録：計測原本・固定バージョン・再現手順</a:t>
            </a:r>
          </a:p>
          <a:p/>
          <a:p>
            <a:r>
              <a:t>R1=reports/model-comparison/runpod-20261014/common-input-times.csvと各生成JSON。R2=同audio-response-times.csvと各measurement.json。R3=reports/kimodo-b300-20261015/benchmark/summary.json/hardware.json。R4=同dialogue-times.csvとdialogue-*/measurement.json/video-*/demo.mp4。R5=旧reproducibility/hardware.json/source-and-weights.json。R6=B300environment.json/benchmark/hardware.json。R7=reports/segmented/english-lesson*/README.md。R8=reports/execution_results.md/model_compatibility.md。R9=両試験trial-cleanup.json。U1=ユーザー提示のMoSCo紹介画像（原論文独立検証なし）。P1=OpenAIのgpt-realtime-2.1公式モデルページ、2026-10-15に料金確認。B300ソース58e781898b3d7e328a676a75d3e338c45dce3ad9、checkpoint revision defbe1f34f5fd031eb0ccfe19f3f92a9880c287b。MNTPとsupervisedの各448tensor照合を通った経路のみ報告値に使用。学習済み重みとVRM本体は資料へ再配布していない。</a:t>
            </a:r>
          </a:p>
          <a:p/>
          <a:p>
            <a:r>
              <a:t>出典: 原本はGitのworkブランチ。再集計値・費用式は同梱measurements.json。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付録：全18本のデモ動画をPowerPoint内に収録</a:t>
            </a:r>
          </a:p>
          <a:p/>
          <a:p>
            <a:r>
              <a:t>7モデルの会話と共通5文で14本、B300比較2本、初期の文分割2本の全18本をPPTX内に埋め込む。画像は外部MP4へのリンクではなく埋め込み動画スライドへの移動。会話動画は実音声入力と実モデル生成の計測値を再現するオフライン再生。実マイクのライブ録画ではない。ARDYは187秒の待ちが含まれる。ReactMotionとMaAIは聞き手。MaAIは今回の挨拶では最大p_nod0.3219で0.5閾値を超えず、うなずきイベントを追加していない。</a:t>
            </a:r>
          </a:p>
          <a:p/>
          <a:p>
            <a:r>
              <a:t>出典: [R2] audio-input-dialogue/*/demo.mp4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デモ動画：Kimodo / 話し手の動作</a:t>
            </a:r>
          </a:p>
          <a:p/>
          <a:p>
            <a:r>
              <a:t>Kimodo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kimodo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デモ動画：ARDY / 話し手の動作</a:t>
            </a:r>
          </a:p>
          <a:p/>
          <a:p>
            <a:r>
              <a:t>ARDY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ardy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デモ動画：MotionLCM / 話し手の動作</a:t>
            </a:r>
          </a:p>
          <a:p/>
          <a:p>
            <a:r>
              <a:t>MotionLCM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motionlcm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デモ動画：MoMask / 話し手の動作</a:t>
            </a:r>
          </a:p>
          <a:p/>
          <a:p>
            <a:r>
              <a:t>MoMask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momask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デモ動画：MMM / 話し手の動作</a:t>
            </a:r>
          </a:p>
          <a:p/>
          <a:p>
            <a:r>
              <a:t>MMM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mmm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デモ動画：ReactMotion / 聞き手の反応</a:t>
            </a:r>
          </a:p>
          <a:p/>
          <a:p>
            <a:r>
              <a:t>ReactMotion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reactmotion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デモ動画：MaAI / 聞き手の反応</a:t>
            </a:r>
          </a:p>
          <a:p/>
          <a:p>
            <a:r>
              <a:t>MaAIの会話動画と共通5文の動画を、切り詰めずに全編埋め込み。会話では実測した待ちを再現するオフライン再生。生成・API・動画の再実行は行っていない。PDFは静止画で、外部MP4への補助リンクを用いる。左右を同時再生すると音声が重なるため、発表時は1本ずつ再生する。</a:t>
            </a:r>
          </a:p>
          <a:p/>
          <a:p>
            <a:r>
              <a:t>出典: [R1・R2] maai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デモ動画：文ごとの発話・ジェスチャーを同期して連結</a:t>
            </a:r>
          </a:p>
          <a:p/>
          <a:p>
            <a:r>
              <a:t>KimodoとARDY Horizon40の初期文分割動画を全編埋め込み。音声を共有し各区間の発話とジェスチャーを同じフレームで開始して連結した。後期の共通原文5区間比較とは入力と生成経路が異なる。2本とも既存の14.133秒、424フレームの完成動画。</a:t>
            </a:r>
          </a:p>
          <a:p/>
          <a:p>
            <a:r>
              <a:t>出典: [R7] segmented/english-lesson* / AvatarSample_VRM1.0・pixiv VRoid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hyperlink" Target="media/b300-fp32-100.mp4" TargetMode="External"/><Relationship Id="rId7" Type="http://schemas.openxmlformats.org/officeDocument/2006/relationships/image" Target="../media/image1.png"/><Relationship Id="rId8" Type="http://schemas.microsoft.com/office/2007/relationships/media" Target="../media/media2.mp4"/><Relationship Id="rId9" Type="http://schemas.openxmlformats.org/officeDocument/2006/relationships/video" Target="../media/media2.mp4"/><Relationship Id="rId10" Type="http://schemas.openxmlformats.org/officeDocument/2006/relationships/hyperlink" Target="media/b300-tf32-20.mp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media/segmented-english-lesson.mp4" TargetMode="External"/><Relationship Id="rId4" Type="http://schemas.openxmlformats.org/officeDocument/2006/relationships/hyperlink" Target="media/segmented-english-lesson-ardy.mp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github.com/nk-an-nk/textToMotion/blob/work/reports/model-comparison/runpod-20261014/README.md" TargetMode="External"/><Relationship Id="rId4" Type="http://schemas.openxmlformats.org/officeDocument/2006/relationships/hyperlink" Target="https://github.com/nk-an-nk/textToMotion/blob/work/reports/kimodo-b300-20261015/README.md" TargetMode="External"/><Relationship Id="rId5" Type="http://schemas.openxmlformats.org/officeDocument/2006/relationships/hyperlink" Target="https://github.com/nk-an-nk/textToMotion/blob/work/reports/model-comparison/runpod-20261014/reproducibility/source-and-weights.json" TargetMode="External"/><Relationship Id="rId6" Type="http://schemas.openxmlformats.org/officeDocument/2006/relationships/hyperlink" Target="https://github.com/nk-an-nk/textToMotion/blob/work/reports/segmented/README.md" TargetMode="External"/><Relationship Id="rId7" Type="http://schemas.openxmlformats.org/officeDocument/2006/relationships/hyperlink" Target="https://github.com/nk-an-nk/textToMotion/blob/work/docs/windows_lab.m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slide" Target="slide13.xml"/><Relationship Id="rId11" Type="http://schemas.openxmlformats.org/officeDocument/2006/relationships/slide" Target="slide23.xml"/><Relationship Id="rId12" Type="http://schemas.openxmlformats.org/officeDocument/2006/relationships/slide" Target="slide24.xml"/><Relationship Id="rId13" Type="http://schemas.openxmlformats.org/officeDocument/2006/relationships/slide" Target="slide25.xml"/><Relationship Id="rId14" Type="http://schemas.openxmlformats.org/officeDocument/2006/relationships/slide" Target="slide26.xml"/><Relationship Id="rId15" Type="http://schemas.openxmlformats.org/officeDocument/2006/relationships/slide" Target="slide27.xml"/><Relationship Id="rId16" Type="http://schemas.openxmlformats.org/officeDocument/2006/relationships/slide" Target="slide28.xml"/><Relationship Id="rId17" Type="http://schemas.openxmlformats.org/officeDocument/2006/relationships/slide" Target="slide29.xml"/><Relationship Id="rId18" Type="http://schemas.openxmlformats.org/officeDocument/2006/relationships/slide" Target="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 Id="rId4" Type="http://schemas.microsoft.com/office/2007/relationships/media" Target="../media/media3.mp4"/><Relationship Id="rId5" Type="http://schemas.openxmlformats.org/officeDocument/2006/relationships/video" Target="../media/media3.mp4"/><Relationship Id="rId6" Type="http://schemas.openxmlformats.org/officeDocument/2006/relationships/hyperlink" Target="media/dialogue-kimodo.mp4" TargetMode="External"/><Relationship Id="rId7" Type="http://schemas.openxmlformats.org/officeDocument/2006/relationships/image" Target="../media/image10.png"/><Relationship Id="rId8" Type="http://schemas.microsoft.com/office/2007/relationships/media" Target="../media/media4.mp4"/><Relationship Id="rId9" Type="http://schemas.openxmlformats.org/officeDocument/2006/relationships/video" Target="../media/media4.mp4"/><Relationship Id="rId10" Type="http://schemas.openxmlformats.org/officeDocument/2006/relationships/hyperlink" Target="media/common-kimodo.mp4" TargetMode="External"/><Relationship Id="rId11"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png"/><Relationship Id="rId4" Type="http://schemas.microsoft.com/office/2007/relationships/media" Target="../media/media5.mp4"/><Relationship Id="rId5" Type="http://schemas.openxmlformats.org/officeDocument/2006/relationships/video" Target="../media/media5.mp4"/><Relationship Id="rId6" Type="http://schemas.openxmlformats.org/officeDocument/2006/relationships/hyperlink" Target="media/dialogue-ardy.mp4" TargetMode="External"/><Relationship Id="rId7" Type="http://schemas.openxmlformats.org/officeDocument/2006/relationships/image" Target="../media/image11.png"/><Relationship Id="rId8" Type="http://schemas.microsoft.com/office/2007/relationships/media" Target="../media/media6.mp4"/><Relationship Id="rId9" Type="http://schemas.openxmlformats.org/officeDocument/2006/relationships/video" Target="../media/media6.mp4"/><Relationship Id="rId10" Type="http://schemas.openxmlformats.org/officeDocument/2006/relationships/hyperlink" Target="media/common-ardy.mp4" TargetMode="External"/><Relationship Id="rId11" Type="http://schemas.openxmlformats.org/officeDocument/2006/relationships/slide" Target="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 Id="rId4" Type="http://schemas.microsoft.com/office/2007/relationships/media" Target="../media/media7.mp4"/><Relationship Id="rId5" Type="http://schemas.openxmlformats.org/officeDocument/2006/relationships/video" Target="../media/media7.mp4"/><Relationship Id="rId6" Type="http://schemas.openxmlformats.org/officeDocument/2006/relationships/hyperlink" Target="media/dialogue-motionlcm.mp4" TargetMode="External"/><Relationship Id="rId7" Type="http://schemas.openxmlformats.org/officeDocument/2006/relationships/image" Target="../media/image12.png"/><Relationship Id="rId8" Type="http://schemas.microsoft.com/office/2007/relationships/media" Target="../media/media8.mp4"/><Relationship Id="rId9" Type="http://schemas.openxmlformats.org/officeDocument/2006/relationships/video" Target="../media/media8.mp4"/><Relationship Id="rId10" Type="http://schemas.openxmlformats.org/officeDocument/2006/relationships/hyperlink" Target="media/common-motionlcm.mp4" TargetMode="External"/><Relationship Id="rId11" Type="http://schemas.openxmlformats.org/officeDocument/2006/relationships/slide" Target="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microsoft.com/office/2007/relationships/media" Target="../media/media9.mp4"/><Relationship Id="rId5" Type="http://schemas.openxmlformats.org/officeDocument/2006/relationships/video" Target="../media/media9.mp4"/><Relationship Id="rId6" Type="http://schemas.openxmlformats.org/officeDocument/2006/relationships/hyperlink" Target="media/dialogue-momask.mp4" TargetMode="External"/><Relationship Id="rId7" Type="http://schemas.openxmlformats.org/officeDocument/2006/relationships/image" Target="../media/image13.png"/><Relationship Id="rId8" Type="http://schemas.microsoft.com/office/2007/relationships/media" Target="../media/media10.mp4"/><Relationship Id="rId9" Type="http://schemas.openxmlformats.org/officeDocument/2006/relationships/video" Target="../media/media10.mp4"/><Relationship Id="rId10" Type="http://schemas.openxmlformats.org/officeDocument/2006/relationships/hyperlink" Target="media/common-momask.mp4" TargetMode="External"/><Relationship Id="rId11" Type="http://schemas.openxmlformats.org/officeDocument/2006/relationships/slide" Target="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png"/><Relationship Id="rId4" Type="http://schemas.microsoft.com/office/2007/relationships/media" Target="../media/media11.mp4"/><Relationship Id="rId5" Type="http://schemas.openxmlformats.org/officeDocument/2006/relationships/video" Target="../media/media11.mp4"/><Relationship Id="rId6" Type="http://schemas.openxmlformats.org/officeDocument/2006/relationships/hyperlink" Target="media/dialogue-mmm.mp4" TargetMode="External"/><Relationship Id="rId7" Type="http://schemas.openxmlformats.org/officeDocument/2006/relationships/image" Target="../media/image14.png"/><Relationship Id="rId8" Type="http://schemas.microsoft.com/office/2007/relationships/media" Target="../media/media12.mp4"/><Relationship Id="rId9" Type="http://schemas.openxmlformats.org/officeDocument/2006/relationships/video" Target="../media/media12.mp4"/><Relationship Id="rId10" Type="http://schemas.openxmlformats.org/officeDocument/2006/relationships/hyperlink" Target="media/common-mmm.mp4" TargetMode="External"/><Relationship Id="rId11" Type="http://schemas.openxmlformats.org/officeDocument/2006/relationships/slide" Target="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8.png"/><Relationship Id="rId4" Type="http://schemas.microsoft.com/office/2007/relationships/media" Target="../media/media13.mp4"/><Relationship Id="rId5" Type="http://schemas.openxmlformats.org/officeDocument/2006/relationships/video" Target="../media/media13.mp4"/><Relationship Id="rId6" Type="http://schemas.openxmlformats.org/officeDocument/2006/relationships/hyperlink" Target="media/dialogue-reactmotion.mp4" TargetMode="External"/><Relationship Id="rId7" Type="http://schemas.openxmlformats.org/officeDocument/2006/relationships/image" Target="../media/image15.png"/><Relationship Id="rId8" Type="http://schemas.microsoft.com/office/2007/relationships/media" Target="../media/media14.mp4"/><Relationship Id="rId9" Type="http://schemas.openxmlformats.org/officeDocument/2006/relationships/video" Target="../media/media14.mp4"/><Relationship Id="rId10" Type="http://schemas.openxmlformats.org/officeDocument/2006/relationships/hyperlink" Target="media/common-reactmotion.mp4" TargetMode="External"/><Relationship Id="rId11" Type="http://schemas.openxmlformats.org/officeDocument/2006/relationships/slide" Target="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9.png"/><Relationship Id="rId4" Type="http://schemas.microsoft.com/office/2007/relationships/media" Target="../media/media15.mp4"/><Relationship Id="rId5" Type="http://schemas.openxmlformats.org/officeDocument/2006/relationships/video" Target="../media/media15.mp4"/><Relationship Id="rId6" Type="http://schemas.openxmlformats.org/officeDocument/2006/relationships/hyperlink" Target="media/dialogue-maai.mp4" TargetMode="External"/><Relationship Id="rId7" Type="http://schemas.openxmlformats.org/officeDocument/2006/relationships/image" Target="../media/image16.png"/><Relationship Id="rId8" Type="http://schemas.microsoft.com/office/2007/relationships/media" Target="../media/media16.mp4"/><Relationship Id="rId9" Type="http://schemas.openxmlformats.org/officeDocument/2006/relationships/video" Target="../media/media16.mp4"/><Relationship Id="rId10" Type="http://schemas.openxmlformats.org/officeDocument/2006/relationships/hyperlink" Target="media/common-maai.mp4" TargetMode="External"/><Relationship Id="rId11" Type="http://schemas.openxmlformats.org/officeDocument/2006/relationships/slide" Target="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7.png"/><Relationship Id="rId4" Type="http://schemas.microsoft.com/office/2007/relationships/media" Target="../media/media17.mp4"/><Relationship Id="rId5" Type="http://schemas.openxmlformats.org/officeDocument/2006/relationships/video" Target="../media/media17.mp4"/><Relationship Id="rId6" Type="http://schemas.openxmlformats.org/officeDocument/2006/relationships/hyperlink" Target="media/segmented-english-lesson.mp4" TargetMode="External"/><Relationship Id="rId7" Type="http://schemas.openxmlformats.org/officeDocument/2006/relationships/image" Target="../media/image18.png"/><Relationship Id="rId8" Type="http://schemas.microsoft.com/office/2007/relationships/media" Target="../media/media18.mp4"/><Relationship Id="rId9" Type="http://schemas.openxmlformats.org/officeDocument/2006/relationships/video" Target="../media/media18.mp4"/><Relationship Id="rId10" Type="http://schemas.openxmlformats.org/officeDocument/2006/relationships/hyperlink" Target="media/segmented-english-lesson-ardy.mp4" TargetMode="External"/><Relationship Id="rId11" Type="http://schemas.openxmlformats.org/officeDocument/2006/relationships/slide" Target="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B3A"/>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AFC9CE"/>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FFFFFF"/>
                </a:solidFill>
                <a:latin typeface="Noto Sans CJK JP"/>
                <a:ea typeface="Noto Sans CJK JP"/>
              </a:rPr>
              <a:t>音声対話 × Text-to-Motion × VRM</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C2D5DA"/>
                </a:solidFill>
                <a:latin typeface="Noto Sans CJK JP"/>
                <a:ea typeface="Noto Sans CJK JP"/>
              </a:rPr>
              <a:t>生成速度・会話の応答遅延・費用・研究室PCでの実行を検証</a:t>
            </a:r>
          </a:p>
        </p:txBody>
      </p:sp>
      <p:sp>
        <p:nvSpPr>
          <p:cNvPr id="6" name="Rectangle 5"/>
          <p:cNvSpPr/>
          <p:nvPr/>
        </p:nvSpPr>
        <p:spPr>
          <a:xfrm>
            <a:off x="612648" y="6428232"/>
            <a:ext cx="10972800" cy="10972"/>
          </a:xfrm>
          <a:prstGeom prst="rect">
            <a:avLst/>
          </a:prstGeom>
          <a:solidFill>
            <a:srgbClr val="355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BED1D6"/>
                </a:solidFill>
                <a:latin typeface="Noto Sans CJK JP"/>
                <a:ea typeface="Noto Sans CJK JP"/>
              </a:rPr>
              <a:t>報告日 2026-10-16（日本時間） / nk-an-nk/textToMotion / work</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C2D5DA"/>
                </a:solidFill>
                <a:latin typeface="Noto Sans CJK JP"/>
                <a:ea typeface="Noto Sans CJK JP"/>
              </a:rPr>
              <a:t>01</a:t>
            </a:r>
          </a:p>
        </p:txBody>
      </p:sp>
      <p:sp>
        <p:nvSpPr>
          <p:cNvPr id="9" name="TextBox 8"/>
          <p:cNvSpPr txBox="1"/>
          <p:nvPr/>
        </p:nvSpPr>
        <p:spPr>
          <a:xfrm>
            <a:off x="713232" y="2468880"/>
            <a:ext cx="6675120" cy="1554480"/>
          </a:xfrm>
          <a:prstGeom prst="rect">
            <a:avLst/>
          </a:prstGeom>
          <a:noFill/>
        </p:spPr>
        <p:txBody>
          <a:bodyPr wrap="square" lIns="0" rIns="0" tIns="0" bIns="0" anchor="t">
            <a:spAutoFit/>
          </a:bodyPr>
          <a:lstStyle/>
          <a:p>
            <a:pPr algn="l">
              <a:lnSpc>
                <a:spcPct val="114000"/>
              </a:lnSpc>
              <a:spcAft>
                <a:spcPts val="500"/>
              </a:spcAft>
            </a:pPr>
            <a:r>
              <a:rPr sz="3400" b="1" lang="ja-JP">
                <a:solidFill>
                  <a:srgbClr val="FFFFFF"/>
                </a:solidFill>
                <a:latin typeface="Noto Sans CJK JP"/>
                <a:ea typeface="Noto Sans CJK JP"/>
              </a:rPr>
              <a:t>7モデルの比較と</a:t>
            </a:r>
          </a:p>
          <a:p>
            <a:pPr algn="l">
              <a:lnSpc>
                <a:spcPct val="114000"/>
              </a:lnSpc>
              <a:spcAft>
                <a:spcPts val="500"/>
              </a:spcAft>
            </a:pPr>
            <a:r>
              <a:rPr sz="3400" b="1" lang="ja-JP">
                <a:solidFill>
                  <a:srgbClr val="FFFFFF"/>
                </a:solidFill>
                <a:latin typeface="Noto Sans CJK JP"/>
                <a:ea typeface="Noto Sans CJK JP"/>
              </a:rPr>
              <a:t>Kimodo / B300の検証結果</a:t>
            </a:r>
          </a:p>
        </p:txBody>
      </p:sp>
      <p:sp>
        <p:nvSpPr>
          <p:cNvPr id="10" name="TextBox 9"/>
          <p:cNvSpPr txBox="1"/>
          <p:nvPr/>
        </p:nvSpPr>
        <p:spPr>
          <a:xfrm>
            <a:off x="731520" y="4352544"/>
            <a:ext cx="6080760" cy="1005840"/>
          </a:xfrm>
          <a:prstGeom prst="rect">
            <a:avLst/>
          </a:prstGeom>
          <a:noFill/>
        </p:spPr>
        <p:txBody>
          <a:bodyPr wrap="square" lIns="0" rIns="0" tIns="0" bIns="0" anchor="t">
            <a:spAutoFit/>
          </a:bodyPr>
          <a:lstStyle/>
          <a:p>
            <a:pPr algn="l">
              <a:lnSpc>
                <a:spcPct val="114000"/>
              </a:lnSpc>
              <a:spcAft>
                <a:spcPts val="500"/>
              </a:spcAft>
            </a:pPr>
            <a:r>
              <a:rPr sz="2000" b="0" lang="ja-JP">
                <a:solidFill>
                  <a:srgbClr val="C2D5DA"/>
                </a:solidFill>
                <a:latin typeface="Noto Sans CJK JP"/>
                <a:ea typeface="Noto Sans CJK JP"/>
              </a:rPr>
              <a:t>目標：生徒の音声を受け取り、</a:t>
            </a:r>
          </a:p>
          <a:p>
            <a:pPr algn="l">
              <a:lnSpc>
                <a:spcPct val="114000"/>
              </a:lnSpc>
              <a:spcAft>
                <a:spcPts val="500"/>
              </a:spcAft>
            </a:pPr>
            <a:r>
              <a:rPr sz="2000" b="0" lang="ja-JP">
                <a:solidFill>
                  <a:srgbClr val="C2D5DA"/>
                </a:solidFill>
                <a:latin typeface="Noto Sans CJK JP"/>
                <a:ea typeface="Noto Sans CJK JP"/>
              </a:rPr>
              <a:t>先生の発話と上半身ジェスチャーを自然なテンポで返す</a:t>
            </a:r>
          </a:p>
        </p:txBody>
      </p:sp>
      <p:pic>
        <p:nvPicPr>
          <p:cNvPr id="11" name="Picture 10" descr="b300-tf32-20.png"/>
          <p:cNvPicPr>
            <a:picLocks noChangeAspect="1"/>
          </p:cNvPicPr>
          <p:nvPr/>
        </p:nvPicPr>
        <p:blipFill>
          <a:blip r:embed="rId3"/>
          <a:srcRect l="34984" t="15000" r="31984" b="19500"/>
          <a:stretch>
            <a:fillRect/>
          </a:stretch>
        </p:blipFill>
        <p:spPr>
          <a:xfrm>
            <a:off x="7726679" y="2176272"/>
            <a:ext cx="3566160" cy="3977639"/>
          </a:xfrm>
          <a:prstGeom prst="rect">
            <a:avLst/>
          </a:prstGeom>
        </p:spPr>
      </p:pic>
      <p:sp>
        <p:nvSpPr>
          <p:cNvPr id="12" name="TextBox 11"/>
          <p:cNvSpPr txBox="1"/>
          <p:nvPr/>
        </p:nvSpPr>
        <p:spPr>
          <a:xfrm>
            <a:off x="731520" y="5779008"/>
            <a:ext cx="6217920" cy="292608"/>
          </a:xfrm>
          <a:prstGeom prst="rect">
            <a:avLst/>
          </a:prstGeom>
          <a:noFill/>
        </p:spPr>
        <p:txBody>
          <a:bodyPr wrap="square" lIns="0" rIns="0" tIns="0" bIns="0" anchor="t">
            <a:spAutoFit/>
          </a:bodyPr>
          <a:lstStyle/>
          <a:p>
            <a:pPr algn="l">
              <a:lnSpc>
                <a:spcPct val="114000"/>
              </a:lnSpc>
              <a:spcAft>
                <a:spcPts val="500"/>
              </a:spcAft>
            </a:pPr>
            <a:r>
              <a:rPr sz="1200" b="0" lang="ja-JP">
                <a:solidFill>
                  <a:srgbClr val="AFC9CE"/>
                </a:solidFill>
                <a:latin typeface="Noto Sans CJK JP"/>
                <a:ea typeface="Noto Sans CJK JP"/>
              </a:rPr>
              <a:t>本編18枚 ＋ 付録12枚 / 全18本のデモ動画をスライド内に収録</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生成単体の高速化は確認。会話の待ち時間には課題が残る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「生成が速い」と「会話の返答が速い」を分けて評価する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common/*/motion-generation.json  [R3] benchmark/summary.json  [R4] dialogue-times.csv</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02</a:t>
            </a:r>
          </a:p>
        </p:txBody>
      </p:sp>
      <p:sp>
        <p:nvSpPr>
          <p:cNvPr id="9" name="Rounded Rectangle 8"/>
          <p:cNvSpPr/>
          <p:nvPr/>
        </p:nvSpPr>
        <p:spPr>
          <a:xfrm>
            <a:off x="694944" y="2286000"/>
            <a:ext cx="349300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414016"/>
            <a:ext cx="312724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MotionLCM / RTX 4090</a:t>
            </a:r>
          </a:p>
        </p:txBody>
      </p:sp>
      <p:sp>
        <p:nvSpPr>
          <p:cNvPr id="11" name="TextBox 10"/>
          <p:cNvSpPr txBox="1"/>
          <p:nvPr/>
        </p:nvSpPr>
        <p:spPr>
          <a:xfrm>
            <a:off x="877824" y="2953512"/>
            <a:ext cx="312724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0.039秒</a:t>
            </a:r>
          </a:p>
        </p:txBody>
      </p:sp>
      <p:sp>
        <p:nvSpPr>
          <p:cNvPr id="12" name="TextBox 11"/>
          <p:cNvSpPr txBox="1"/>
          <p:nvPr/>
        </p:nvSpPr>
        <p:spPr>
          <a:xfrm>
            <a:off x="877824" y="3858768"/>
            <a:ext cx="312724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初回を除く4区間の生成処理中央値</a:t>
            </a:r>
          </a:p>
        </p:txBody>
      </p:sp>
      <p:sp>
        <p:nvSpPr>
          <p:cNvPr id="13" name="Rounded Rectangle 12"/>
          <p:cNvSpPr/>
          <p:nvPr/>
        </p:nvSpPr>
        <p:spPr>
          <a:xfrm>
            <a:off x="4352544" y="2286000"/>
            <a:ext cx="349300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414016"/>
            <a:ext cx="312724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Kimodo / B300・20 steps</a:t>
            </a:r>
          </a:p>
        </p:txBody>
      </p:sp>
      <p:sp>
        <p:nvSpPr>
          <p:cNvPr id="15" name="TextBox 14"/>
          <p:cNvSpPr txBox="1"/>
          <p:nvPr/>
        </p:nvSpPr>
        <p:spPr>
          <a:xfrm>
            <a:off x="4535424" y="2953512"/>
            <a:ext cx="312724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007F80"/>
                </a:solidFill>
                <a:latin typeface="Noto Sans CJK JP"/>
                <a:ea typeface="Noto Sans CJK JP"/>
              </a:rPr>
              <a:t>0.435秒</a:t>
            </a:r>
          </a:p>
        </p:txBody>
      </p:sp>
      <p:sp>
        <p:nvSpPr>
          <p:cNvPr id="16" name="TextBox 15"/>
          <p:cNvSpPr txBox="1"/>
          <p:nvPr/>
        </p:nvSpPr>
        <p:spPr>
          <a:xfrm>
            <a:off x="4535424" y="3858768"/>
            <a:ext cx="312724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約5秒の動作、3反復の中央値</a:t>
            </a:r>
          </a:p>
        </p:txBody>
      </p:sp>
      <p:sp>
        <p:nvSpPr>
          <p:cNvPr id="17" name="Rounded Rectangle 16"/>
          <p:cNvSpPr/>
          <p:nvPr/>
        </p:nvSpPr>
        <p:spPr>
          <a:xfrm>
            <a:off x="8010144" y="2286000"/>
            <a:ext cx="3493008" cy="2148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2414016"/>
            <a:ext cx="3127248" cy="384048"/>
          </a:xfrm>
          <a:prstGeom prst="rect">
            <a:avLst/>
          </a:prstGeom>
          <a:noFill/>
        </p:spPr>
        <p:txBody>
          <a:bodyPr wrap="square" lIns="0" rIns="0" tIns="0" bIns="0" anchor="t">
            <a:spAutoFit/>
          </a:bodyPr>
          <a:lstStyle/>
          <a:p>
            <a:pPr algn="l">
              <a:lnSpc>
                <a:spcPct val="114000"/>
              </a:lnSpc>
              <a:spcAft>
                <a:spcPts val="500"/>
              </a:spcAft>
            </a:pPr>
            <a:r>
              <a:rPr sz="1600" b="1" lang="ja-JP">
                <a:solidFill>
                  <a:srgbClr val="5B707B"/>
                </a:solidFill>
                <a:latin typeface="Noto Sans CJK JP"/>
                <a:ea typeface="Noto Sans CJK JP"/>
              </a:rPr>
              <a:t>Realtimeとの差</a:t>
            </a:r>
          </a:p>
        </p:txBody>
      </p:sp>
      <p:sp>
        <p:nvSpPr>
          <p:cNvPr id="19" name="TextBox 18"/>
          <p:cNvSpPr txBox="1"/>
          <p:nvPr/>
        </p:nvSpPr>
        <p:spPr>
          <a:xfrm>
            <a:off x="8193023" y="2953512"/>
            <a:ext cx="3127248" cy="758952"/>
          </a:xfrm>
          <a:prstGeom prst="rect">
            <a:avLst/>
          </a:prstGeom>
          <a:noFill/>
        </p:spPr>
        <p:txBody>
          <a:bodyPr wrap="square" lIns="0" rIns="0" tIns="0" bIns="0" anchor="t">
            <a:spAutoFit/>
          </a:bodyPr>
          <a:lstStyle/>
          <a:p>
            <a:pPr algn="l">
              <a:lnSpc>
                <a:spcPct val="114000"/>
              </a:lnSpc>
              <a:spcAft>
                <a:spcPts val="500"/>
              </a:spcAft>
            </a:pPr>
            <a:r>
              <a:rPr sz="4000" b="1" lang="ja-JP">
                <a:solidFill>
                  <a:srgbClr val="B56B13"/>
                </a:solidFill>
                <a:latin typeface="Noto Sans CJK JP"/>
                <a:ea typeface="Noto Sans CJK JP"/>
              </a:rPr>
              <a:t>3.252秒</a:t>
            </a:r>
          </a:p>
        </p:txBody>
      </p:sp>
      <p:sp>
        <p:nvSpPr>
          <p:cNvPr id="20" name="TextBox 19"/>
          <p:cNvSpPr txBox="1"/>
          <p:nvPr/>
        </p:nvSpPr>
        <p:spPr>
          <a:xfrm>
            <a:off x="8193023" y="3858768"/>
            <a:ext cx="3127248" cy="438912"/>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B300高速設定の会話実測・1回</a:t>
            </a:r>
          </a:p>
        </p:txBody>
      </p:sp>
      <p:sp>
        <p:nvSpPr>
          <p:cNvPr id="21" name="Rounded Rectangle 20"/>
          <p:cNvSpPr/>
          <p:nvPr/>
        </p:nvSpPr>
        <p:spPr>
          <a:xfrm>
            <a:off x="694944" y="4791456"/>
            <a:ext cx="10808208" cy="1170432"/>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4944" y="4791456"/>
            <a:ext cx="41148" cy="1170432"/>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4956048"/>
            <a:ext cx="1046073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判断</a:t>
            </a:r>
          </a:p>
        </p:txBody>
      </p:sp>
      <p:sp>
        <p:nvSpPr>
          <p:cNvPr id="24" name="TextBox 23"/>
          <p:cNvSpPr txBox="1"/>
          <p:nvPr/>
        </p:nvSpPr>
        <p:spPr>
          <a:xfrm>
            <a:off x="877824" y="5504688"/>
            <a:ext cx="10442448" cy="384048"/>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次の焦点はモデル常駐・全文待ち・結果中継の短縮と、ジェスチャー品質の評価。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目標は、音声の返答と上半身ジェスチャーをそろえること</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評価対象：録音した生徒音声 → Realtimeの実応答 → 新規の動作生成 → VRM表示</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[R2] audio-response-times.csv  [R4] dialogue-*/measurement.json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03</a:t>
            </a:r>
          </a:p>
        </p:txBody>
      </p:sp>
      <p:sp>
        <p:nvSpPr>
          <p:cNvPr id="9" name="Rounded Rectangle 8"/>
          <p:cNvSpPr/>
          <p:nvPr/>
        </p:nvSpPr>
        <p:spPr>
          <a:xfrm>
            <a:off x="694944"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生徒の音声</a:t>
            </a:r>
          </a:p>
        </p:txBody>
      </p:sp>
      <p:sp>
        <p:nvSpPr>
          <p:cNvPr id="11" name="TextBox 10"/>
          <p:cNvSpPr txBox="1"/>
          <p:nvPr/>
        </p:nvSpPr>
        <p:spPr>
          <a:xfrm>
            <a:off x="841248"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先生、こんにちは！</a:t>
            </a:r>
          </a:p>
        </p:txBody>
      </p:sp>
      <p:sp>
        <p:nvSpPr>
          <p:cNvPr id="12" name="TextBox 11"/>
          <p:cNvSpPr txBox="1"/>
          <p:nvPr/>
        </p:nvSpPr>
        <p:spPr>
          <a:xfrm>
            <a:off x="3218687" y="2834640"/>
            <a:ext cx="228600" cy="365760"/>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a:t>
            </a:r>
          </a:p>
        </p:txBody>
      </p:sp>
      <p:sp>
        <p:nvSpPr>
          <p:cNvPr id="13" name="Rounded Rectangle 12"/>
          <p:cNvSpPr/>
          <p:nvPr/>
        </p:nvSpPr>
        <p:spPr>
          <a:xfrm>
            <a:off x="3456432"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2736"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Realtime</a:t>
            </a:r>
          </a:p>
        </p:txBody>
      </p:sp>
      <p:sp>
        <p:nvSpPr>
          <p:cNvPr id="15" name="TextBox 14"/>
          <p:cNvSpPr txBox="1"/>
          <p:nvPr/>
        </p:nvSpPr>
        <p:spPr>
          <a:xfrm>
            <a:off x="3602736"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返答の音声・文字</a:t>
            </a:r>
          </a:p>
        </p:txBody>
      </p:sp>
      <p:sp>
        <p:nvSpPr>
          <p:cNvPr id="16" name="TextBox 15"/>
          <p:cNvSpPr txBox="1"/>
          <p:nvPr/>
        </p:nvSpPr>
        <p:spPr>
          <a:xfrm>
            <a:off x="5980176" y="2834640"/>
            <a:ext cx="228600" cy="365760"/>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a:t>
            </a:r>
          </a:p>
        </p:txBody>
      </p:sp>
      <p:sp>
        <p:nvSpPr>
          <p:cNvPr id="17" name="Rounded Rectangle 16"/>
          <p:cNvSpPr/>
          <p:nvPr/>
        </p:nvSpPr>
        <p:spPr>
          <a:xfrm>
            <a:off x="6217920"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動作モデル</a:t>
            </a:r>
          </a:p>
        </p:txBody>
      </p:sp>
      <p:sp>
        <p:nvSpPr>
          <p:cNvPr id="19" name="TextBox 18"/>
          <p:cNvSpPr txBox="1"/>
          <p:nvPr/>
        </p:nvSpPr>
        <p:spPr>
          <a:xfrm>
            <a:off x="6364224"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新規の骨格を生成</a:t>
            </a:r>
          </a:p>
        </p:txBody>
      </p:sp>
      <p:sp>
        <p:nvSpPr>
          <p:cNvPr id="20" name="TextBox 19"/>
          <p:cNvSpPr txBox="1"/>
          <p:nvPr/>
        </p:nvSpPr>
        <p:spPr>
          <a:xfrm>
            <a:off x="8741663" y="2834640"/>
            <a:ext cx="228600" cy="365760"/>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a:t>
            </a:r>
          </a:p>
        </p:txBody>
      </p:sp>
      <p:sp>
        <p:nvSpPr>
          <p:cNvPr id="21" name="Rounded Rectangle 20"/>
          <p:cNvSpPr/>
          <p:nvPr/>
        </p:nvSpPr>
        <p:spPr>
          <a:xfrm>
            <a:off x="8979408" y="2423160"/>
            <a:ext cx="2487168" cy="137160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2606040"/>
            <a:ext cx="2194560" cy="402336"/>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VRMアバター</a:t>
            </a:r>
          </a:p>
        </p:txBody>
      </p:sp>
      <p:sp>
        <p:nvSpPr>
          <p:cNvPr id="23" name="TextBox 22"/>
          <p:cNvSpPr txBox="1"/>
          <p:nvPr/>
        </p:nvSpPr>
        <p:spPr>
          <a:xfrm>
            <a:off x="9125712" y="3200400"/>
            <a:ext cx="2194560" cy="365760"/>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発話と動作を同期</a:t>
            </a:r>
          </a:p>
        </p:txBody>
      </p:sp>
      <p:sp>
        <p:nvSpPr>
          <p:cNvPr id="24" name="Rounded Rectangle 23"/>
          <p:cNvSpPr/>
          <p:nvPr/>
        </p:nvSpPr>
        <p:spPr>
          <a:xfrm>
            <a:off x="694944" y="4206240"/>
            <a:ext cx="5248656" cy="1645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4944" y="4206240"/>
            <a:ext cx="41148" cy="164592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4370831"/>
            <a:ext cx="4901184"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応答テンポの目標</a:t>
            </a:r>
          </a:p>
        </p:txBody>
      </p:sp>
      <p:sp>
        <p:nvSpPr>
          <p:cNvPr id="27" name="TextBox 26"/>
          <p:cNvSpPr txBox="1"/>
          <p:nvPr/>
        </p:nvSpPr>
        <p:spPr>
          <a:xfrm>
            <a:off x="877824" y="4919472"/>
            <a:ext cx="4882896" cy="859536"/>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Realtimeの最初の音声受信から、</a:t>
            </a:r>
          </a:p>
          <a:p>
            <a:pPr algn="l">
              <a:lnSpc>
                <a:spcPct val="114000"/>
              </a:lnSpc>
              <a:spcAft>
                <a:spcPts val="500"/>
              </a:spcAft>
            </a:pPr>
            <a:r>
              <a:rPr sz="1700" b="0" lang="ja-JP">
                <a:solidFill>
                  <a:srgbClr val="183440"/>
                </a:solidFill>
                <a:latin typeface="Noto Sans CJK JP"/>
                <a:ea typeface="Noto Sans CJK JP"/>
              </a:rPr>
              <a:t>骨格が使えるまでの追加待ちを1秒以内へ。</a:t>
            </a:r>
          </a:p>
        </p:txBody>
      </p:sp>
      <p:sp>
        <p:nvSpPr>
          <p:cNvPr id="28" name="Rounded Rectangle 27"/>
          <p:cNvSpPr/>
          <p:nvPr/>
        </p:nvSpPr>
        <p:spPr>
          <a:xfrm>
            <a:off x="6199632" y="4206240"/>
            <a:ext cx="5248656" cy="1645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4206240"/>
            <a:ext cx="41148" cy="164592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370831"/>
            <a:ext cx="4901184"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運用上の条件</a:t>
            </a:r>
          </a:p>
        </p:txBody>
      </p:sp>
      <p:sp>
        <p:nvSpPr>
          <p:cNvPr id="31" name="TextBox 30"/>
          <p:cNvSpPr txBox="1"/>
          <p:nvPr/>
        </p:nvSpPr>
        <p:spPr>
          <a:xfrm>
            <a:off x="6382512" y="4919472"/>
            <a:ext cx="4882896" cy="859536"/>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上半身のみ表示／研究室Windowsで再現／</a:t>
            </a:r>
          </a:p>
          <a:p>
            <a:pPr algn="l">
              <a:lnSpc>
                <a:spcPct val="114000"/>
              </a:lnSpc>
              <a:spcAft>
                <a:spcPts val="500"/>
              </a:spcAft>
            </a:pPr>
            <a:r>
              <a:rPr sz="1700" b="0" lang="ja-JP">
                <a:solidFill>
                  <a:srgbClr val="183440"/>
                </a:solidFill>
                <a:latin typeface="Noto Sans CJK JP"/>
                <a:ea typeface="Noto Sans CJK JP"/>
              </a:rPr>
              <a:t>既存環境への変更を抑える。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7モデルを実生成。出力する役割が異なるモデルを含む</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話し手のジェスチャー、聞き手の全身反応、頭部反応を区別する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common-input-times.csv  [R2] README.md  [R8] model_compatibility.md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04</a:t>
            </a:r>
          </a:p>
        </p:txBody>
      </p:sp>
      <p:sp>
        <p:nvSpPr>
          <p:cNvPr id="9" name="Rectangle 8"/>
          <p:cNvSpPr/>
          <p:nvPr/>
        </p:nvSpPr>
        <p:spPr>
          <a:xfrm>
            <a:off x="694944" y="2157984"/>
            <a:ext cx="10789919" cy="411480"/>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40279"/>
            <a:ext cx="1783080"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モデル</a:t>
            </a:r>
          </a:p>
        </p:txBody>
      </p:sp>
      <p:sp>
        <p:nvSpPr>
          <p:cNvPr id="11" name="TextBox 10"/>
          <p:cNvSpPr txBox="1"/>
          <p:nvPr/>
        </p:nvSpPr>
        <p:spPr>
          <a:xfrm>
            <a:off x="2770632" y="2240279"/>
            <a:ext cx="2240279"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役割・出力</a:t>
            </a:r>
          </a:p>
        </p:txBody>
      </p:sp>
      <p:sp>
        <p:nvSpPr>
          <p:cNvPr id="12" name="TextBox 11"/>
          <p:cNvSpPr txBox="1"/>
          <p:nvPr/>
        </p:nvSpPr>
        <p:spPr>
          <a:xfrm>
            <a:off x="5193792" y="2240279"/>
            <a:ext cx="1325880"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入力</a:t>
            </a:r>
          </a:p>
        </p:txBody>
      </p:sp>
      <p:sp>
        <p:nvSpPr>
          <p:cNvPr id="13" name="TextBox 12"/>
          <p:cNvSpPr txBox="1"/>
          <p:nvPr/>
        </p:nvSpPr>
        <p:spPr>
          <a:xfrm>
            <a:off x="6702552" y="2240279"/>
            <a:ext cx="4709159" cy="301752"/>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今回の経路</a:t>
            </a:r>
          </a:p>
        </p:txBody>
      </p:sp>
      <p:sp>
        <p:nvSpPr>
          <p:cNvPr id="14" name="Rectangle 13"/>
          <p:cNvSpPr/>
          <p:nvPr/>
        </p:nvSpPr>
        <p:spPr>
          <a:xfrm>
            <a:off x="694944" y="2569464"/>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65176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Kimodo</a:t>
            </a:r>
          </a:p>
        </p:txBody>
      </p:sp>
      <p:sp>
        <p:nvSpPr>
          <p:cNvPr id="16" name="TextBox 15"/>
          <p:cNvSpPr txBox="1"/>
          <p:nvPr/>
        </p:nvSpPr>
        <p:spPr>
          <a:xfrm>
            <a:off x="2770632" y="265176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17" name="TextBox 16"/>
          <p:cNvSpPr txBox="1"/>
          <p:nvPr/>
        </p:nvSpPr>
        <p:spPr>
          <a:xfrm>
            <a:off x="5193792" y="265176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18" name="TextBox 17"/>
          <p:cNvSpPr txBox="1"/>
          <p:nvPr/>
        </p:nvSpPr>
        <p:spPr>
          <a:xfrm>
            <a:off x="6702552" y="265176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公式オンライン／B300</a:t>
            </a:r>
          </a:p>
        </p:txBody>
      </p:sp>
      <p:sp>
        <p:nvSpPr>
          <p:cNvPr id="19" name="Rectangle 18"/>
          <p:cNvSpPr/>
          <p:nvPr/>
        </p:nvSpPr>
        <p:spPr>
          <a:xfrm>
            <a:off x="694944" y="2980944"/>
            <a:ext cx="10789919"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063239"/>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ARDY</a:t>
            </a:r>
          </a:p>
        </p:txBody>
      </p:sp>
      <p:sp>
        <p:nvSpPr>
          <p:cNvPr id="21" name="TextBox 20"/>
          <p:cNvSpPr txBox="1"/>
          <p:nvPr/>
        </p:nvSpPr>
        <p:spPr>
          <a:xfrm>
            <a:off x="2770632" y="3063239"/>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22" name="TextBox 21"/>
          <p:cNvSpPr txBox="1"/>
          <p:nvPr/>
        </p:nvSpPr>
        <p:spPr>
          <a:xfrm>
            <a:off x="5193792" y="3063239"/>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23" name="TextBox 22"/>
          <p:cNvSpPr txBox="1"/>
          <p:nvPr/>
        </p:nvSpPr>
        <p:spPr>
          <a:xfrm>
            <a:off x="6702552" y="3063239"/>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Core8／CPU特徴＋CUDA</a:t>
            </a:r>
          </a:p>
        </p:txBody>
      </p:sp>
      <p:sp>
        <p:nvSpPr>
          <p:cNvPr id="24" name="Rectangle 23"/>
          <p:cNvSpPr/>
          <p:nvPr/>
        </p:nvSpPr>
        <p:spPr>
          <a:xfrm>
            <a:off x="694944" y="3392424"/>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47472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MotionLCM</a:t>
            </a:r>
          </a:p>
        </p:txBody>
      </p:sp>
      <p:sp>
        <p:nvSpPr>
          <p:cNvPr id="26" name="TextBox 25"/>
          <p:cNvSpPr txBox="1"/>
          <p:nvPr/>
        </p:nvSpPr>
        <p:spPr>
          <a:xfrm>
            <a:off x="2770632" y="347472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27" name="TextBox 26"/>
          <p:cNvSpPr txBox="1"/>
          <p:nvPr/>
        </p:nvSpPr>
        <p:spPr>
          <a:xfrm>
            <a:off x="5193792" y="347472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28" name="TextBox 27"/>
          <p:cNvSpPr txBox="1"/>
          <p:nvPr/>
        </p:nvSpPr>
        <p:spPr>
          <a:xfrm>
            <a:off x="6702552" y="347472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HumanML3D系</a:t>
            </a:r>
          </a:p>
        </p:txBody>
      </p:sp>
      <p:sp>
        <p:nvSpPr>
          <p:cNvPr id="29" name="Rectangle 28"/>
          <p:cNvSpPr/>
          <p:nvPr/>
        </p:nvSpPr>
        <p:spPr>
          <a:xfrm>
            <a:off x="694944" y="3803904"/>
            <a:ext cx="10789919"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88620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MoMask</a:t>
            </a:r>
          </a:p>
        </p:txBody>
      </p:sp>
      <p:sp>
        <p:nvSpPr>
          <p:cNvPr id="31" name="TextBox 30"/>
          <p:cNvSpPr txBox="1"/>
          <p:nvPr/>
        </p:nvSpPr>
        <p:spPr>
          <a:xfrm>
            <a:off x="2770632" y="388620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32" name="TextBox 31"/>
          <p:cNvSpPr txBox="1"/>
          <p:nvPr/>
        </p:nvSpPr>
        <p:spPr>
          <a:xfrm>
            <a:off x="5193792" y="388620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33" name="TextBox 32"/>
          <p:cNvSpPr txBox="1"/>
          <p:nvPr/>
        </p:nvSpPr>
        <p:spPr>
          <a:xfrm>
            <a:off x="6702552" y="388620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HumanML3D系</a:t>
            </a:r>
          </a:p>
        </p:txBody>
      </p:sp>
      <p:sp>
        <p:nvSpPr>
          <p:cNvPr id="34" name="Rectangle 33"/>
          <p:cNvSpPr/>
          <p:nvPr/>
        </p:nvSpPr>
        <p:spPr>
          <a:xfrm>
            <a:off x="694944" y="4215383"/>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297679"/>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MMM</a:t>
            </a:r>
          </a:p>
        </p:txBody>
      </p:sp>
      <p:sp>
        <p:nvSpPr>
          <p:cNvPr id="36" name="TextBox 35"/>
          <p:cNvSpPr txBox="1"/>
          <p:nvPr/>
        </p:nvSpPr>
        <p:spPr>
          <a:xfrm>
            <a:off x="2770632" y="4297679"/>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話し手・全身</a:t>
            </a:r>
          </a:p>
        </p:txBody>
      </p:sp>
      <p:sp>
        <p:nvSpPr>
          <p:cNvPr id="37" name="TextBox 36"/>
          <p:cNvSpPr txBox="1"/>
          <p:nvPr/>
        </p:nvSpPr>
        <p:spPr>
          <a:xfrm>
            <a:off x="5193792" y="4297679"/>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38" name="TextBox 37"/>
          <p:cNvSpPr txBox="1"/>
          <p:nvPr/>
        </p:nvSpPr>
        <p:spPr>
          <a:xfrm>
            <a:off x="6702552" y="4297679"/>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HumanML3D系</a:t>
            </a:r>
          </a:p>
        </p:txBody>
      </p:sp>
      <p:sp>
        <p:nvSpPr>
          <p:cNvPr id="39" name="Rectangle 38"/>
          <p:cNvSpPr/>
          <p:nvPr/>
        </p:nvSpPr>
        <p:spPr>
          <a:xfrm>
            <a:off x="694944" y="4626864"/>
            <a:ext cx="10789919"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70916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ReactMotion</a:t>
            </a:r>
          </a:p>
        </p:txBody>
      </p:sp>
      <p:sp>
        <p:nvSpPr>
          <p:cNvPr id="41" name="TextBox 40"/>
          <p:cNvSpPr txBox="1"/>
          <p:nvPr/>
        </p:nvSpPr>
        <p:spPr>
          <a:xfrm>
            <a:off x="2770632" y="470916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聞き手・全身</a:t>
            </a:r>
          </a:p>
        </p:txBody>
      </p:sp>
      <p:sp>
        <p:nvSpPr>
          <p:cNvPr id="42" name="TextBox 41"/>
          <p:cNvSpPr txBox="1"/>
          <p:nvPr/>
        </p:nvSpPr>
        <p:spPr>
          <a:xfrm>
            <a:off x="5193792" y="470916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テキスト</a:t>
            </a:r>
          </a:p>
        </p:txBody>
      </p:sp>
      <p:sp>
        <p:nvSpPr>
          <p:cNvPr id="43" name="TextBox 42"/>
          <p:cNvSpPr txBox="1"/>
          <p:nvPr/>
        </p:nvSpPr>
        <p:spPr>
          <a:xfrm>
            <a:off x="6702552" y="470916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会話では生徒の認識文</a:t>
            </a:r>
          </a:p>
        </p:txBody>
      </p:sp>
      <p:sp>
        <p:nvSpPr>
          <p:cNvPr id="44" name="Rectangle 43"/>
          <p:cNvSpPr/>
          <p:nvPr/>
        </p:nvSpPr>
        <p:spPr>
          <a:xfrm>
            <a:off x="694944" y="5038344"/>
            <a:ext cx="10789919" cy="41148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120640"/>
            <a:ext cx="1783080" cy="301752"/>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MaAI</a:t>
            </a:r>
          </a:p>
        </p:txBody>
      </p:sp>
      <p:sp>
        <p:nvSpPr>
          <p:cNvPr id="46" name="TextBox 45"/>
          <p:cNvSpPr txBox="1"/>
          <p:nvPr/>
        </p:nvSpPr>
        <p:spPr>
          <a:xfrm>
            <a:off x="2770632" y="5120640"/>
            <a:ext cx="224027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聞き手・頭部</a:t>
            </a:r>
          </a:p>
        </p:txBody>
      </p:sp>
      <p:sp>
        <p:nvSpPr>
          <p:cNvPr id="47" name="TextBox 46"/>
          <p:cNvSpPr txBox="1"/>
          <p:nvPr/>
        </p:nvSpPr>
        <p:spPr>
          <a:xfrm>
            <a:off x="5193792" y="5120640"/>
            <a:ext cx="1325880"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音声</a:t>
            </a:r>
          </a:p>
        </p:txBody>
      </p:sp>
      <p:sp>
        <p:nvSpPr>
          <p:cNvPr id="48" name="TextBox 47"/>
          <p:cNvSpPr txBox="1"/>
          <p:nvPr/>
        </p:nvSpPr>
        <p:spPr>
          <a:xfrm>
            <a:off x="6702552" y="5120640"/>
            <a:ext cx="4709159" cy="301752"/>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頭部パラメーター・うなずき</a:t>
            </a:r>
          </a:p>
        </p:txBody>
      </p:sp>
      <p:sp>
        <p:nvSpPr>
          <p:cNvPr id="49" name="TextBox 48"/>
          <p:cNvSpPr txBox="1"/>
          <p:nvPr/>
        </p:nvSpPr>
        <p:spPr>
          <a:xfrm>
            <a:off x="758952" y="5696712"/>
            <a:ext cx="10607040" cy="411480"/>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text-to-vrma：ARDYの出力をVRMAへ変換する別経路。統合済み・同条件の実生成時間は未測定。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研究室PCの制約を意識しつつ、GPU環境を段階的に拡張</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RTX 4090の制限実験とB300実験は、RTX 5070 / Windowsの実測ではない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[R5] reproducibility/hardware.json  [R6] benchmark/hardware.json  docs/windows_lab.md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05</a:t>
            </a:r>
          </a:p>
        </p:txBody>
      </p:sp>
      <p:sp>
        <p:nvSpPr>
          <p:cNvPr id="9" name="Rectangle 8"/>
          <p:cNvSpPr/>
          <p:nvPr/>
        </p:nvSpPr>
        <p:spPr>
          <a:xfrm>
            <a:off x="694944" y="2194560"/>
            <a:ext cx="10789920" cy="42976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76856"/>
            <a:ext cx="132588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項目</a:t>
            </a:r>
          </a:p>
        </p:txBody>
      </p:sp>
      <p:sp>
        <p:nvSpPr>
          <p:cNvPr id="11" name="TextBox 10"/>
          <p:cNvSpPr txBox="1"/>
          <p:nvPr/>
        </p:nvSpPr>
        <p:spPr>
          <a:xfrm>
            <a:off x="2313432" y="2276856"/>
            <a:ext cx="256032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研究室PC</a:t>
            </a:r>
          </a:p>
        </p:txBody>
      </p:sp>
      <p:sp>
        <p:nvSpPr>
          <p:cNvPr id="12" name="TextBox 11"/>
          <p:cNvSpPr txBox="1"/>
          <p:nvPr/>
        </p:nvSpPr>
        <p:spPr>
          <a:xfrm>
            <a:off x="5056632" y="2276856"/>
            <a:ext cx="3017520"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7モデル比較のローカルGPU</a:t>
            </a:r>
          </a:p>
        </p:txBody>
      </p:sp>
      <p:sp>
        <p:nvSpPr>
          <p:cNvPr id="13" name="TextBox 12"/>
          <p:cNvSpPr txBox="1"/>
          <p:nvPr/>
        </p:nvSpPr>
        <p:spPr>
          <a:xfrm>
            <a:off x="8257031" y="2276856"/>
            <a:ext cx="3154679" cy="320040"/>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Kimodo常駐検証</a:t>
            </a:r>
          </a:p>
        </p:txBody>
      </p:sp>
      <p:sp>
        <p:nvSpPr>
          <p:cNvPr id="14" name="Rectangle 13"/>
          <p:cNvSpPr/>
          <p:nvPr/>
        </p:nvSpPr>
        <p:spPr>
          <a:xfrm>
            <a:off x="694944" y="2624328"/>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706624"/>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GPU</a:t>
            </a:r>
          </a:p>
        </p:txBody>
      </p:sp>
      <p:sp>
        <p:nvSpPr>
          <p:cNvPr id="16" name="TextBox 15"/>
          <p:cNvSpPr txBox="1"/>
          <p:nvPr/>
        </p:nvSpPr>
        <p:spPr>
          <a:xfrm>
            <a:off x="2313432" y="2706624"/>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RTX 5070 ×1</a:t>
            </a:r>
          </a:p>
        </p:txBody>
      </p:sp>
      <p:sp>
        <p:nvSpPr>
          <p:cNvPr id="17" name="TextBox 16"/>
          <p:cNvSpPr txBox="1"/>
          <p:nvPr/>
        </p:nvSpPr>
        <p:spPr>
          <a:xfrm>
            <a:off x="5056632" y="2706624"/>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RTX 4090 ×1</a:t>
            </a:r>
          </a:p>
        </p:txBody>
      </p:sp>
      <p:sp>
        <p:nvSpPr>
          <p:cNvPr id="18" name="TextBox 17"/>
          <p:cNvSpPr txBox="1"/>
          <p:nvPr/>
        </p:nvSpPr>
        <p:spPr>
          <a:xfrm>
            <a:off x="8257031" y="2706624"/>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B300 SXM6 AC ×1</a:t>
            </a:r>
          </a:p>
        </p:txBody>
      </p:sp>
      <p:sp>
        <p:nvSpPr>
          <p:cNvPr id="19" name="Rectangle 18"/>
          <p:cNvSpPr/>
          <p:nvPr/>
        </p:nvSpPr>
        <p:spPr>
          <a:xfrm>
            <a:off x="694944" y="3054096"/>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136391"/>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VRAM</a:t>
            </a:r>
          </a:p>
        </p:txBody>
      </p:sp>
      <p:sp>
        <p:nvSpPr>
          <p:cNvPr id="21" name="TextBox 20"/>
          <p:cNvSpPr txBox="1"/>
          <p:nvPr/>
        </p:nvSpPr>
        <p:spPr>
          <a:xfrm>
            <a:off x="2313432" y="3136391"/>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12GB</a:t>
            </a:r>
          </a:p>
        </p:txBody>
      </p:sp>
      <p:sp>
        <p:nvSpPr>
          <p:cNvPr id="22" name="TextBox 21"/>
          <p:cNvSpPr txBox="1"/>
          <p:nvPr/>
        </p:nvSpPr>
        <p:spPr>
          <a:xfrm>
            <a:off x="5056632" y="3136391"/>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24GB／allocator制限</a:t>
            </a:r>
          </a:p>
        </p:txBody>
      </p:sp>
      <p:sp>
        <p:nvSpPr>
          <p:cNvPr id="23" name="TextBox 22"/>
          <p:cNvSpPr txBox="1"/>
          <p:nvPr/>
        </p:nvSpPr>
        <p:spPr>
          <a:xfrm>
            <a:off x="8257031" y="3136391"/>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公称288GB</a:t>
            </a:r>
          </a:p>
        </p:txBody>
      </p:sp>
      <p:sp>
        <p:nvSpPr>
          <p:cNvPr id="24" name="Rectangle 23"/>
          <p:cNvSpPr/>
          <p:nvPr/>
        </p:nvSpPr>
        <p:spPr>
          <a:xfrm>
            <a:off x="694944" y="3483863"/>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566159"/>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CPU</a:t>
            </a:r>
          </a:p>
        </p:txBody>
      </p:sp>
      <p:sp>
        <p:nvSpPr>
          <p:cNvPr id="26" name="TextBox 25"/>
          <p:cNvSpPr txBox="1"/>
          <p:nvPr/>
        </p:nvSpPr>
        <p:spPr>
          <a:xfrm>
            <a:off x="2313432" y="3566159"/>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Ryzen 7 5700X</a:t>
            </a:r>
          </a:p>
        </p:txBody>
      </p:sp>
      <p:sp>
        <p:nvSpPr>
          <p:cNvPr id="27" name="TextBox 26"/>
          <p:cNvSpPr txBox="1"/>
          <p:nvPr/>
        </p:nvSpPr>
        <p:spPr>
          <a:xfrm>
            <a:off x="5056632" y="3566159"/>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AMD EPYC 7K62</a:t>
            </a:r>
          </a:p>
        </p:txBody>
      </p:sp>
      <p:sp>
        <p:nvSpPr>
          <p:cNvPr id="28" name="TextBox 27"/>
          <p:cNvSpPr txBox="1"/>
          <p:nvPr/>
        </p:nvSpPr>
        <p:spPr>
          <a:xfrm>
            <a:off x="8257031" y="3566159"/>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Intel Xeon 6740E</a:t>
            </a:r>
          </a:p>
        </p:txBody>
      </p:sp>
      <p:sp>
        <p:nvSpPr>
          <p:cNvPr id="29" name="Rectangle 28"/>
          <p:cNvSpPr/>
          <p:nvPr/>
        </p:nvSpPr>
        <p:spPr>
          <a:xfrm>
            <a:off x="694944" y="3913631"/>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995927"/>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CPU設定</a:t>
            </a:r>
          </a:p>
        </p:txBody>
      </p:sp>
      <p:sp>
        <p:nvSpPr>
          <p:cNvPr id="31" name="TextBox 30"/>
          <p:cNvSpPr txBox="1"/>
          <p:nvPr/>
        </p:nvSpPr>
        <p:spPr>
          <a:xfrm>
            <a:off x="2313432" y="3995927"/>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8コア16スレッド</a:t>
            </a:r>
          </a:p>
        </p:txBody>
      </p:sp>
      <p:sp>
        <p:nvSpPr>
          <p:cNvPr id="32" name="TextBox 31"/>
          <p:cNvSpPr txBox="1"/>
          <p:nvPr/>
        </p:nvSpPr>
        <p:spPr>
          <a:xfrm>
            <a:off x="5056632" y="3995927"/>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推論8スレッド・affinity 8</a:t>
            </a:r>
          </a:p>
        </p:txBody>
      </p:sp>
      <p:sp>
        <p:nvSpPr>
          <p:cNvPr id="33" name="TextBox 32"/>
          <p:cNvSpPr txBox="1"/>
          <p:nvPr/>
        </p:nvSpPr>
        <p:spPr>
          <a:xfrm>
            <a:off x="8257031" y="3995927"/>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割当24vCPU／推論8スレッド</a:t>
            </a:r>
          </a:p>
        </p:txBody>
      </p:sp>
      <p:sp>
        <p:nvSpPr>
          <p:cNvPr id="34" name="Rectangle 33"/>
          <p:cNvSpPr/>
          <p:nvPr/>
        </p:nvSpPr>
        <p:spPr>
          <a:xfrm>
            <a:off x="694944" y="4343400"/>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425696"/>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RAM</a:t>
            </a:r>
          </a:p>
        </p:txBody>
      </p:sp>
      <p:sp>
        <p:nvSpPr>
          <p:cNvPr id="36" name="TextBox 35"/>
          <p:cNvSpPr txBox="1"/>
          <p:nvPr/>
        </p:nvSpPr>
        <p:spPr>
          <a:xfrm>
            <a:off x="2313432" y="4425696"/>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32GB</a:t>
            </a:r>
          </a:p>
        </p:txBody>
      </p:sp>
      <p:sp>
        <p:nvSpPr>
          <p:cNvPr id="37" name="TextBox 36"/>
          <p:cNvSpPr txBox="1"/>
          <p:nvPr/>
        </p:nvSpPr>
        <p:spPr>
          <a:xfrm>
            <a:off x="5056632" y="4425696"/>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32GBのハード上限なし</a:t>
            </a:r>
          </a:p>
        </p:txBody>
      </p:sp>
      <p:sp>
        <p:nvSpPr>
          <p:cNvPr id="38" name="TextBox 37"/>
          <p:cNvSpPr txBox="1"/>
          <p:nvPr/>
        </p:nvSpPr>
        <p:spPr>
          <a:xfrm>
            <a:off x="8257031" y="4425696"/>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251GB（API表示）</a:t>
            </a:r>
          </a:p>
        </p:txBody>
      </p:sp>
      <p:sp>
        <p:nvSpPr>
          <p:cNvPr id="39" name="Rectangle 38"/>
          <p:cNvSpPr/>
          <p:nvPr/>
        </p:nvSpPr>
        <p:spPr>
          <a:xfrm>
            <a:off x="694944" y="4773168"/>
            <a:ext cx="10789920" cy="4297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855464"/>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保存領域</a:t>
            </a:r>
          </a:p>
        </p:txBody>
      </p:sp>
      <p:sp>
        <p:nvSpPr>
          <p:cNvPr id="41" name="TextBox 40"/>
          <p:cNvSpPr txBox="1"/>
          <p:nvPr/>
        </p:nvSpPr>
        <p:spPr>
          <a:xfrm>
            <a:off x="2313432" y="4855464"/>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SSD 1TB</a:t>
            </a:r>
          </a:p>
        </p:txBody>
      </p:sp>
      <p:sp>
        <p:nvSpPr>
          <p:cNvPr id="42" name="TextBox 41"/>
          <p:cNvSpPr txBox="1"/>
          <p:nvPr/>
        </p:nvSpPr>
        <p:spPr>
          <a:xfrm>
            <a:off x="5056632" y="4855464"/>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クラウド作業領域</a:t>
            </a:r>
          </a:p>
        </p:txBody>
      </p:sp>
      <p:sp>
        <p:nvSpPr>
          <p:cNvPr id="43" name="TextBox 42"/>
          <p:cNvSpPr txBox="1"/>
          <p:nvPr/>
        </p:nvSpPr>
        <p:spPr>
          <a:xfrm>
            <a:off x="8257031" y="4855464"/>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コンテナ40＋作業40GB</a:t>
            </a:r>
          </a:p>
        </p:txBody>
      </p:sp>
      <p:sp>
        <p:nvSpPr>
          <p:cNvPr id="44" name="Rectangle 43"/>
          <p:cNvSpPr/>
          <p:nvPr/>
        </p:nvSpPr>
        <p:spPr>
          <a:xfrm>
            <a:off x="694944" y="5202936"/>
            <a:ext cx="10789920" cy="42976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285231"/>
            <a:ext cx="1325880"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OS</a:t>
            </a:r>
          </a:p>
        </p:txBody>
      </p:sp>
      <p:sp>
        <p:nvSpPr>
          <p:cNvPr id="46" name="TextBox 45"/>
          <p:cNvSpPr txBox="1"/>
          <p:nvPr/>
        </p:nvSpPr>
        <p:spPr>
          <a:xfrm>
            <a:off x="2313432" y="5285231"/>
            <a:ext cx="25603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Windows</a:t>
            </a:r>
          </a:p>
        </p:txBody>
      </p:sp>
      <p:sp>
        <p:nvSpPr>
          <p:cNvPr id="47" name="TextBox 46"/>
          <p:cNvSpPr txBox="1"/>
          <p:nvPr/>
        </p:nvSpPr>
        <p:spPr>
          <a:xfrm>
            <a:off x="5056632" y="5285231"/>
            <a:ext cx="3017520"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Linux</a:t>
            </a:r>
          </a:p>
        </p:txBody>
      </p:sp>
      <p:sp>
        <p:nvSpPr>
          <p:cNvPr id="48" name="TextBox 47"/>
          <p:cNvSpPr txBox="1"/>
          <p:nvPr/>
        </p:nvSpPr>
        <p:spPr>
          <a:xfrm>
            <a:off x="8257031" y="5285231"/>
            <a:ext cx="3154679" cy="320040"/>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Ubuntu 24.04</a:t>
            </a:r>
          </a:p>
        </p:txBody>
      </p:sp>
      <p:sp>
        <p:nvSpPr>
          <p:cNvPr id="49" name="TextBox 48"/>
          <p:cNvSpPr txBox="1"/>
          <p:nvPr/>
        </p:nvSpPr>
        <p:spPr>
          <a:xfrm>
            <a:off x="749808" y="5852160"/>
            <a:ext cx="10698480" cy="329184"/>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Kimodoの旧比較：公式オンラインGPU（L40S表示）。動画の描画：クラウドCPU / SwiftShader。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共通の英語学習5区間と、生徒→先生の短い会話を使用</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日本語・英語を含む利用者指定文を、英訳や動作命令に置換せず入力</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common-input-times.csv  [R2] audio-input-dialogue/*/measurement.json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06</a:t>
            </a:r>
          </a:p>
        </p:txBody>
      </p:sp>
      <p:sp>
        <p:nvSpPr>
          <p:cNvPr id="9" name="Rounded Rectangle 8"/>
          <p:cNvSpPr/>
          <p:nvPr/>
        </p:nvSpPr>
        <p:spPr>
          <a:xfrm>
            <a:off x="731520" y="2176272"/>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1</a:t>
            </a:r>
          </a:p>
        </p:txBody>
      </p:sp>
      <p:sp>
        <p:nvSpPr>
          <p:cNvPr id="11" name="TextBox 10"/>
          <p:cNvSpPr txBox="1"/>
          <p:nvPr/>
        </p:nvSpPr>
        <p:spPr>
          <a:xfrm>
            <a:off x="1298448" y="2157984"/>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こんにちは！</a:t>
            </a:r>
          </a:p>
        </p:txBody>
      </p:sp>
      <p:sp>
        <p:nvSpPr>
          <p:cNvPr id="12" name="Rounded Rectangle 11"/>
          <p:cNvSpPr/>
          <p:nvPr/>
        </p:nvSpPr>
        <p:spPr>
          <a:xfrm>
            <a:off x="731520" y="2734056"/>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70632"/>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2</a:t>
            </a:r>
          </a:p>
        </p:txBody>
      </p:sp>
      <p:sp>
        <p:nvSpPr>
          <p:cNvPr id="14" name="TextBox 13"/>
          <p:cNvSpPr txBox="1"/>
          <p:nvPr/>
        </p:nvSpPr>
        <p:spPr>
          <a:xfrm>
            <a:off x="1298448" y="2715768"/>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今日も一緒に楽しく英語を勉強しましょう！</a:t>
            </a:r>
          </a:p>
        </p:txBody>
      </p:sp>
      <p:sp>
        <p:nvSpPr>
          <p:cNvPr id="15" name="Rounded Rectangle 14"/>
          <p:cNvSpPr/>
          <p:nvPr/>
        </p:nvSpPr>
        <p:spPr>
          <a:xfrm>
            <a:off x="731520" y="3291839"/>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28415"/>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3</a:t>
            </a:r>
          </a:p>
        </p:txBody>
      </p:sp>
      <p:sp>
        <p:nvSpPr>
          <p:cNvPr id="17" name="TextBox 16"/>
          <p:cNvSpPr txBox="1"/>
          <p:nvPr/>
        </p:nvSpPr>
        <p:spPr>
          <a:xfrm>
            <a:off x="1298448" y="3273551"/>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まずは英語で挨拶してみよう。</a:t>
            </a:r>
          </a:p>
        </p:txBody>
      </p:sp>
      <p:sp>
        <p:nvSpPr>
          <p:cNvPr id="18" name="Rounded Rectangle 17"/>
          <p:cNvSpPr/>
          <p:nvPr/>
        </p:nvSpPr>
        <p:spPr>
          <a:xfrm>
            <a:off x="731520" y="3849624"/>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86200"/>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4</a:t>
            </a:r>
          </a:p>
        </p:txBody>
      </p:sp>
      <p:sp>
        <p:nvSpPr>
          <p:cNvPr id="20" name="TextBox 19"/>
          <p:cNvSpPr txBox="1"/>
          <p:nvPr/>
        </p:nvSpPr>
        <p:spPr>
          <a:xfrm>
            <a:off x="1298448" y="3831336"/>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Hello! How are you today?</a:t>
            </a:r>
          </a:p>
        </p:txBody>
      </p:sp>
      <p:sp>
        <p:nvSpPr>
          <p:cNvPr id="21" name="Rounded Rectangle 20"/>
          <p:cNvSpPr/>
          <p:nvPr/>
        </p:nvSpPr>
        <p:spPr>
          <a:xfrm>
            <a:off x="731520" y="4407408"/>
            <a:ext cx="384048" cy="384048"/>
          </a:xfrm>
          <a:prstGeom prst="roundRect">
            <a:avLst>
              <a:gd name="adj" fmla="val 12000"/>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43984"/>
            <a:ext cx="384048" cy="292608"/>
          </a:xfrm>
          <a:prstGeom prst="rect">
            <a:avLst/>
          </a:prstGeom>
          <a:noFill/>
        </p:spPr>
        <p:txBody>
          <a:bodyPr wrap="square" lIns="0" rIns="0" tIns="0" bIns="0" anchor="t">
            <a:spAutoFit/>
          </a:bodyPr>
          <a:lstStyle/>
          <a:p>
            <a:pPr algn="ctr">
              <a:lnSpc>
                <a:spcPct val="114000"/>
              </a:lnSpc>
              <a:spcAft>
                <a:spcPts val="500"/>
              </a:spcAft>
            </a:pPr>
            <a:r>
              <a:rPr sz="1400" b="1" lang="ja-JP">
                <a:solidFill>
                  <a:srgbClr val="FFFFFF"/>
                </a:solidFill>
                <a:latin typeface="Noto Sans CJK JP"/>
                <a:ea typeface="Noto Sans CJK JP"/>
              </a:rPr>
              <a:t>5</a:t>
            </a:r>
          </a:p>
        </p:txBody>
      </p:sp>
      <p:sp>
        <p:nvSpPr>
          <p:cNvPr id="23" name="TextBox 22"/>
          <p:cNvSpPr txBox="1"/>
          <p:nvPr/>
        </p:nvSpPr>
        <p:spPr>
          <a:xfrm>
            <a:off x="1298448" y="4389120"/>
            <a:ext cx="6400800" cy="46634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元気なときは、I'm happy! って言ってみてね。</a:t>
            </a:r>
          </a:p>
        </p:txBody>
      </p:sp>
      <p:sp>
        <p:nvSpPr>
          <p:cNvPr id="24" name="Rounded Rectangle 23"/>
          <p:cNvSpPr/>
          <p:nvPr/>
        </p:nvSpPr>
        <p:spPr>
          <a:xfrm>
            <a:off x="7909560" y="2176272"/>
            <a:ext cx="3520440" cy="32918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09560" y="2176272"/>
            <a:ext cx="41148" cy="32918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2340864"/>
            <a:ext cx="317296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会話の入力・返答</a:t>
            </a:r>
          </a:p>
        </p:txBody>
      </p:sp>
      <p:sp>
        <p:nvSpPr>
          <p:cNvPr id="27" name="TextBox 26"/>
          <p:cNvSpPr txBox="1"/>
          <p:nvPr/>
        </p:nvSpPr>
        <p:spPr>
          <a:xfrm>
            <a:off x="8092440" y="2889504"/>
            <a:ext cx="3154680" cy="2505456"/>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生徒（音声1.9秒）</a:t>
            </a:r>
          </a:p>
          <a:p>
            <a:pPr algn="l">
              <a:lnSpc>
                <a:spcPct val="114000"/>
              </a:lnSpc>
              <a:spcAft>
                <a:spcPts val="500"/>
              </a:spcAft>
            </a:pPr>
            <a:r>
              <a:rPr sz="1700" b="0" lang="ja-JP">
                <a:solidFill>
                  <a:srgbClr val="183440"/>
                </a:solidFill>
                <a:latin typeface="Noto Sans CJK JP"/>
                <a:ea typeface="Noto Sans CJK JP"/>
              </a:rPr>
              <a:t>「先生、こんにちは！」</a:t>
            </a:r>
          </a:p>
          <a:p>
            <a:pPr algn="l">
              <a:lnSpc>
                <a:spcPct val="114000"/>
              </a:lnSpc>
              <a:spcAft>
                <a:spcPts val="500"/>
              </a:spcAft>
            </a:pPr>
            <a:r>
              <a:rPr sz="1700" b="0" lang="ja-JP">
                <a:solidFill>
                  <a:srgbClr val="183440"/>
                </a:solidFill>
                <a:latin typeface="Noto Sans CJK JP"/>
                <a:ea typeface="Noto Sans CJK JP"/>
              </a:rPr>
              <a:t/>
            </a:r>
          </a:p>
          <a:p>
            <a:pPr algn="l">
              <a:lnSpc>
                <a:spcPct val="114000"/>
              </a:lnSpc>
              <a:spcAft>
                <a:spcPts val="500"/>
              </a:spcAft>
            </a:pPr>
            <a:r>
              <a:rPr sz="1700" b="0" lang="ja-JP">
                <a:solidFill>
                  <a:srgbClr val="183440"/>
                </a:solidFill>
                <a:latin typeface="Noto Sans CJK JP"/>
                <a:ea typeface="Noto Sans CJK JP"/>
              </a:rPr>
              <a:t>先生（固定返答）</a:t>
            </a:r>
          </a:p>
          <a:p>
            <a:pPr algn="l">
              <a:lnSpc>
                <a:spcPct val="114000"/>
              </a:lnSpc>
              <a:spcAft>
                <a:spcPts val="500"/>
              </a:spcAft>
            </a:pPr>
            <a:r>
              <a:rPr sz="1700" b="0" lang="ja-JP">
                <a:solidFill>
                  <a:srgbClr val="183440"/>
                </a:solidFill>
                <a:latin typeface="Noto Sans CJK JP"/>
                <a:ea typeface="Noto Sans CJK JP"/>
              </a:rPr>
              <a:t>「こんにちは！今日も元気そうだね！英会話の練習を始めましょう」</a:t>
            </a:r>
          </a:p>
        </p:txBody>
      </p:sp>
      <p:sp>
        <p:nvSpPr>
          <p:cNvPr id="28" name="TextBox 27"/>
          <p:cNvSpPr txBox="1"/>
          <p:nvPr/>
        </p:nvSpPr>
        <p:spPr>
          <a:xfrm>
            <a:off x="749808" y="5650992"/>
            <a:ext cx="10424160" cy="411480"/>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音声入力の会話では、実際に受信した先生の返答文から、新規の動作を生成した。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計測を3段階に分け、Realtimeとの差を明確に定義</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同じ「生成時間」でも、読み込み・通信・描画を含むかで値が変わる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[R1–R4] 計測CSV・measurement.json / docs/audio_input_comparison.md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07</a:t>
            </a:r>
          </a:p>
        </p:txBody>
      </p:sp>
      <p:sp>
        <p:nvSpPr>
          <p:cNvPr id="9" name="Rounded Rectangle 8"/>
          <p:cNvSpPr/>
          <p:nvPr/>
        </p:nvSpPr>
        <p:spPr>
          <a:xfrm>
            <a:off x="694944" y="2286000"/>
            <a:ext cx="3447288" cy="1956816"/>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2286000"/>
            <a:ext cx="41148" cy="1956816"/>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450592"/>
            <a:ext cx="309981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① 生成処理</a:t>
            </a:r>
          </a:p>
        </p:txBody>
      </p:sp>
      <p:sp>
        <p:nvSpPr>
          <p:cNvPr id="12" name="TextBox 11"/>
          <p:cNvSpPr txBox="1"/>
          <p:nvPr/>
        </p:nvSpPr>
        <p:spPr>
          <a:xfrm>
            <a:off x="877824" y="2999232"/>
            <a:ext cx="3081528" cy="117043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入力テキスト処理＋動作生成＋骨格変換。</a:t>
            </a:r>
          </a:p>
          <a:p>
            <a:pPr algn="l">
              <a:lnSpc>
                <a:spcPct val="114000"/>
              </a:lnSpc>
              <a:spcAft>
                <a:spcPts val="500"/>
              </a:spcAft>
            </a:pPr>
            <a:r>
              <a:rPr sz="1500" b="0" lang="ja-JP">
                <a:solidFill>
                  <a:srgbClr val="183440"/>
                </a:solidFill>
                <a:latin typeface="Noto Sans CJK JP"/>
                <a:ea typeface="Noto Sans CJK JP"/>
              </a:rPr>
              <a:t>モデル読み込み・通信は原則別記。</a:t>
            </a:r>
          </a:p>
        </p:txBody>
      </p:sp>
      <p:sp>
        <p:nvSpPr>
          <p:cNvPr id="13" name="Rounded Rectangle 12"/>
          <p:cNvSpPr/>
          <p:nvPr/>
        </p:nvSpPr>
        <p:spPr>
          <a:xfrm>
            <a:off x="4370832" y="2286000"/>
            <a:ext cx="3447288" cy="1956816"/>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2286000"/>
            <a:ext cx="41148" cy="1956816"/>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2450592"/>
            <a:ext cx="309981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② 会話の応答待ち</a:t>
            </a:r>
          </a:p>
        </p:txBody>
      </p:sp>
      <p:sp>
        <p:nvSpPr>
          <p:cNvPr id="16" name="TextBox 15"/>
          <p:cNvSpPr txBox="1"/>
          <p:nvPr/>
        </p:nvSpPr>
        <p:spPr>
          <a:xfrm>
            <a:off x="4553712" y="2999232"/>
            <a:ext cx="3081528" cy="117043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生徒の発話終了 → 骨格受信。</a:t>
            </a:r>
          </a:p>
          <a:p>
            <a:pPr algn="l">
              <a:lnSpc>
                <a:spcPct val="114000"/>
              </a:lnSpc>
              <a:spcAft>
                <a:spcPts val="500"/>
              </a:spcAft>
            </a:pPr>
            <a:r>
              <a:rPr sz="1500" b="0" lang="ja-JP">
                <a:solidFill>
                  <a:srgbClr val="183440"/>
                </a:solidFill>
                <a:latin typeface="Noto Sans CJK JP"/>
                <a:ea typeface="Noto Sans CJK JP"/>
              </a:rPr>
              <a:t>実際のAPI・通信・起動等を含む。</a:t>
            </a:r>
          </a:p>
        </p:txBody>
      </p:sp>
      <p:sp>
        <p:nvSpPr>
          <p:cNvPr id="17" name="Rounded Rectangle 16"/>
          <p:cNvSpPr/>
          <p:nvPr/>
        </p:nvSpPr>
        <p:spPr>
          <a:xfrm>
            <a:off x="8046720" y="2286000"/>
            <a:ext cx="3447288" cy="1956816"/>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2286000"/>
            <a:ext cx="41148" cy="1956816"/>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450592"/>
            <a:ext cx="309981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③ MP4書き出し</a:t>
            </a:r>
          </a:p>
        </p:txBody>
      </p:sp>
      <p:sp>
        <p:nvSpPr>
          <p:cNvPr id="20" name="TextBox 19"/>
          <p:cNvSpPr txBox="1"/>
          <p:nvPr/>
        </p:nvSpPr>
        <p:spPr>
          <a:xfrm>
            <a:off x="8229600" y="2999232"/>
            <a:ext cx="3081528" cy="117043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VRM描画＋音声結合＋エンコード。</a:t>
            </a:r>
          </a:p>
          <a:p>
            <a:pPr algn="l">
              <a:lnSpc>
                <a:spcPct val="114000"/>
              </a:lnSpc>
              <a:spcAft>
                <a:spcPts val="500"/>
              </a:spcAft>
            </a:pPr>
            <a:r>
              <a:rPr sz="1500" b="0" lang="ja-JP">
                <a:solidFill>
                  <a:srgbClr val="183440"/>
                </a:solidFill>
                <a:latin typeface="Noto Sans CJK JP"/>
                <a:ea typeface="Noto Sans CJK JP"/>
              </a:rPr>
              <a:t>オフラインの成果物作成時間。</a:t>
            </a:r>
          </a:p>
        </p:txBody>
      </p:sp>
      <p:sp>
        <p:nvSpPr>
          <p:cNvPr id="21" name="Rounded Rectangle 20"/>
          <p:cNvSpPr/>
          <p:nvPr/>
        </p:nvSpPr>
        <p:spPr>
          <a:xfrm>
            <a:off x="694944" y="4599432"/>
            <a:ext cx="10799064" cy="1170432"/>
          </a:xfrm>
          <a:prstGeom prst="roundRect">
            <a:avLst>
              <a:gd name="adj" fmla="val 12000"/>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73168"/>
            <a:ext cx="10332720" cy="365760"/>
          </a:xfrm>
          <a:prstGeom prst="rect">
            <a:avLst/>
          </a:prstGeom>
          <a:noFill/>
        </p:spPr>
        <p:txBody>
          <a:bodyPr wrap="square" lIns="0" rIns="0" tIns="0" bIns="0" anchor="t">
            <a:spAutoFit/>
          </a:bodyPr>
          <a:lstStyle/>
          <a:p>
            <a:pPr algn="l">
              <a:lnSpc>
                <a:spcPct val="114000"/>
              </a:lnSpc>
              <a:spcAft>
                <a:spcPts val="500"/>
              </a:spcAft>
            </a:pPr>
            <a:r>
              <a:rPr sz="2300" b="1" lang="ja-JP">
                <a:solidFill>
                  <a:srgbClr val="FFFFFF"/>
                </a:solidFill>
                <a:latin typeface="Noto Sans CJK JP"/>
                <a:ea typeface="Noto Sans CJK JP"/>
              </a:rPr>
              <a:t>Realtimeとの差 ＝ 骨格が届いた時刻 − 最初の教師音声が届いた時刻</a:t>
            </a:r>
          </a:p>
        </p:txBody>
      </p:sp>
      <p:sp>
        <p:nvSpPr>
          <p:cNvPr id="23" name="TextBox 22"/>
          <p:cNvSpPr txBox="1"/>
          <p:nvPr/>
        </p:nvSpPr>
        <p:spPr>
          <a:xfrm>
            <a:off x="914400" y="5321808"/>
            <a:ext cx="10149840" cy="274320"/>
          </a:xfrm>
          <a:prstGeom prst="rect">
            <a:avLst/>
          </a:prstGeom>
          <a:noFill/>
        </p:spPr>
        <p:txBody>
          <a:bodyPr wrap="square" lIns="0" rIns="0" tIns="0" bIns="0" anchor="t">
            <a:spAutoFit/>
          </a:bodyPr>
          <a:lstStyle/>
          <a:p>
            <a:pPr algn="l">
              <a:lnSpc>
                <a:spcPct val="114000"/>
              </a:lnSpc>
              <a:spcAft>
                <a:spcPts val="500"/>
              </a:spcAft>
            </a:pPr>
            <a:r>
              <a:rPr sz="1300" b="0" lang="ja-JP">
                <a:solidFill>
                  <a:srgbClr val="C2D5DA"/>
                </a:solidFill>
                <a:latin typeface="Noto Sans CJK JP"/>
                <a:ea typeface="Noto Sans CJK JP"/>
              </a:rPr>
              <a:t>動画では骨格まで音声を待たせるため、発話・動作の開始は一致する。待ち時間そのものは残る。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共通5区間の記録：生成処理と動画化を別々に保存</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GPU・入力処理・役割が異なるため、この表だけでモデルの性能順位は決められない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common-input-times.csv / 値は各5区間の合計</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08</a:t>
            </a:r>
          </a:p>
        </p:txBody>
      </p:sp>
      <p:sp>
        <p:nvSpPr>
          <p:cNvPr id="9" name="Rectangle 8"/>
          <p:cNvSpPr/>
          <p:nvPr/>
        </p:nvSpPr>
        <p:spPr>
          <a:xfrm>
            <a:off x="694944" y="2176272"/>
            <a:ext cx="10789920" cy="438912"/>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58568"/>
            <a:ext cx="146304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モデル</a:t>
            </a:r>
          </a:p>
        </p:txBody>
      </p:sp>
      <p:sp>
        <p:nvSpPr>
          <p:cNvPr id="11" name="TextBox 10"/>
          <p:cNvSpPr txBox="1"/>
          <p:nvPr/>
        </p:nvSpPr>
        <p:spPr>
          <a:xfrm>
            <a:off x="2450592" y="2258568"/>
            <a:ext cx="164592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役割</a:t>
            </a:r>
          </a:p>
        </p:txBody>
      </p:sp>
      <p:sp>
        <p:nvSpPr>
          <p:cNvPr id="12" name="TextBox 11"/>
          <p:cNvSpPr txBox="1"/>
          <p:nvPr/>
        </p:nvSpPr>
        <p:spPr>
          <a:xfrm>
            <a:off x="4279392" y="2258568"/>
            <a:ext cx="182880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生成処理・5区間</a:t>
            </a:r>
          </a:p>
        </p:txBody>
      </p:sp>
      <p:sp>
        <p:nvSpPr>
          <p:cNvPr id="13" name="TextBox 12"/>
          <p:cNvSpPr txBox="1"/>
          <p:nvPr/>
        </p:nvSpPr>
        <p:spPr>
          <a:xfrm>
            <a:off x="6291072" y="2258568"/>
            <a:ext cx="1645920"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MP4描画・CPU</a:t>
            </a:r>
          </a:p>
        </p:txBody>
      </p:sp>
      <p:sp>
        <p:nvSpPr>
          <p:cNvPr id="14" name="TextBox 13"/>
          <p:cNvSpPr txBox="1"/>
          <p:nvPr/>
        </p:nvSpPr>
        <p:spPr>
          <a:xfrm>
            <a:off x="8119872" y="2258568"/>
            <a:ext cx="3291839" cy="329184"/>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生成の計測経路</a:t>
            </a:r>
          </a:p>
        </p:txBody>
      </p:sp>
      <p:sp>
        <p:nvSpPr>
          <p:cNvPr id="15" name="Rectangle 14"/>
          <p:cNvSpPr/>
          <p:nvPr/>
        </p:nvSpPr>
        <p:spPr>
          <a:xfrm>
            <a:off x="694944" y="2615184"/>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2697479"/>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Kimodo</a:t>
            </a:r>
          </a:p>
        </p:txBody>
      </p:sp>
      <p:sp>
        <p:nvSpPr>
          <p:cNvPr id="17" name="TextBox 16"/>
          <p:cNvSpPr txBox="1"/>
          <p:nvPr/>
        </p:nvSpPr>
        <p:spPr>
          <a:xfrm>
            <a:off x="2450592" y="2697479"/>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18" name="TextBox 17"/>
          <p:cNvSpPr txBox="1"/>
          <p:nvPr/>
        </p:nvSpPr>
        <p:spPr>
          <a:xfrm>
            <a:off x="4279392" y="2697479"/>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51.409秒</a:t>
            </a:r>
          </a:p>
        </p:txBody>
      </p:sp>
      <p:sp>
        <p:nvSpPr>
          <p:cNvPr id="19" name="TextBox 18"/>
          <p:cNvSpPr txBox="1"/>
          <p:nvPr/>
        </p:nvSpPr>
        <p:spPr>
          <a:xfrm>
            <a:off x="6291072" y="2697479"/>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156.0秒</a:t>
            </a:r>
          </a:p>
        </p:txBody>
      </p:sp>
      <p:sp>
        <p:nvSpPr>
          <p:cNvPr id="20" name="TextBox 19"/>
          <p:cNvSpPr txBox="1"/>
          <p:nvPr/>
        </p:nvSpPr>
        <p:spPr>
          <a:xfrm>
            <a:off x="8119872" y="2697479"/>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公式オンライン・通信込み</a:t>
            </a:r>
          </a:p>
        </p:txBody>
      </p:sp>
      <p:sp>
        <p:nvSpPr>
          <p:cNvPr id="21" name="Rectangle 20"/>
          <p:cNvSpPr/>
          <p:nvPr/>
        </p:nvSpPr>
        <p:spPr>
          <a:xfrm>
            <a:off x="694944" y="3054096"/>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136391"/>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ARDY</a:t>
            </a:r>
          </a:p>
        </p:txBody>
      </p:sp>
      <p:sp>
        <p:nvSpPr>
          <p:cNvPr id="23" name="TextBox 22"/>
          <p:cNvSpPr txBox="1"/>
          <p:nvPr/>
        </p:nvSpPr>
        <p:spPr>
          <a:xfrm>
            <a:off x="2450592" y="3136391"/>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24" name="TextBox 23"/>
          <p:cNvSpPr txBox="1"/>
          <p:nvPr/>
        </p:nvSpPr>
        <p:spPr>
          <a:xfrm>
            <a:off x="4279392" y="3136391"/>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38.492秒</a:t>
            </a:r>
          </a:p>
        </p:txBody>
      </p:sp>
      <p:sp>
        <p:nvSpPr>
          <p:cNvPr id="25" name="TextBox 24"/>
          <p:cNvSpPr txBox="1"/>
          <p:nvPr/>
        </p:nvSpPr>
        <p:spPr>
          <a:xfrm>
            <a:off x="6291072" y="3136391"/>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160.2秒</a:t>
            </a:r>
          </a:p>
        </p:txBody>
      </p:sp>
      <p:sp>
        <p:nvSpPr>
          <p:cNvPr id="26" name="TextBox 25"/>
          <p:cNvSpPr txBox="1"/>
          <p:nvPr/>
        </p:nvSpPr>
        <p:spPr>
          <a:xfrm>
            <a:off x="8119872" y="3136391"/>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CPU特徴＋CUDA生成</a:t>
            </a:r>
          </a:p>
        </p:txBody>
      </p:sp>
      <p:sp>
        <p:nvSpPr>
          <p:cNvPr id="27" name="Rectangle 26"/>
          <p:cNvSpPr/>
          <p:nvPr/>
        </p:nvSpPr>
        <p:spPr>
          <a:xfrm>
            <a:off x="694944" y="3493008"/>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575303"/>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MotionLCM</a:t>
            </a:r>
          </a:p>
        </p:txBody>
      </p:sp>
      <p:sp>
        <p:nvSpPr>
          <p:cNvPr id="29" name="TextBox 28"/>
          <p:cNvSpPr txBox="1"/>
          <p:nvPr/>
        </p:nvSpPr>
        <p:spPr>
          <a:xfrm>
            <a:off x="2450592" y="3575303"/>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30" name="TextBox 29"/>
          <p:cNvSpPr txBox="1"/>
          <p:nvPr/>
        </p:nvSpPr>
        <p:spPr>
          <a:xfrm>
            <a:off x="4279392" y="3575303"/>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0.570秒</a:t>
            </a:r>
          </a:p>
        </p:txBody>
      </p:sp>
      <p:sp>
        <p:nvSpPr>
          <p:cNvPr id="31" name="TextBox 30"/>
          <p:cNvSpPr txBox="1"/>
          <p:nvPr/>
        </p:nvSpPr>
        <p:spPr>
          <a:xfrm>
            <a:off x="6291072" y="3575303"/>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154.4秒</a:t>
            </a:r>
          </a:p>
        </p:txBody>
      </p:sp>
      <p:sp>
        <p:nvSpPr>
          <p:cNvPr id="32" name="TextBox 31"/>
          <p:cNvSpPr txBox="1"/>
          <p:nvPr/>
        </p:nvSpPr>
        <p:spPr>
          <a:xfrm>
            <a:off x="8119872" y="3575303"/>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33" name="Rectangle 32"/>
          <p:cNvSpPr/>
          <p:nvPr/>
        </p:nvSpPr>
        <p:spPr>
          <a:xfrm>
            <a:off x="694944" y="3931920"/>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4014215"/>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MoMask</a:t>
            </a:r>
          </a:p>
        </p:txBody>
      </p:sp>
      <p:sp>
        <p:nvSpPr>
          <p:cNvPr id="35" name="TextBox 34"/>
          <p:cNvSpPr txBox="1"/>
          <p:nvPr/>
        </p:nvSpPr>
        <p:spPr>
          <a:xfrm>
            <a:off x="2450592" y="4014215"/>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36" name="TextBox 35"/>
          <p:cNvSpPr txBox="1"/>
          <p:nvPr/>
        </p:nvSpPr>
        <p:spPr>
          <a:xfrm>
            <a:off x="4279392" y="4014215"/>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1.512秒</a:t>
            </a:r>
          </a:p>
        </p:txBody>
      </p:sp>
      <p:sp>
        <p:nvSpPr>
          <p:cNvPr id="37" name="TextBox 36"/>
          <p:cNvSpPr txBox="1"/>
          <p:nvPr/>
        </p:nvSpPr>
        <p:spPr>
          <a:xfrm>
            <a:off x="6291072" y="4014215"/>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154.8秒</a:t>
            </a:r>
          </a:p>
        </p:txBody>
      </p:sp>
      <p:sp>
        <p:nvSpPr>
          <p:cNvPr id="38" name="TextBox 37"/>
          <p:cNvSpPr txBox="1"/>
          <p:nvPr/>
        </p:nvSpPr>
        <p:spPr>
          <a:xfrm>
            <a:off x="8119872" y="4014215"/>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39" name="Rectangle 38"/>
          <p:cNvSpPr/>
          <p:nvPr/>
        </p:nvSpPr>
        <p:spPr>
          <a:xfrm>
            <a:off x="694944" y="4370831"/>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453127"/>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MMM</a:t>
            </a:r>
          </a:p>
        </p:txBody>
      </p:sp>
      <p:sp>
        <p:nvSpPr>
          <p:cNvPr id="41" name="TextBox 40"/>
          <p:cNvSpPr txBox="1"/>
          <p:nvPr/>
        </p:nvSpPr>
        <p:spPr>
          <a:xfrm>
            <a:off x="2450592" y="4453127"/>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話し手</a:t>
            </a:r>
          </a:p>
        </p:txBody>
      </p:sp>
      <p:sp>
        <p:nvSpPr>
          <p:cNvPr id="42" name="TextBox 41"/>
          <p:cNvSpPr txBox="1"/>
          <p:nvPr/>
        </p:nvSpPr>
        <p:spPr>
          <a:xfrm>
            <a:off x="4279392" y="4453127"/>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0.757秒</a:t>
            </a:r>
          </a:p>
        </p:txBody>
      </p:sp>
      <p:sp>
        <p:nvSpPr>
          <p:cNvPr id="43" name="TextBox 42"/>
          <p:cNvSpPr txBox="1"/>
          <p:nvPr/>
        </p:nvSpPr>
        <p:spPr>
          <a:xfrm>
            <a:off x="6291072" y="4453127"/>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156.5秒</a:t>
            </a:r>
          </a:p>
        </p:txBody>
      </p:sp>
      <p:sp>
        <p:nvSpPr>
          <p:cNvPr id="44" name="TextBox 43"/>
          <p:cNvSpPr txBox="1"/>
          <p:nvPr/>
        </p:nvSpPr>
        <p:spPr>
          <a:xfrm>
            <a:off x="8119872" y="4453127"/>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45" name="Rectangle 44"/>
          <p:cNvSpPr/>
          <p:nvPr/>
        </p:nvSpPr>
        <p:spPr>
          <a:xfrm>
            <a:off x="694944" y="4809744"/>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 y="4892040"/>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ReactMotion</a:t>
            </a:r>
          </a:p>
        </p:txBody>
      </p:sp>
      <p:sp>
        <p:nvSpPr>
          <p:cNvPr id="47" name="TextBox 46"/>
          <p:cNvSpPr txBox="1"/>
          <p:nvPr/>
        </p:nvSpPr>
        <p:spPr>
          <a:xfrm>
            <a:off x="2450592" y="4892040"/>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聞き手・全身</a:t>
            </a:r>
          </a:p>
        </p:txBody>
      </p:sp>
      <p:sp>
        <p:nvSpPr>
          <p:cNvPr id="48" name="TextBox 47"/>
          <p:cNvSpPr txBox="1"/>
          <p:nvPr/>
        </p:nvSpPr>
        <p:spPr>
          <a:xfrm>
            <a:off x="4279392" y="4892040"/>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2.597秒</a:t>
            </a:r>
          </a:p>
        </p:txBody>
      </p:sp>
      <p:sp>
        <p:nvSpPr>
          <p:cNvPr id="49" name="TextBox 48"/>
          <p:cNvSpPr txBox="1"/>
          <p:nvPr/>
        </p:nvSpPr>
        <p:spPr>
          <a:xfrm>
            <a:off x="6291072" y="4892040"/>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238.6秒</a:t>
            </a:r>
          </a:p>
        </p:txBody>
      </p:sp>
      <p:sp>
        <p:nvSpPr>
          <p:cNvPr id="50" name="TextBox 49"/>
          <p:cNvSpPr txBox="1"/>
          <p:nvPr/>
        </p:nvSpPr>
        <p:spPr>
          <a:xfrm>
            <a:off x="8119872" y="4892040"/>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51" name="Rectangle 50"/>
          <p:cNvSpPr/>
          <p:nvPr/>
        </p:nvSpPr>
        <p:spPr>
          <a:xfrm>
            <a:off x="694944" y="5248656"/>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330952"/>
            <a:ext cx="146304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MaAI</a:t>
            </a:r>
          </a:p>
        </p:txBody>
      </p:sp>
      <p:sp>
        <p:nvSpPr>
          <p:cNvPr id="53" name="TextBox 52"/>
          <p:cNvSpPr txBox="1"/>
          <p:nvPr/>
        </p:nvSpPr>
        <p:spPr>
          <a:xfrm>
            <a:off x="2450592" y="5330952"/>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聞き手・頭部</a:t>
            </a:r>
          </a:p>
        </p:txBody>
      </p:sp>
      <p:sp>
        <p:nvSpPr>
          <p:cNvPr id="54" name="TextBox 53"/>
          <p:cNvSpPr txBox="1"/>
          <p:nvPr/>
        </p:nvSpPr>
        <p:spPr>
          <a:xfrm>
            <a:off x="4279392" y="5330952"/>
            <a:ext cx="182880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8.063秒</a:t>
            </a:r>
          </a:p>
        </p:txBody>
      </p:sp>
      <p:sp>
        <p:nvSpPr>
          <p:cNvPr id="55" name="TextBox 54"/>
          <p:cNvSpPr txBox="1"/>
          <p:nvPr/>
        </p:nvSpPr>
        <p:spPr>
          <a:xfrm>
            <a:off x="6291072" y="5330952"/>
            <a:ext cx="1645920"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174.9秒</a:t>
            </a:r>
          </a:p>
        </p:txBody>
      </p:sp>
      <p:sp>
        <p:nvSpPr>
          <p:cNvPr id="56" name="TextBox 55"/>
          <p:cNvSpPr txBox="1"/>
          <p:nvPr/>
        </p:nvSpPr>
        <p:spPr>
          <a:xfrm>
            <a:off x="8119872" y="5330952"/>
            <a:ext cx="3291839" cy="329184"/>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CUDA生成</a:t>
            </a:r>
          </a:p>
        </p:txBody>
      </p:sp>
      <p:sp>
        <p:nvSpPr>
          <p:cNvPr id="57" name="TextBox 56"/>
          <p:cNvSpPr txBox="1"/>
          <p:nvPr/>
        </p:nvSpPr>
        <p:spPr>
          <a:xfrm>
            <a:off x="758952" y="5870448"/>
            <a:ext cx="10607040" cy="292608"/>
          </a:xfrm>
          <a:prstGeom prst="rect">
            <a:avLst/>
          </a:prstGeom>
          <a:noFill/>
        </p:spPr>
        <p:txBody>
          <a:bodyPr wrap="square" lIns="0" rIns="0" tIns="0" bIns="0" anchor="t">
            <a:spAutoFit/>
          </a:bodyPr>
          <a:lstStyle/>
          <a:p>
            <a:pPr algn="l">
              <a:lnSpc>
                <a:spcPct val="114000"/>
              </a:lnSpc>
              <a:spcAft>
                <a:spcPts val="500"/>
              </a:spcAft>
            </a:pPr>
            <a:r>
              <a:rPr sz="1300" b="0" lang="ja-JP">
                <a:solidFill>
                  <a:srgbClr val="5B707B"/>
                </a:solidFill>
                <a:latin typeface="Noto Sans CJK JP"/>
                <a:ea typeface="Noto Sans CJK JP"/>
              </a:rPr>
              <a:t>同じ発話音声を各モデルで共有。生成後の再生時間調整・姿勢補間と、元の骨格を区別して保持。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同じRTX 4090・入力5区間ではMotionLCMが最短</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初回を除く4区間の中央値。文と生成長は区間ごとに異なる（48〜72フレーム）</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 common/{motionlcm,mmm,momask}/segments/*/motion-generation.json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09</a:t>
            </a:r>
          </a:p>
        </p:txBody>
      </p:sp>
      <p:sp>
        <p:nvSpPr>
          <p:cNvPr id="9" name="TextBox 8"/>
          <p:cNvSpPr txBox="1"/>
          <p:nvPr/>
        </p:nvSpPr>
        <p:spPr>
          <a:xfrm>
            <a:off x="868680" y="2468880"/>
            <a:ext cx="2194560"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MotionLCM</a:t>
            </a:r>
          </a:p>
        </p:txBody>
      </p:sp>
      <p:sp>
        <p:nvSpPr>
          <p:cNvPr id="10" name="Rectangle 9"/>
          <p:cNvSpPr/>
          <p:nvPr/>
        </p:nvSpPr>
        <p:spPr>
          <a:xfrm>
            <a:off x="3246120" y="2496312"/>
            <a:ext cx="617220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6120" y="2496312"/>
            <a:ext cx="999220"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82912" y="245973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0.039秒</a:t>
            </a:r>
          </a:p>
        </p:txBody>
      </p:sp>
      <p:sp>
        <p:nvSpPr>
          <p:cNvPr id="13" name="TextBox 12"/>
          <p:cNvSpPr txBox="1"/>
          <p:nvPr/>
        </p:nvSpPr>
        <p:spPr>
          <a:xfrm>
            <a:off x="868680" y="3264408"/>
            <a:ext cx="2194560"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MMM</a:t>
            </a:r>
          </a:p>
        </p:txBody>
      </p:sp>
      <p:sp>
        <p:nvSpPr>
          <p:cNvPr id="14" name="Rectangle 13"/>
          <p:cNvSpPr/>
          <p:nvPr/>
        </p:nvSpPr>
        <p:spPr>
          <a:xfrm>
            <a:off x="3246120" y="3291840"/>
            <a:ext cx="617220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46120" y="3291840"/>
            <a:ext cx="1562930"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82912" y="3255264"/>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0.061秒</a:t>
            </a:r>
          </a:p>
        </p:txBody>
      </p:sp>
      <p:sp>
        <p:nvSpPr>
          <p:cNvPr id="17" name="TextBox 16"/>
          <p:cNvSpPr txBox="1"/>
          <p:nvPr/>
        </p:nvSpPr>
        <p:spPr>
          <a:xfrm>
            <a:off x="868680" y="4059936"/>
            <a:ext cx="2194560"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MoMask</a:t>
            </a:r>
          </a:p>
        </p:txBody>
      </p:sp>
      <p:sp>
        <p:nvSpPr>
          <p:cNvPr id="18" name="Rectangle 17"/>
          <p:cNvSpPr/>
          <p:nvPr/>
        </p:nvSpPr>
        <p:spPr>
          <a:xfrm>
            <a:off x="3246120" y="4087368"/>
            <a:ext cx="617220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6120" y="4087368"/>
            <a:ext cx="5204158"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82912" y="4050792"/>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0.202秒</a:t>
            </a:r>
          </a:p>
        </p:txBody>
      </p:sp>
      <p:sp>
        <p:nvSpPr>
          <p:cNvPr id="21" name="Rectangle 20"/>
          <p:cNvSpPr/>
          <p:nvPr/>
        </p:nvSpPr>
        <p:spPr>
          <a:xfrm>
            <a:off x="749808" y="4919472"/>
            <a:ext cx="10698480" cy="292608"/>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5001768"/>
            <a:ext cx="210312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モデル</a:t>
            </a:r>
          </a:p>
        </p:txBody>
      </p:sp>
      <p:sp>
        <p:nvSpPr>
          <p:cNvPr id="23" name="TextBox 22"/>
          <p:cNvSpPr txBox="1"/>
          <p:nvPr/>
        </p:nvSpPr>
        <p:spPr>
          <a:xfrm>
            <a:off x="3145536" y="5001768"/>
            <a:ext cx="219456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初回区間の生成</a:t>
            </a:r>
          </a:p>
        </p:txBody>
      </p:sp>
      <p:sp>
        <p:nvSpPr>
          <p:cNvPr id="24" name="TextBox 23"/>
          <p:cNvSpPr txBox="1"/>
          <p:nvPr/>
        </p:nvSpPr>
        <p:spPr>
          <a:xfrm>
            <a:off x="5522976" y="5001768"/>
            <a:ext cx="310896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残り4区間の範囲</a:t>
            </a:r>
          </a:p>
        </p:txBody>
      </p:sp>
      <p:sp>
        <p:nvSpPr>
          <p:cNvPr id="25" name="TextBox 24"/>
          <p:cNvSpPr txBox="1"/>
          <p:nvPr/>
        </p:nvSpPr>
        <p:spPr>
          <a:xfrm>
            <a:off x="8814815" y="5001768"/>
            <a:ext cx="2560320" cy="182880"/>
          </a:xfrm>
          <a:prstGeom prst="rect">
            <a:avLst/>
          </a:prstGeom>
          <a:noFill/>
        </p:spPr>
        <p:txBody>
          <a:bodyPr wrap="square" lIns="0" rIns="0" tIns="0" bIns="0" anchor="t">
            <a:spAutoFit/>
          </a:bodyPr>
          <a:lstStyle/>
          <a:p>
            <a:pPr algn="l">
              <a:lnSpc>
                <a:spcPct val="114000"/>
              </a:lnSpc>
              <a:spcAft>
                <a:spcPts val="500"/>
              </a:spcAft>
            </a:pPr>
            <a:r>
              <a:rPr sz="1100" b="1" lang="ja-JP">
                <a:solidFill>
                  <a:srgbClr val="FFFFFF"/>
                </a:solidFill>
                <a:latin typeface="Noto Sans CJK JP"/>
                <a:ea typeface="Noto Sans CJK JP"/>
              </a:rPr>
              <a:t>Torch最大割り当て</a:t>
            </a:r>
          </a:p>
        </p:txBody>
      </p:sp>
      <p:sp>
        <p:nvSpPr>
          <p:cNvPr id="26" name="Rectangle 25"/>
          <p:cNvSpPr/>
          <p:nvPr/>
        </p:nvSpPr>
        <p:spPr>
          <a:xfrm>
            <a:off x="749808" y="5212080"/>
            <a:ext cx="10698480" cy="29260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294376"/>
            <a:ext cx="2103120" cy="18288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MotionLCM</a:t>
            </a:r>
          </a:p>
        </p:txBody>
      </p:sp>
      <p:sp>
        <p:nvSpPr>
          <p:cNvPr id="28" name="TextBox 27"/>
          <p:cNvSpPr txBox="1"/>
          <p:nvPr/>
        </p:nvSpPr>
        <p:spPr>
          <a:xfrm>
            <a:off x="3145536" y="5294376"/>
            <a:ext cx="21945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0.414秒</a:t>
            </a:r>
          </a:p>
        </p:txBody>
      </p:sp>
      <p:sp>
        <p:nvSpPr>
          <p:cNvPr id="29" name="TextBox 28"/>
          <p:cNvSpPr txBox="1"/>
          <p:nvPr/>
        </p:nvSpPr>
        <p:spPr>
          <a:xfrm>
            <a:off x="5522976" y="5294376"/>
            <a:ext cx="31089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0.037〜0.041秒</a:t>
            </a:r>
          </a:p>
        </p:txBody>
      </p:sp>
      <p:sp>
        <p:nvSpPr>
          <p:cNvPr id="30" name="TextBox 29"/>
          <p:cNvSpPr txBox="1"/>
          <p:nvPr/>
        </p:nvSpPr>
        <p:spPr>
          <a:xfrm>
            <a:off x="8814815" y="5294376"/>
            <a:ext cx="256032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1.44GiB</a:t>
            </a:r>
          </a:p>
        </p:txBody>
      </p:sp>
      <p:sp>
        <p:nvSpPr>
          <p:cNvPr id="31" name="Rectangle 30"/>
          <p:cNvSpPr/>
          <p:nvPr/>
        </p:nvSpPr>
        <p:spPr>
          <a:xfrm>
            <a:off x="749808" y="5504688"/>
            <a:ext cx="106984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586983"/>
            <a:ext cx="2103120" cy="18288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MMM</a:t>
            </a:r>
          </a:p>
        </p:txBody>
      </p:sp>
      <p:sp>
        <p:nvSpPr>
          <p:cNvPr id="33" name="TextBox 32"/>
          <p:cNvSpPr txBox="1"/>
          <p:nvPr/>
        </p:nvSpPr>
        <p:spPr>
          <a:xfrm>
            <a:off x="3145536" y="5586983"/>
            <a:ext cx="21945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0.527秒</a:t>
            </a:r>
          </a:p>
        </p:txBody>
      </p:sp>
      <p:sp>
        <p:nvSpPr>
          <p:cNvPr id="34" name="TextBox 33"/>
          <p:cNvSpPr txBox="1"/>
          <p:nvPr/>
        </p:nvSpPr>
        <p:spPr>
          <a:xfrm>
            <a:off x="5522976" y="5586983"/>
            <a:ext cx="31089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0.038〜0.071秒</a:t>
            </a:r>
          </a:p>
        </p:txBody>
      </p:sp>
      <p:sp>
        <p:nvSpPr>
          <p:cNvPr id="35" name="TextBox 34"/>
          <p:cNvSpPr txBox="1"/>
          <p:nvPr/>
        </p:nvSpPr>
        <p:spPr>
          <a:xfrm>
            <a:off x="8814815" y="5586983"/>
            <a:ext cx="256032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1.30GiB</a:t>
            </a:r>
          </a:p>
        </p:txBody>
      </p:sp>
      <p:sp>
        <p:nvSpPr>
          <p:cNvPr id="36" name="Rectangle 35"/>
          <p:cNvSpPr/>
          <p:nvPr/>
        </p:nvSpPr>
        <p:spPr>
          <a:xfrm>
            <a:off x="749808" y="5797296"/>
            <a:ext cx="10698480" cy="292608"/>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 y="5879592"/>
            <a:ext cx="2103120" cy="182880"/>
          </a:xfrm>
          <a:prstGeom prst="rect">
            <a:avLst/>
          </a:prstGeom>
          <a:noFill/>
        </p:spPr>
        <p:txBody>
          <a:bodyPr wrap="square" lIns="0" rIns="0" tIns="0" bIns="0" anchor="t">
            <a:spAutoFit/>
          </a:bodyPr>
          <a:lstStyle/>
          <a:p>
            <a:pPr algn="l">
              <a:lnSpc>
                <a:spcPct val="114000"/>
              </a:lnSpc>
              <a:spcAft>
                <a:spcPts val="500"/>
              </a:spcAft>
            </a:pPr>
            <a:r>
              <a:rPr sz="1200" b="1" lang="ja-JP">
                <a:solidFill>
                  <a:srgbClr val="183440"/>
                </a:solidFill>
                <a:latin typeface="Noto Sans CJK JP"/>
                <a:ea typeface="Noto Sans CJK JP"/>
              </a:rPr>
              <a:t>MoMask</a:t>
            </a:r>
          </a:p>
        </p:txBody>
      </p:sp>
      <p:sp>
        <p:nvSpPr>
          <p:cNvPr id="38" name="TextBox 37"/>
          <p:cNvSpPr txBox="1"/>
          <p:nvPr/>
        </p:nvSpPr>
        <p:spPr>
          <a:xfrm>
            <a:off x="3145536" y="5879592"/>
            <a:ext cx="21945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0.705秒</a:t>
            </a:r>
          </a:p>
        </p:txBody>
      </p:sp>
      <p:sp>
        <p:nvSpPr>
          <p:cNvPr id="39" name="TextBox 38"/>
          <p:cNvSpPr txBox="1"/>
          <p:nvPr/>
        </p:nvSpPr>
        <p:spPr>
          <a:xfrm>
            <a:off x="5522976" y="5879592"/>
            <a:ext cx="310896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0.196〜0.207秒</a:t>
            </a:r>
          </a:p>
        </p:txBody>
      </p:sp>
      <p:sp>
        <p:nvSpPr>
          <p:cNvPr id="40" name="TextBox 39"/>
          <p:cNvSpPr txBox="1"/>
          <p:nvPr/>
        </p:nvSpPr>
        <p:spPr>
          <a:xfrm>
            <a:off x="8814815" y="5879592"/>
            <a:ext cx="2560320" cy="182880"/>
          </a:xfrm>
          <a:prstGeom prst="rect">
            <a:avLst/>
          </a:prstGeom>
          <a:noFill/>
        </p:spPr>
        <p:txBody>
          <a:bodyPr wrap="square" lIns="0" rIns="0" tIns="0" bIns="0" anchor="t">
            <a:spAutoFit/>
          </a:bodyPr>
          <a:lstStyle/>
          <a:p>
            <a:pPr algn="l">
              <a:lnSpc>
                <a:spcPct val="114000"/>
              </a:lnSpc>
              <a:spcAft>
                <a:spcPts val="500"/>
              </a:spcAft>
            </a:pPr>
            <a:r>
              <a:rPr sz="1200" b="0" lang="ja-JP">
                <a:solidFill>
                  <a:srgbClr val="183440"/>
                </a:solidFill>
                <a:latin typeface="Noto Sans CJK JP"/>
                <a:ea typeface="Noto Sans CJK JP"/>
              </a:rPr>
              <a:t>0.89GiB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従来の会話経路では、起動・中継の待ちが大きかった</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生徒の発話終了を0秒とする。各モデル1回、常駐化前の実測</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[R2] audio-response-times.csv / Kimodoは公式オンライン、他はRTX 4090</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10</a:t>
            </a:r>
          </a:p>
        </p:txBody>
      </p:sp>
      <p:sp>
        <p:nvSpPr>
          <p:cNvPr id="9" name="Rectangle 8"/>
          <p:cNvSpPr/>
          <p:nvPr/>
        </p:nvSpPr>
        <p:spPr>
          <a:xfrm>
            <a:off x="694944" y="2176272"/>
            <a:ext cx="10789920" cy="420624"/>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58568"/>
            <a:ext cx="192023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モデル</a:t>
            </a:r>
          </a:p>
        </p:txBody>
      </p:sp>
      <p:sp>
        <p:nvSpPr>
          <p:cNvPr id="11" name="TextBox 10"/>
          <p:cNvSpPr txBox="1"/>
          <p:nvPr/>
        </p:nvSpPr>
        <p:spPr>
          <a:xfrm>
            <a:off x="2907791" y="2258568"/>
            <a:ext cx="187451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音声初受信（秒）</a:t>
            </a:r>
          </a:p>
        </p:txBody>
      </p:sp>
      <p:sp>
        <p:nvSpPr>
          <p:cNvPr id="12" name="TextBox 11"/>
          <p:cNvSpPr txBox="1"/>
          <p:nvPr/>
        </p:nvSpPr>
        <p:spPr>
          <a:xfrm>
            <a:off x="4965192" y="2258568"/>
            <a:ext cx="201167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生成処理（秒）</a:t>
            </a:r>
          </a:p>
        </p:txBody>
      </p:sp>
      <p:sp>
        <p:nvSpPr>
          <p:cNvPr id="13" name="TextBox 12"/>
          <p:cNvSpPr txBox="1"/>
          <p:nvPr/>
        </p:nvSpPr>
        <p:spPr>
          <a:xfrm>
            <a:off x="7159751" y="2258568"/>
            <a:ext cx="2011679"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動作完了観測（秒）</a:t>
            </a:r>
          </a:p>
        </p:txBody>
      </p:sp>
      <p:sp>
        <p:nvSpPr>
          <p:cNvPr id="14" name="TextBox 13"/>
          <p:cNvSpPr txBox="1"/>
          <p:nvPr/>
        </p:nvSpPr>
        <p:spPr>
          <a:xfrm>
            <a:off x="9354311" y="2258568"/>
            <a:ext cx="2057400" cy="310896"/>
          </a:xfrm>
          <a:prstGeom prst="rect">
            <a:avLst/>
          </a:prstGeom>
          <a:noFill/>
        </p:spPr>
        <p:txBody>
          <a:bodyPr wrap="square" lIns="0" rIns="0" tIns="0" bIns="0" anchor="t">
            <a:spAutoFit/>
          </a:bodyPr>
          <a:lstStyle/>
          <a:p>
            <a:pPr algn="l">
              <a:lnSpc>
                <a:spcPct val="114000"/>
              </a:lnSpc>
              <a:spcAft>
                <a:spcPts val="500"/>
              </a:spcAft>
            </a:pPr>
            <a:r>
              <a:rPr sz="1300" b="1" lang="ja-JP">
                <a:solidFill>
                  <a:srgbClr val="FFFFFF"/>
                </a:solidFill>
                <a:latin typeface="Noto Sans CJK JP"/>
                <a:ea typeface="Noto Sans CJK JP"/>
              </a:rPr>
              <a:t>音声との差（秒）</a:t>
            </a:r>
          </a:p>
        </p:txBody>
      </p:sp>
      <p:sp>
        <p:nvSpPr>
          <p:cNvPr id="15" name="Rectangle 14"/>
          <p:cNvSpPr/>
          <p:nvPr/>
        </p:nvSpPr>
        <p:spPr>
          <a:xfrm>
            <a:off x="694944" y="2596896"/>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2679191"/>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Kimodo</a:t>
            </a:r>
          </a:p>
        </p:txBody>
      </p:sp>
      <p:sp>
        <p:nvSpPr>
          <p:cNvPr id="17" name="TextBox 16"/>
          <p:cNvSpPr txBox="1"/>
          <p:nvPr/>
        </p:nvSpPr>
        <p:spPr>
          <a:xfrm>
            <a:off x="2907791" y="2679191"/>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0.811</a:t>
            </a:r>
          </a:p>
        </p:txBody>
      </p:sp>
      <p:sp>
        <p:nvSpPr>
          <p:cNvPr id="18" name="TextBox 17"/>
          <p:cNvSpPr txBox="1"/>
          <p:nvPr/>
        </p:nvSpPr>
        <p:spPr>
          <a:xfrm>
            <a:off x="4965192" y="2679191"/>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10.561</a:t>
            </a:r>
          </a:p>
        </p:txBody>
      </p:sp>
      <p:sp>
        <p:nvSpPr>
          <p:cNvPr id="19" name="TextBox 18"/>
          <p:cNvSpPr txBox="1"/>
          <p:nvPr/>
        </p:nvSpPr>
        <p:spPr>
          <a:xfrm>
            <a:off x="7159751" y="2679191"/>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15.395</a:t>
            </a:r>
          </a:p>
        </p:txBody>
      </p:sp>
      <p:sp>
        <p:nvSpPr>
          <p:cNvPr id="20" name="TextBox 19"/>
          <p:cNvSpPr txBox="1"/>
          <p:nvPr/>
        </p:nvSpPr>
        <p:spPr>
          <a:xfrm>
            <a:off x="9354311" y="2679191"/>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14.584</a:t>
            </a:r>
          </a:p>
        </p:txBody>
      </p:sp>
      <p:sp>
        <p:nvSpPr>
          <p:cNvPr id="21" name="Rectangle 20"/>
          <p:cNvSpPr/>
          <p:nvPr/>
        </p:nvSpPr>
        <p:spPr>
          <a:xfrm>
            <a:off x="694944" y="3017520"/>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099815"/>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ARDY</a:t>
            </a:r>
          </a:p>
        </p:txBody>
      </p:sp>
      <p:sp>
        <p:nvSpPr>
          <p:cNvPr id="23" name="TextBox 22"/>
          <p:cNvSpPr txBox="1"/>
          <p:nvPr/>
        </p:nvSpPr>
        <p:spPr>
          <a:xfrm>
            <a:off x="2907791" y="3099815"/>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0.568</a:t>
            </a:r>
          </a:p>
        </p:txBody>
      </p:sp>
      <p:sp>
        <p:nvSpPr>
          <p:cNvPr id="24" name="TextBox 23"/>
          <p:cNvSpPr txBox="1"/>
          <p:nvPr/>
        </p:nvSpPr>
        <p:spPr>
          <a:xfrm>
            <a:off x="4965192" y="3099815"/>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19.323</a:t>
            </a:r>
          </a:p>
        </p:txBody>
      </p:sp>
      <p:sp>
        <p:nvSpPr>
          <p:cNvPr id="25" name="TextBox 24"/>
          <p:cNvSpPr txBox="1"/>
          <p:nvPr/>
        </p:nvSpPr>
        <p:spPr>
          <a:xfrm>
            <a:off x="7159751" y="3099815"/>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187.660</a:t>
            </a:r>
          </a:p>
        </p:txBody>
      </p:sp>
      <p:sp>
        <p:nvSpPr>
          <p:cNvPr id="26" name="TextBox 25"/>
          <p:cNvSpPr txBox="1"/>
          <p:nvPr/>
        </p:nvSpPr>
        <p:spPr>
          <a:xfrm>
            <a:off x="9354311" y="3099815"/>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187.092</a:t>
            </a:r>
          </a:p>
        </p:txBody>
      </p:sp>
      <p:sp>
        <p:nvSpPr>
          <p:cNvPr id="27" name="Rectangle 26"/>
          <p:cNvSpPr/>
          <p:nvPr/>
        </p:nvSpPr>
        <p:spPr>
          <a:xfrm>
            <a:off x="694944" y="3438144"/>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520439"/>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MotionLCM</a:t>
            </a:r>
          </a:p>
        </p:txBody>
      </p:sp>
      <p:sp>
        <p:nvSpPr>
          <p:cNvPr id="29" name="TextBox 28"/>
          <p:cNvSpPr txBox="1"/>
          <p:nvPr/>
        </p:nvSpPr>
        <p:spPr>
          <a:xfrm>
            <a:off x="2907791" y="3520439"/>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1.049</a:t>
            </a:r>
          </a:p>
        </p:txBody>
      </p:sp>
      <p:sp>
        <p:nvSpPr>
          <p:cNvPr id="30" name="TextBox 29"/>
          <p:cNvSpPr txBox="1"/>
          <p:nvPr/>
        </p:nvSpPr>
        <p:spPr>
          <a:xfrm>
            <a:off x="4965192" y="3520439"/>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0.421</a:t>
            </a:r>
          </a:p>
        </p:txBody>
      </p:sp>
      <p:sp>
        <p:nvSpPr>
          <p:cNvPr id="31" name="TextBox 30"/>
          <p:cNvSpPr txBox="1"/>
          <p:nvPr/>
        </p:nvSpPr>
        <p:spPr>
          <a:xfrm>
            <a:off x="7159751" y="3520439"/>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19.242</a:t>
            </a:r>
          </a:p>
        </p:txBody>
      </p:sp>
      <p:sp>
        <p:nvSpPr>
          <p:cNvPr id="32" name="TextBox 31"/>
          <p:cNvSpPr txBox="1"/>
          <p:nvPr/>
        </p:nvSpPr>
        <p:spPr>
          <a:xfrm>
            <a:off x="9354311" y="3520439"/>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18.193</a:t>
            </a:r>
          </a:p>
        </p:txBody>
      </p:sp>
      <p:sp>
        <p:nvSpPr>
          <p:cNvPr id="33" name="Rectangle 32"/>
          <p:cNvSpPr/>
          <p:nvPr/>
        </p:nvSpPr>
        <p:spPr>
          <a:xfrm>
            <a:off x="694944" y="3858768"/>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3941063"/>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MoMask</a:t>
            </a:r>
          </a:p>
        </p:txBody>
      </p:sp>
      <p:sp>
        <p:nvSpPr>
          <p:cNvPr id="35" name="TextBox 34"/>
          <p:cNvSpPr txBox="1"/>
          <p:nvPr/>
        </p:nvSpPr>
        <p:spPr>
          <a:xfrm>
            <a:off x="2907791" y="3941063"/>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0.824</a:t>
            </a:r>
          </a:p>
        </p:txBody>
      </p:sp>
      <p:sp>
        <p:nvSpPr>
          <p:cNvPr id="36" name="TextBox 35"/>
          <p:cNvSpPr txBox="1"/>
          <p:nvPr/>
        </p:nvSpPr>
        <p:spPr>
          <a:xfrm>
            <a:off x="4965192" y="3941063"/>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0.707</a:t>
            </a:r>
          </a:p>
        </p:txBody>
      </p:sp>
      <p:sp>
        <p:nvSpPr>
          <p:cNvPr id="37" name="TextBox 36"/>
          <p:cNvSpPr txBox="1"/>
          <p:nvPr/>
        </p:nvSpPr>
        <p:spPr>
          <a:xfrm>
            <a:off x="7159751" y="3941063"/>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24.082</a:t>
            </a:r>
          </a:p>
        </p:txBody>
      </p:sp>
      <p:sp>
        <p:nvSpPr>
          <p:cNvPr id="38" name="TextBox 37"/>
          <p:cNvSpPr txBox="1"/>
          <p:nvPr/>
        </p:nvSpPr>
        <p:spPr>
          <a:xfrm>
            <a:off x="9354311" y="3941063"/>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23.259</a:t>
            </a:r>
          </a:p>
        </p:txBody>
      </p:sp>
      <p:sp>
        <p:nvSpPr>
          <p:cNvPr id="39" name="Rectangle 38"/>
          <p:cNvSpPr/>
          <p:nvPr/>
        </p:nvSpPr>
        <p:spPr>
          <a:xfrm>
            <a:off x="694944" y="4279392"/>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4361688"/>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MMM</a:t>
            </a:r>
          </a:p>
        </p:txBody>
      </p:sp>
      <p:sp>
        <p:nvSpPr>
          <p:cNvPr id="41" name="TextBox 40"/>
          <p:cNvSpPr txBox="1"/>
          <p:nvPr/>
        </p:nvSpPr>
        <p:spPr>
          <a:xfrm>
            <a:off x="2907791" y="4361688"/>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0.880</a:t>
            </a:r>
          </a:p>
        </p:txBody>
      </p:sp>
      <p:sp>
        <p:nvSpPr>
          <p:cNvPr id="42" name="TextBox 41"/>
          <p:cNvSpPr txBox="1"/>
          <p:nvPr/>
        </p:nvSpPr>
        <p:spPr>
          <a:xfrm>
            <a:off x="4965192" y="4361688"/>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0.548</a:t>
            </a:r>
          </a:p>
        </p:txBody>
      </p:sp>
      <p:sp>
        <p:nvSpPr>
          <p:cNvPr id="43" name="TextBox 42"/>
          <p:cNvSpPr txBox="1"/>
          <p:nvPr/>
        </p:nvSpPr>
        <p:spPr>
          <a:xfrm>
            <a:off x="7159751" y="4361688"/>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23.828</a:t>
            </a:r>
          </a:p>
        </p:txBody>
      </p:sp>
      <p:sp>
        <p:nvSpPr>
          <p:cNvPr id="44" name="TextBox 43"/>
          <p:cNvSpPr txBox="1"/>
          <p:nvPr/>
        </p:nvSpPr>
        <p:spPr>
          <a:xfrm>
            <a:off x="9354311" y="4361688"/>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22.948</a:t>
            </a:r>
          </a:p>
        </p:txBody>
      </p:sp>
      <p:sp>
        <p:nvSpPr>
          <p:cNvPr id="45" name="Rectangle 44"/>
          <p:cNvSpPr/>
          <p:nvPr/>
        </p:nvSpPr>
        <p:spPr>
          <a:xfrm>
            <a:off x="694944" y="4700016"/>
            <a:ext cx="107899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 y="4782312"/>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ReactMotion</a:t>
            </a:r>
          </a:p>
        </p:txBody>
      </p:sp>
      <p:sp>
        <p:nvSpPr>
          <p:cNvPr id="47" name="TextBox 46"/>
          <p:cNvSpPr txBox="1"/>
          <p:nvPr/>
        </p:nvSpPr>
        <p:spPr>
          <a:xfrm>
            <a:off x="2907791" y="4782312"/>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1.218</a:t>
            </a:r>
          </a:p>
        </p:txBody>
      </p:sp>
      <p:sp>
        <p:nvSpPr>
          <p:cNvPr id="48" name="TextBox 47"/>
          <p:cNvSpPr txBox="1"/>
          <p:nvPr/>
        </p:nvSpPr>
        <p:spPr>
          <a:xfrm>
            <a:off x="4965192" y="4782312"/>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1.000</a:t>
            </a:r>
          </a:p>
        </p:txBody>
      </p:sp>
      <p:sp>
        <p:nvSpPr>
          <p:cNvPr id="49" name="TextBox 48"/>
          <p:cNvSpPr txBox="1"/>
          <p:nvPr/>
        </p:nvSpPr>
        <p:spPr>
          <a:xfrm>
            <a:off x="7159751" y="4782312"/>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18.998</a:t>
            </a:r>
          </a:p>
        </p:txBody>
      </p:sp>
      <p:sp>
        <p:nvSpPr>
          <p:cNvPr id="50" name="TextBox 49"/>
          <p:cNvSpPr txBox="1"/>
          <p:nvPr/>
        </p:nvSpPr>
        <p:spPr>
          <a:xfrm>
            <a:off x="9354311" y="4782312"/>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17.780</a:t>
            </a:r>
          </a:p>
        </p:txBody>
      </p:sp>
      <p:sp>
        <p:nvSpPr>
          <p:cNvPr id="51" name="Rectangle 50"/>
          <p:cNvSpPr/>
          <p:nvPr/>
        </p:nvSpPr>
        <p:spPr>
          <a:xfrm>
            <a:off x="694944" y="5120640"/>
            <a:ext cx="10789920" cy="42062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202936"/>
            <a:ext cx="1920239" cy="310896"/>
          </a:xfrm>
          <a:prstGeom prst="rect">
            <a:avLst/>
          </a:prstGeom>
          <a:noFill/>
        </p:spPr>
        <p:txBody>
          <a:bodyPr wrap="square" lIns="0" rIns="0" tIns="0" bIns="0" anchor="t">
            <a:spAutoFit/>
          </a:bodyPr>
          <a:lstStyle/>
          <a:p>
            <a:pPr algn="l">
              <a:lnSpc>
                <a:spcPct val="114000"/>
              </a:lnSpc>
              <a:spcAft>
                <a:spcPts val="500"/>
              </a:spcAft>
            </a:pPr>
            <a:r>
              <a:rPr sz="1400" b="1" lang="ja-JP">
                <a:solidFill>
                  <a:srgbClr val="183440"/>
                </a:solidFill>
                <a:latin typeface="Noto Sans CJK JP"/>
                <a:ea typeface="Noto Sans CJK JP"/>
              </a:rPr>
              <a:t>MaAI</a:t>
            </a:r>
          </a:p>
        </p:txBody>
      </p:sp>
      <p:sp>
        <p:nvSpPr>
          <p:cNvPr id="53" name="TextBox 52"/>
          <p:cNvSpPr txBox="1"/>
          <p:nvPr/>
        </p:nvSpPr>
        <p:spPr>
          <a:xfrm>
            <a:off x="2907791" y="5202936"/>
            <a:ext cx="187451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0.773</a:t>
            </a:r>
          </a:p>
        </p:txBody>
      </p:sp>
      <p:sp>
        <p:nvSpPr>
          <p:cNvPr id="54" name="TextBox 53"/>
          <p:cNvSpPr txBox="1"/>
          <p:nvPr/>
        </p:nvSpPr>
        <p:spPr>
          <a:xfrm>
            <a:off x="4965192" y="5202936"/>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1.604</a:t>
            </a:r>
          </a:p>
        </p:txBody>
      </p:sp>
      <p:sp>
        <p:nvSpPr>
          <p:cNvPr id="55" name="TextBox 54"/>
          <p:cNvSpPr txBox="1"/>
          <p:nvPr/>
        </p:nvSpPr>
        <p:spPr>
          <a:xfrm>
            <a:off x="7159751" y="5202936"/>
            <a:ext cx="2011679"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19.606</a:t>
            </a:r>
          </a:p>
        </p:txBody>
      </p:sp>
      <p:sp>
        <p:nvSpPr>
          <p:cNvPr id="56" name="TextBox 55"/>
          <p:cNvSpPr txBox="1"/>
          <p:nvPr/>
        </p:nvSpPr>
        <p:spPr>
          <a:xfrm>
            <a:off x="9354311" y="5202936"/>
            <a:ext cx="2057400"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183440"/>
                </a:solidFill>
                <a:latin typeface="Noto Sans CJK JP"/>
                <a:ea typeface="Noto Sans CJK JP"/>
              </a:rPr>
              <a:t>18.833</a:t>
            </a:r>
          </a:p>
        </p:txBody>
      </p:sp>
      <p:sp>
        <p:nvSpPr>
          <p:cNvPr id="57" name="Rounded Rectangle 56"/>
          <p:cNvSpPr/>
          <p:nvPr/>
        </p:nvSpPr>
        <p:spPr>
          <a:xfrm>
            <a:off x="722376" y="5632704"/>
            <a:ext cx="10716768" cy="54864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22376" y="5632704"/>
            <a:ext cx="41148" cy="5486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5256" y="5797296"/>
            <a:ext cx="10369296"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解釈：これは「モデルの純粋な速さ」の順位ではなく、当時の実装経路の応答待ちの記録。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Kimodo / B300：20ステップでは生成単体が1秒未満</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同じ教師返答・149フレーム（約4.97秒）・batch=1・各設定3回の中央値</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[R3] benchmark/summary.json・hardware.json / Kimodo-SOMA-RP-v1</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11</a:t>
            </a:r>
          </a:p>
        </p:txBody>
      </p:sp>
      <p:sp>
        <p:nvSpPr>
          <p:cNvPr id="9" name="TextBox 8"/>
          <p:cNvSpPr txBox="1"/>
          <p:nvPr/>
        </p:nvSpPr>
        <p:spPr>
          <a:xfrm>
            <a:off x="868680" y="2423160"/>
            <a:ext cx="2999232"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FP32 / 100 steps</a:t>
            </a:r>
          </a:p>
        </p:txBody>
      </p:sp>
      <p:sp>
        <p:nvSpPr>
          <p:cNvPr id="10" name="Rectangle 9"/>
          <p:cNvSpPr/>
          <p:nvPr/>
        </p:nvSpPr>
        <p:spPr>
          <a:xfrm>
            <a:off x="4050791" y="2450591"/>
            <a:ext cx="521208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50791" y="2450591"/>
            <a:ext cx="4915658" cy="320040"/>
          </a:xfrm>
          <a:prstGeom prst="rect">
            <a:avLst/>
          </a:prstGeom>
          <a:solidFill>
            <a:srgbClr val="326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27463" y="241401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3269AC"/>
                </a:solidFill>
                <a:latin typeface="Noto Sans CJK JP"/>
                <a:ea typeface="Noto Sans CJK JP"/>
              </a:rPr>
              <a:t>1.886秒</a:t>
            </a:r>
          </a:p>
        </p:txBody>
      </p:sp>
      <p:sp>
        <p:nvSpPr>
          <p:cNvPr id="13" name="TextBox 12"/>
          <p:cNvSpPr txBox="1"/>
          <p:nvPr/>
        </p:nvSpPr>
        <p:spPr>
          <a:xfrm>
            <a:off x="868680" y="3200400"/>
            <a:ext cx="2999232"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TF32許可 / 100 steps</a:t>
            </a:r>
          </a:p>
        </p:txBody>
      </p:sp>
      <p:sp>
        <p:nvSpPr>
          <p:cNvPr id="14" name="Rectangle 13"/>
          <p:cNvSpPr/>
          <p:nvPr/>
        </p:nvSpPr>
        <p:spPr>
          <a:xfrm>
            <a:off x="4050791" y="3227832"/>
            <a:ext cx="521208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50791" y="3227832"/>
            <a:ext cx="4468973" cy="320040"/>
          </a:xfrm>
          <a:prstGeom prst="rect">
            <a:avLst/>
          </a:prstGeom>
          <a:solidFill>
            <a:srgbClr val="326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27463" y="319125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3269AC"/>
                </a:solidFill>
                <a:latin typeface="Noto Sans CJK JP"/>
                <a:ea typeface="Noto Sans CJK JP"/>
              </a:rPr>
              <a:t>1.715秒</a:t>
            </a:r>
          </a:p>
        </p:txBody>
      </p:sp>
      <p:sp>
        <p:nvSpPr>
          <p:cNvPr id="17" name="TextBox 16"/>
          <p:cNvSpPr txBox="1"/>
          <p:nvPr/>
        </p:nvSpPr>
        <p:spPr>
          <a:xfrm>
            <a:off x="868680" y="3977639"/>
            <a:ext cx="2999232"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TF32許可 / 20 steps</a:t>
            </a:r>
          </a:p>
        </p:txBody>
      </p:sp>
      <p:sp>
        <p:nvSpPr>
          <p:cNvPr id="18" name="Rectangle 17"/>
          <p:cNvSpPr/>
          <p:nvPr/>
        </p:nvSpPr>
        <p:spPr>
          <a:xfrm>
            <a:off x="4050791" y="4005072"/>
            <a:ext cx="5212080" cy="32004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50791" y="4005072"/>
            <a:ext cx="1132525"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7463" y="3968496"/>
            <a:ext cx="1463040" cy="457200"/>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0.435秒</a:t>
            </a:r>
          </a:p>
        </p:txBody>
      </p:sp>
      <p:sp>
        <p:nvSpPr>
          <p:cNvPr id="21" name="TextBox 20"/>
          <p:cNvSpPr txBox="1"/>
          <p:nvPr/>
        </p:nvSpPr>
        <p:spPr>
          <a:xfrm>
            <a:off x="813816" y="4791456"/>
            <a:ext cx="5212080" cy="420624"/>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100→20 steps：処理時間は約77%短縮</a:t>
            </a:r>
          </a:p>
        </p:txBody>
      </p:sp>
      <p:sp>
        <p:nvSpPr>
          <p:cNvPr id="22" name="TextBox 21"/>
          <p:cNvSpPr txBox="1"/>
          <p:nvPr/>
        </p:nvSpPr>
        <p:spPr>
          <a:xfrm>
            <a:off x="813816" y="5404104"/>
            <a:ext cx="5212080" cy="621792"/>
          </a:xfrm>
          <a:prstGeom prst="rect">
            <a:avLst/>
          </a:prstGeom>
          <a:noFill/>
        </p:spPr>
        <p:txBody>
          <a:bodyPr wrap="square" lIns="0" rIns="0" tIns="0" bIns="0" anchor="t">
            <a:spAutoFit/>
          </a:bodyPr>
          <a:lstStyle/>
          <a:p>
            <a:pPr algn="l">
              <a:lnSpc>
                <a:spcPct val="114000"/>
              </a:lnSpc>
              <a:spcAft>
                <a:spcPts val="500"/>
              </a:spcAft>
            </a:pPr>
            <a:r>
              <a:rPr sz="1700" b="0" lang="ja-JP">
                <a:solidFill>
                  <a:srgbClr val="5B707B"/>
                </a:solidFill>
                <a:latin typeface="Noto Sans CJK JP"/>
                <a:ea typeface="Noto Sans CJK JP"/>
              </a:rPr>
              <a:t>20 stepsの画質・動作自然さが</a:t>
            </a:r>
          </a:p>
          <a:p>
            <a:pPr algn="l">
              <a:lnSpc>
                <a:spcPct val="114000"/>
              </a:lnSpc>
              <a:spcAft>
                <a:spcPts val="500"/>
              </a:spcAft>
            </a:pPr>
            <a:r>
              <a:rPr sz="1700" b="0" lang="ja-JP">
                <a:solidFill>
                  <a:srgbClr val="5B707B"/>
                </a:solidFill>
                <a:latin typeface="Noto Sans CJK JP"/>
                <a:ea typeface="Noto Sans CJK JP"/>
              </a:rPr>
              <a:t>100 stepsと同等かは未評価。</a:t>
            </a:r>
          </a:p>
        </p:txBody>
      </p:sp>
      <p:sp>
        <p:nvSpPr>
          <p:cNvPr id="23" name="Rounded Rectangle 22"/>
          <p:cNvSpPr/>
          <p:nvPr/>
        </p:nvSpPr>
        <p:spPr>
          <a:xfrm>
            <a:off x="6400800" y="4727448"/>
            <a:ext cx="4800600" cy="133502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1968" y="4882896"/>
            <a:ext cx="4389120" cy="36576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常駐化の前提</a:t>
            </a:r>
          </a:p>
        </p:txBody>
      </p:sp>
      <p:sp>
        <p:nvSpPr>
          <p:cNvPr id="25" name="TextBox 24"/>
          <p:cNvSpPr txBox="1"/>
          <p:nvPr/>
        </p:nvSpPr>
        <p:spPr>
          <a:xfrm>
            <a:off x="6601968" y="5385816"/>
            <a:ext cx="4389120" cy="475488"/>
          </a:xfrm>
          <a:prstGeom prst="rect">
            <a:avLst/>
          </a:prstGeom>
          <a:noFill/>
        </p:spPr>
        <p:txBody>
          <a:bodyPr wrap="square" lIns="0" rIns="0" tIns="0" bIns="0" anchor="t">
            <a:spAutoFit/>
          </a:bodyPr>
          <a:lstStyle/>
          <a:p>
            <a:pPr algn="l">
              <a:lnSpc>
                <a:spcPct val="114000"/>
              </a:lnSpc>
              <a:spcAft>
                <a:spcPts val="500"/>
              </a:spcAft>
            </a:pPr>
            <a:r>
              <a:rPr sz="1600" b="0" lang="ja-JP">
                <a:solidFill>
                  <a:srgbClr val="183440"/>
                </a:solidFill>
                <a:latin typeface="Noto Sans CJK JP"/>
                <a:ea typeface="Noto Sans CJK JP"/>
              </a:rPr>
              <a:t>キャッシュ済みモデル読込：約40.2秒</a:t>
            </a:r>
          </a:p>
          <a:p>
            <a:pPr algn="l">
              <a:lnSpc>
                <a:spcPct val="114000"/>
              </a:lnSpc>
              <a:spcAft>
                <a:spcPts val="500"/>
              </a:spcAft>
            </a:pPr>
            <a:r>
              <a:rPr sz="1600" b="0" lang="ja-JP">
                <a:solidFill>
                  <a:srgbClr val="183440"/>
                </a:solidFill>
                <a:latin typeface="Noto Sans CJK JP"/>
                <a:ea typeface="Noto Sans CJK JP"/>
              </a:rPr>
              <a:t>Torch最大割り当て：約15.3GiB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B300でも、骨格が届くまでの追加待ちは約3.25秒</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別途実施した音声入力の会話：先生の全文を受信してから動作生成を開始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[R4] dialogue-{fp32-100,tf32-20}/measurement.json / 各1回・同一クライアント時計</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12</a:t>
            </a:r>
          </a:p>
        </p:txBody>
      </p:sp>
      <p:sp>
        <p:nvSpPr>
          <p:cNvPr id="9" name="TextBox 8"/>
          <p:cNvSpPr txBox="1"/>
          <p:nvPr/>
        </p:nvSpPr>
        <p:spPr>
          <a:xfrm>
            <a:off x="905256" y="2423160"/>
            <a:ext cx="3200400" cy="365760"/>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通常100 steps</a:t>
            </a:r>
          </a:p>
        </p:txBody>
      </p:sp>
      <p:sp>
        <p:nvSpPr>
          <p:cNvPr id="10" name="Rectangle 9"/>
          <p:cNvSpPr/>
          <p:nvPr/>
        </p:nvSpPr>
        <p:spPr>
          <a:xfrm>
            <a:off x="905256" y="3282696"/>
            <a:ext cx="10104120" cy="32004"/>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5256"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11693"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8131"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24569"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31006"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437444" y="3246120"/>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003775" y="3246120"/>
            <a:ext cx="100584" cy="100584"/>
          </a:xfrm>
          <a:prstGeom prst="ellipse">
            <a:avLst/>
          </a:prstGeom>
          <a:solidFill>
            <a:srgbClr val="3269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60875" y="2798063"/>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3269AC"/>
                </a:solidFill>
                <a:latin typeface="Noto Sans CJK JP"/>
                <a:ea typeface="Noto Sans CJK JP"/>
              </a:rPr>
              <a:t>音声 0.603</a:t>
            </a:r>
          </a:p>
        </p:txBody>
      </p:sp>
      <p:sp>
        <p:nvSpPr>
          <p:cNvPr id="19" name="Oval 18"/>
          <p:cNvSpPr/>
          <p:nvPr/>
        </p:nvSpPr>
        <p:spPr>
          <a:xfrm>
            <a:off x="3525845" y="3246120"/>
            <a:ext cx="100584" cy="100584"/>
          </a:xfrm>
          <a:prstGeom prst="ellipse">
            <a:avLst/>
          </a:prstGeom>
          <a:solidFill>
            <a:srgbClr val="5B70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82945" y="2798063"/>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5B707B"/>
                </a:solidFill>
                <a:latin typeface="Noto Sans CJK JP"/>
                <a:ea typeface="Noto Sans CJK JP"/>
              </a:rPr>
              <a:t>全文 1.401</a:t>
            </a:r>
          </a:p>
        </p:txBody>
      </p:sp>
      <p:sp>
        <p:nvSpPr>
          <p:cNvPr id="21" name="Oval 20"/>
          <p:cNvSpPr/>
          <p:nvPr/>
        </p:nvSpPr>
        <p:spPr>
          <a:xfrm>
            <a:off x="10334655" y="3246120"/>
            <a:ext cx="100584" cy="10058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91755" y="2798063"/>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骨格 4.972</a:t>
            </a:r>
          </a:p>
        </p:txBody>
      </p:sp>
      <p:sp>
        <p:nvSpPr>
          <p:cNvPr id="23" name="TextBox 22"/>
          <p:cNvSpPr txBox="1"/>
          <p:nvPr/>
        </p:nvSpPr>
        <p:spPr>
          <a:xfrm>
            <a:off x="7452360" y="2395728"/>
            <a:ext cx="3703320" cy="365760"/>
          </a:xfrm>
          <a:prstGeom prst="rect">
            <a:avLst/>
          </a:prstGeom>
          <a:noFill/>
        </p:spPr>
        <p:txBody>
          <a:bodyPr wrap="square" lIns="0" rIns="0" tIns="0" bIns="0" anchor="t">
            <a:spAutoFit/>
          </a:bodyPr>
          <a:lstStyle/>
          <a:p>
            <a:pPr algn="r">
              <a:lnSpc>
                <a:spcPct val="114000"/>
              </a:lnSpc>
              <a:spcAft>
                <a:spcPts val="500"/>
              </a:spcAft>
            </a:pPr>
            <a:r>
              <a:rPr sz="2000" b="1" lang="ja-JP">
                <a:solidFill>
                  <a:srgbClr val="B56B13"/>
                </a:solidFill>
                <a:latin typeface="Noto Sans CJK JP"/>
                <a:ea typeface="Noto Sans CJK JP"/>
              </a:rPr>
              <a:t>Realtimeとの差  4.370秒</a:t>
            </a:r>
          </a:p>
        </p:txBody>
      </p:sp>
      <p:sp>
        <p:nvSpPr>
          <p:cNvPr id="24" name="TextBox 23"/>
          <p:cNvSpPr txBox="1"/>
          <p:nvPr/>
        </p:nvSpPr>
        <p:spPr>
          <a:xfrm>
            <a:off x="905256" y="3685031"/>
            <a:ext cx="3200400" cy="365760"/>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高速20 steps</a:t>
            </a:r>
          </a:p>
        </p:txBody>
      </p:sp>
      <p:sp>
        <p:nvSpPr>
          <p:cNvPr id="25" name="Rectangle 24"/>
          <p:cNvSpPr/>
          <p:nvPr/>
        </p:nvSpPr>
        <p:spPr>
          <a:xfrm>
            <a:off x="905256" y="4544567"/>
            <a:ext cx="10104120" cy="32004"/>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0秒</a:t>
            </a:r>
          </a:p>
        </p:txBody>
      </p:sp>
      <p:sp>
        <p:nvSpPr>
          <p:cNvPr id="28" name="Rectangle 27"/>
          <p:cNvSpPr/>
          <p:nvPr/>
        </p:nvSpPr>
        <p:spPr>
          <a:xfrm>
            <a:off x="2811693"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74533"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1秒</a:t>
            </a:r>
          </a:p>
        </p:txBody>
      </p:sp>
      <p:sp>
        <p:nvSpPr>
          <p:cNvPr id="30" name="Rectangle 29"/>
          <p:cNvSpPr/>
          <p:nvPr/>
        </p:nvSpPr>
        <p:spPr>
          <a:xfrm>
            <a:off x="4718131"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80971"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2秒</a:t>
            </a:r>
          </a:p>
        </p:txBody>
      </p:sp>
      <p:sp>
        <p:nvSpPr>
          <p:cNvPr id="32" name="Rectangle 31"/>
          <p:cNvSpPr/>
          <p:nvPr/>
        </p:nvSpPr>
        <p:spPr>
          <a:xfrm>
            <a:off x="6624569"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87409"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3秒</a:t>
            </a:r>
          </a:p>
        </p:txBody>
      </p:sp>
      <p:sp>
        <p:nvSpPr>
          <p:cNvPr id="34" name="Rectangle 33"/>
          <p:cNvSpPr/>
          <p:nvPr/>
        </p:nvSpPr>
        <p:spPr>
          <a:xfrm>
            <a:off x="8531006"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93846"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4秒</a:t>
            </a:r>
          </a:p>
        </p:txBody>
      </p:sp>
      <p:sp>
        <p:nvSpPr>
          <p:cNvPr id="36" name="Rectangle 35"/>
          <p:cNvSpPr/>
          <p:nvPr/>
        </p:nvSpPr>
        <p:spPr>
          <a:xfrm>
            <a:off x="10437444" y="4507991"/>
            <a:ext cx="10972" cy="109728"/>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00284" y="4663439"/>
            <a:ext cx="457200" cy="228600"/>
          </a:xfrm>
          <a:prstGeom prst="rect">
            <a:avLst/>
          </a:prstGeom>
          <a:noFill/>
        </p:spPr>
        <p:txBody>
          <a:bodyPr wrap="square" lIns="0" rIns="0" tIns="0" bIns="0" anchor="t">
            <a:spAutoFit/>
          </a:bodyPr>
          <a:lstStyle/>
          <a:p>
            <a:pPr algn="l">
              <a:lnSpc>
                <a:spcPct val="114000"/>
              </a:lnSpc>
              <a:spcAft>
                <a:spcPts val="500"/>
              </a:spcAft>
            </a:pPr>
            <a:r>
              <a:rPr sz="1000" b="0" lang="ja-JP">
                <a:solidFill>
                  <a:srgbClr val="5B707B"/>
                </a:solidFill>
                <a:latin typeface="Noto Sans CJK JP"/>
                <a:ea typeface="Noto Sans CJK JP"/>
              </a:rPr>
              <a:t>5秒</a:t>
            </a:r>
          </a:p>
        </p:txBody>
      </p:sp>
      <p:sp>
        <p:nvSpPr>
          <p:cNvPr id="38" name="Oval 37"/>
          <p:cNvSpPr/>
          <p:nvPr/>
        </p:nvSpPr>
        <p:spPr>
          <a:xfrm>
            <a:off x="2161609" y="4507991"/>
            <a:ext cx="100584" cy="100584"/>
          </a:xfrm>
          <a:prstGeom prst="ellipse">
            <a:avLst/>
          </a:prstGeom>
          <a:solidFill>
            <a:srgbClr val="3269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818709" y="4059935"/>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3269AC"/>
                </a:solidFill>
                <a:latin typeface="Noto Sans CJK JP"/>
                <a:ea typeface="Noto Sans CJK JP"/>
              </a:rPr>
              <a:t>音声 0.685</a:t>
            </a:r>
          </a:p>
        </p:txBody>
      </p:sp>
      <p:sp>
        <p:nvSpPr>
          <p:cNvPr id="40" name="Oval 39"/>
          <p:cNvSpPr/>
          <p:nvPr/>
        </p:nvSpPr>
        <p:spPr>
          <a:xfrm>
            <a:off x="4045151" y="4507991"/>
            <a:ext cx="100584" cy="100584"/>
          </a:xfrm>
          <a:prstGeom prst="ellipse">
            <a:avLst/>
          </a:prstGeom>
          <a:solidFill>
            <a:srgbClr val="5B70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02251" y="4059935"/>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5B707B"/>
                </a:solidFill>
                <a:latin typeface="Noto Sans CJK JP"/>
                <a:ea typeface="Noto Sans CJK JP"/>
              </a:rPr>
              <a:t>全文 1.673</a:t>
            </a:r>
          </a:p>
        </p:txBody>
      </p:sp>
      <p:sp>
        <p:nvSpPr>
          <p:cNvPr id="42" name="Oval 41"/>
          <p:cNvSpPr/>
          <p:nvPr/>
        </p:nvSpPr>
        <p:spPr>
          <a:xfrm>
            <a:off x="8360602" y="4507991"/>
            <a:ext cx="100584" cy="10058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17702" y="4059935"/>
            <a:ext cx="1051560" cy="475488"/>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骨格 3.937</a:t>
            </a:r>
          </a:p>
        </p:txBody>
      </p:sp>
      <p:sp>
        <p:nvSpPr>
          <p:cNvPr id="44" name="TextBox 43"/>
          <p:cNvSpPr txBox="1"/>
          <p:nvPr/>
        </p:nvSpPr>
        <p:spPr>
          <a:xfrm>
            <a:off x="7452360" y="3657599"/>
            <a:ext cx="3703320" cy="365760"/>
          </a:xfrm>
          <a:prstGeom prst="rect">
            <a:avLst/>
          </a:prstGeom>
          <a:noFill/>
        </p:spPr>
        <p:txBody>
          <a:bodyPr wrap="square" lIns="0" rIns="0" tIns="0" bIns="0" anchor="t">
            <a:spAutoFit/>
          </a:bodyPr>
          <a:lstStyle/>
          <a:p>
            <a:pPr algn="r">
              <a:lnSpc>
                <a:spcPct val="114000"/>
              </a:lnSpc>
              <a:spcAft>
                <a:spcPts val="500"/>
              </a:spcAft>
            </a:pPr>
            <a:r>
              <a:rPr sz="2000" b="1" lang="ja-JP">
                <a:solidFill>
                  <a:srgbClr val="B56B13"/>
                </a:solidFill>
                <a:latin typeface="Noto Sans CJK JP"/>
                <a:ea typeface="Noto Sans CJK JP"/>
              </a:rPr>
              <a:t>Realtimeとの差  3.252秒</a:t>
            </a:r>
          </a:p>
        </p:txBody>
      </p:sp>
      <p:sp>
        <p:nvSpPr>
          <p:cNvPr id="45" name="TextBox 44"/>
          <p:cNvSpPr txBox="1"/>
          <p:nvPr/>
        </p:nvSpPr>
        <p:spPr>
          <a:xfrm>
            <a:off x="832104" y="5065776"/>
            <a:ext cx="10515600" cy="347472"/>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高速設定の追加待ち 3.252秒 の内訳（残差による整理）</a:t>
            </a:r>
          </a:p>
        </p:txBody>
      </p:sp>
      <p:sp>
        <p:nvSpPr>
          <p:cNvPr id="46" name="Rounded Rectangle 45"/>
          <p:cNvSpPr/>
          <p:nvPr/>
        </p:nvSpPr>
        <p:spPr>
          <a:xfrm>
            <a:off x="83210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54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全文待ち  0.988秒</a:t>
            </a:r>
          </a:p>
        </p:txBody>
      </p:sp>
      <p:sp>
        <p:nvSpPr>
          <p:cNvPr id="48" name="Rounded Rectangle 47"/>
          <p:cNvSpPr/>
          <p:nvPr/>
        </p:nvSpPr>
        <p:spPr>
          <a:xfrm>
            <a:off x="352958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2102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送信まで  0.110秒</a:t>
            </a:r>
          </a:p>
        </p:txBody>
      </p:sp>
      <p:sp>
        <p:nvSpPr>
          <p:cNvPr id="50" name="Rounded Rectangle 49"/>
          <p:cNvSpPr/>
          <p:nvPr/>
        </p:nvSpPr>
        <p:spPr>
          <a:xfrm>
            <a:off x="622706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1850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007F80"/>
                </a:solidFill>
                <a:latin typeface="Noto Sans CJK JP"/>
                <a:ea typeface="Noto Sans CJK JP"/>
              </a:rPr>
              <a:t>骨格生成  0.496秒</a:t>
            </a:r>
          </a:p>
        </p:txBody>
      </p:sp>
      <p:sp>
        <p:nvSpPr>
          <p:cNvPr id="52" name="Rounded Rectangle 51"/>
          <p:cNvSpPr/>
          <p:nvPr/>
        </p:nvSpPr>
        <p:spPr>
          <a:xfrm>
            <a:off x="8924544" y="5532120"/>
            <a:ext cx="2532888" cy="502920"/>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15984" y="5623560"/>
            <a:ext cx="2350008" cy="320040"/>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中継・結果受信等  1.658秒</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上半身・正面1080pのデモで、実測した待ち時間を確認</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PowerPoint：画像をクリックして動画再生 ／ PDF：同梱mediaフォルダーのMP4を再生</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[R4] video-{fp32-100,tf32-20}/demo.mp4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13</a:t>
            </a:r>
          </a:p>
        </p:txBody>
      </p:sp>
      <p:pic>
        <p:nvPicPr>
          <p:cNvPr id="9" name="Picture 8" descr="b300-fp32-100.png"/>
          <p:cNvPicPr>
            <a:picLocks noChangeAspect="1"/>
          </p:cNvPicPr>
          <p:nvPr/>
        </p:nvPicPr>
        <p:blipFill>
          <a:blip r:embed="rId3"/>
          <a:srcRect t="2" b="2"/>
          <a:stretch>
            <a:fillRect/>
          </a:stretch>
        </p:blipFill>
        <p:spPr>
          <a:xfrm>
            <a:off x="694944" y="2240280"/>
            <a:ext cx="5239512" cy="2947111"/>
          </a:xfrm>
          <a:prstGeom prst="rect">
            <a:avLst/>
          </a:prstGeom>
        </p:spPr>
      </p:pic>
      <p:pic>
        <p:nvPicPr>
          <p:cNvPr id="10" name="b300-fp32-100.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240280"/>
            <a:ext cx="5239512" cy="2947111"/>
          </a:xfrm>
          <a:prstGeom prst="rect">
            <a:avLst/>
          </a:prstGeom>
        </p:spPr>
      </p:pic>
      <p:sp>
        <p:nvSpPr>
          <p:cNvPr id="11" name="TextBox 10"/>
          <p:cNvSpPr txBox="1"/>
          <p:nvPr/>
        </p:nvSpPr>
        <p:spPr>
          <a:xfrm>
            <a:off x="694944" y="5385816"/>
            <a:ext cx="5239512" cy="365760"/>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通常 / FP32・100 steps</a:t>
            </a:r>
          </a:p>
        </p:txBody>
      </p:sp>
      <p:sp>
        <p:nvSpPr>
          <p:cNvPr id="12" name="TextBox 11"/>
          <p:cNvSpPr txBox="1"/>
          <p:nvPr/>
        </p:nvSpPr>
        <p:spPr>
          <a:xfrm>
            <a:off x="694944" y="5824728"/>
            <a:ext cx="5239512" cy="292608"/>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6"/>
              </a:rPr>
              <a:t>▶ 同梱MP4を開く</a:t>
            </a:r>
          </a:p>
        </p:txBody>
      </p:sp>
      <p:pic>
        <p:nvPicPr>
          <p:cNvPr id="13" name="Picture 12" descr="b300-tf32-20.png"/>
          <p:cNvPicPr>
            <a:picLocks noChangeAspect="1"/>
          </p:cNvPicPr>
          <p:nvPr/>
        </p:nvPicPr>
        <p:blipFill>
          <a:blip r:embed="rId7"/>
          <a:srcRect t="2" b="2"/>
          <a:stretch>
            <a:fillRect/>
          </a:stretch>
        </p:blipFill>
        <p:spPr>
          <a:xfrm>
            <a:off x="6254496" y="2240280"/>
            <a:ext cx="5239512" cy="2947111"/>
          </a:xfrm>
          <a:prstGeom prst="rect">
            <a:avLst/>
          </a:prstGeom>
        </p:spPr>
      </p:pic>
      <p:pic>
        <p:nvPicPr>
          <p:cNvPr id="14" name="b300-tf32-20.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240280"/>
            <a:ext cx="5239512" cy="2947111"/>
          </a:xfrm>
          <a:prstGeom prst="rect">
            <a:avLst/>
          </a:prstGeom>
        </p:spPr>
      </p:pic>
      <p:sp>
        <p:nvSpPr>
          <p:cNvPr id="15" name="TextBox 14"/>
          <p:cNvSpPr txBox="1"/>
          <p:nvPr/>
        </p:nvSpPr>
        <p:spPr>
          <a:xfrm>
            <a:off x="6254496" y="5385816"/>
            <a:ext cx="5239512" cy="365760"/>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高速 / TF32許可・20 steps</a:t>
            </a:r>
          </a:p>
        </p:txBody>
      </p:sp>
      <p:sp>
        <p:nvSpPr>
          <p:cNvPr id="16" name="TextBox 15"/>
          <p:cNvSpPr txBox="1"/>
          <p:nvPr/>
        </p:nvSpPr>
        <p:spPr>
          <a:xfrm>
            <a:off x="6254496" y="5824728"/>
            <a:ext cx="5239512" cy="292608"/>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10"/>
              </a:rPr>
              <a:t>▶ 同梱MP4を開く</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4"/>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文ごとに発話・動作を同期し、連結する経路を実装</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一括生成の既存コードは保持。文分割版・ARDY版・上半身版は独立した経路</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segmented/english-lesson*/README.md  [R4] B300 README.md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14</a:t>
            </a:r>
          </a:p>
        </p:txBody>
      </p:sp>
      <p:sp>
        <p:nvSpPr>
          <p:cNvPr id="9" name="Rounded Rectangle 8"/>
          <p:cNvSpPr/>
          <p:nvPr/>
        </p:nvSpPr>
        <p:spPr>
          <a:xfrm>
            <a:off x="777240"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1</a:t>
            </a:r>
          </a:p>
        </p:txBody>
      </p:sp>
      <p:sp>
        <p:nvSpPr>
          <p:cNvPr id="11" name="TextBox 10"/>
          <p:cNvSpPr txBox="1"/>
          <p:nvPr/>
        </p:nvSpPr>
        <p:spPr>
          <a:xfrm>
            <a:off x="905256"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12" name="TextBox 11"/>
          <p:cNvSpPr txBox="1"/>
          <p:nvPr/>
        </p:nvSpPr>
        <p:spPr>
          <a:xfrm>
            <a:off x="2798064"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13" name="Rounded Rectangle 12"/>
          <p:cNvSpPr/>
          <p:nvPr/>
        </p:nvSpPr>
        <p:spPr>
          <a:xfrm>
            <a:off x="3026664"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4680"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2</a:t>
            </a:r>
          </a:p>
        </p:txBody>
      </p:sp>
      <p:sp>
        <p:nvSpPr>
          <p:cNvPr id="15" name="TextBox 14"/>
          <p:cNvSpPr txBox="1"/>
          <p:nvPr/>
        </p:nvSpPr>
        <p:spPr>
          <a:xfrm>
            <a:off x="3154680"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16" name="TextBox 15"/>
          <p:cNvSpPr txBox="1"/>
          <p:nvPr/>
        </p:nvSpPr>
        <p:spPr>
          <a:xfrm>
            <a:off x="5047488"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17" name="Rounded Rectangle 16"/>
          <p:cNvSpPr/>
          <p:nvPr/>
        </p:nvSpPr>
        <p:spPr>
          <a:xfrm>
            <a:off x="5276088"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04103"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3</a:t>
            </a:r>
          </a:p>
        </p:txBody>
      </p:sp>
      <p:sp>
        <p:nvSpPr>
          <p:cNvPr id="19" name="TextBox 18"/>
          <p:cNvSpPr txBox="1"/>
          <p:nvPr/>
        </p:nvSpPr>
        <p:spPr>
          <a:xfrm>
            <a:off x="5404103"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20" name="TextBox 19"/>
          <p:cNvSpPr txBox="1"/>
          <p:nvPr/>
        </p:nvSpPr>
        <p:spPr>
          <a:xfrm>
            <a:off x="7296912"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21" name="Rounded Rectangle 20"/>
          <p:cNvSpPr/>
          <p:nvPr/>
        </p:nvSpPr>
        <p:spPr>
          <a:xfrm>
            <a:off x="7525512"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528"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4</a:t>
            </a:r>
          </a:p>
        </p:txBody>
      </p:sp>
      <p:sp>
        <p:nvSpPr>
          <p:cNvPr id="23" name="TextBox 22"/>
          <p:cNvSpPr txBox="1"/>
          <p:nvPr/>
        </p:nvSpPr>
        <p:spPr>
          <a:xfrm>
            <a:off x="7653528"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24" name="TextBox 23"/>
          <p:cNvSpPr txBox="1"/>
          <p:nvPr/>
        </p:nvSpPr>
        <p:spPr>
          <a:xfrm>
            <a:off x="9546336" y="2752344"/>
            <a:ext cx="201168" cy="365760"/>
          </a:xfrm>
          <a:prstGeom prst="rect">
            <a:avLst/>
          </a:prstGeom>
          <a:noFill/>
        </p:spPr>
        <p:txBody>
          <a:bodyPr wrap="square" lIns="0" rIns="0" tIns="0" bIns="0" anchor="t">
            <a:spAutoFit/>
          </a:bodyPr>
          <a:lstStyle/>
          <a:p>
            <a:pPr algn="l">
              <a:lnSpc>
                <a:spcPct val="114000"/>
              </a:lnSpc>
              <a:spcAft>
                <a:spcPts val="500"/>
              </a:spcAft>
            </a:pPr>
            <a:r>
              <a:rPr sz="1900" b="0" lang="ja-JP">
                <a:solidFill>
                  <a:srgbClr val="5B707B"/>
                </a:solidFill>
                <a:latin typeface="Noto Sans CJK JP"/>
                <a:ea typeface="Noto Sans CJK JP"/>
              </a:rPr>
              <a:t>→</a:t>
            </a:r>
          </a:p>
        </p:txBody>
      </p:sp>
      <p:sp>
        <p:nvSpPr>
          <p:cNvPr id="25" name="Rounded Rectangle 24"/>
          <p:cNvSpPr/>
          <p:nvPr/>
        </p:nvSpPr>
        <p:spPr>
          <a:xfrm>
            <a:off x="9774936" y="2322576"/>
            <a:ext cx="1975104" cy="129844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02952" y="2496312"/>
            <a:ext cx="1719072" cy="32004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区間 5</a:t>
            </a:r>
          </a:p>
        </p:txBody>
      </p:sp>
      <p:sp>
        <p:nvSpPr>
          <p:cNvPr id="27" name="TextBox 26"/>
          <p:cNvSpPr txBox="1"/>
          <p:nvPr/>
        </p:nvSpPr>
        <p:spPr>
          <a:xfrm>
            <a:off x="9902952" y="2999232"/>
            <a:ext cx="1719072" cy="438912"/>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発話 ＋ 動作</a:t>
            </a:r>
          </a:p>
          <a:p>
            <a:pPr algn="l">
              <a:lnSpc>
                <a:spcPct val="114000"/>
              </a:lnSpc>
              <a:spcAft>
                <a:spcPts val="500"/>
              </a:spcAft>
            </a:pPr>
            <a:r>
              <a:rPr sz="1500" b="0" lang="ja-JP">
                <a:solidFill>
                  <a:srgbClr val="183440"/>
                </a:solidFill>
                <a:latin typeface="Noto Sans CJK JP"/>
                <a:ea typeface="Noto Sans CJK JP"/>
              </a:rPr>
              <a:t>同時に開始</a:t>
            </a:r>
          </a:p>
        </p:txBody>
      </p:sp>
      <p:sp>
        <p:nvSpPr>
          <p:cNvPr id="28" name="Rounded Rectangle 27"/>
          <p:cNvSpPr/>
          <p:nvPr/>
        </p:nvSpPr>
        <p:spPr>
          <a:xfrm>
            <a:off x="749808" y="3968496"/>
            <a:ext cx="5212080" cy="202996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9808" y="3968496"/>
            <a:ext cx="41148" cy="202996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4133087"/>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同期・連結</a:t>
            </a:r>
          </a:p>
        </p:txBody>
      </p:sp>
      <p:sp>
        <p:nvSpPr>
          <p:cNvPr id="31" name="TextBox 30"/>
          <p:cNvSpPr txBox="1"/>
          <p:nvPr/>
        </p:nvSpPr>
        <p:spPr>
          <a:xfrm>
            <a:off x="932688" y="4681728"/>
            <a:ext cx="4846320" cy="124358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区間の開始を同じフレームへそろえる。</a:t>
            </a:r>
          </a:p>
          <a:p>
            <a:pPr algn="l">
              <a:lnSpc>
                <a:spcPct val="114000"/>
              </a:lnSpc>
              <a:spcAft>
                <a:spcPts val="500"/>
              </a:spcAft>
            </a:pPr>
            <a:r>
              <a:rPr sz="1800" b="0" lang="ja-JP">
                <a:solidFill>
                  <a:srgbClr val="183440"/>
                </a:solidFill>
                <a:latin typeface="Noto Sans CJK JP"/>
                <a:ea typeface="Noto Sans CJK JP"/>
              </a:rPr>
              <a:t>境目の姿勢は最大250ms補間。</a:t>
            </a:r>
          </a:p>
          <a:p>
            <a:pPr algn="l">
              <a:lnSpc>
                <a:spcPct val="114000"/>
              </a:lnSpc>
              <a:spcAft>
                <a:spcPts val="500"/>
              </a:spcAft>
            </a:pPr>
            <a:r>
              <a:rPr sz="1800" b="0" lang="ja-JP">
                <a:solidFill>
                  <a:srgbClr val="183440"/>
                </a:solidFill>
                <a:latin typeface="Noto Sans CJK JP"/>
                <a:ea typeface="Noto Sans CJK JP"/>
              </a:rPr>
              <a:t>元の骨格・音声・時間記録を保持。</a:t>
            </a:r>
          </a:p>
        </p:txBody>
      </p:sp>
      <p:sp>
        <p:nvSpPr>
          <p:cNvPr id="32" name="Rounded Rectangle 31"/>
          <p:cNvSpPr/>
          <p:nvPr/>
        </p:nvSpPr>
        <p:spPr>
          <a:xfrm>
            <a:off x="6208776" y="3968496"/>
            <a:ext cx="5212080" cy="202996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968496"/>
            <a:ext cx="41148" cy="202996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91656" y="4133087"/>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上半身表示の扱い</a:t>
            </a:r>
          </a:p>
        </p:txBody>
      </p:sp>
      <p:sp>
        <p:nvSpPr>
          <p:cNvPr id="35" name="TextBox 34"/>
          <p:cNvSpPr txBox="1"/>
          <p:nvPr/>
        </p:nvSpPr>
        <p:spPr>
          <a:xfrm>
            <a:off x="6391656" y="4681728"/>
            <a:ext cx="4846320" cy="1243584"/>
          </a:xfrm>
          <a:prstGeom prst="rect">
            <a:avLst/>
          </a:prstGeom>
          <a:noFill/>
        </p:spPr>
        <p:txBody>
          <a:bodyPr wrap="square" lIns="0" rIns="0" tIns="0" bIns="0" anchor="t">
            <a:spAutoFit/>
          </a:bodyPr>
          <a:lstStyle/>
          <a:p>
            <a:pPr algn="l">
              <a:lnSpc>
                <a:spcPct val="114000"/>
              </a:lnSpc>
              <a:spcAft>
                <a:spcPts val="500"/>
              </a:spcAft>
            </a:pPr>
            <a:r>
              <a:rPr sz="1800" b="0" lang="ja-JP">
                <a:solidFill>
                  <a:srgbClr val="183440"/>
                </a:solidFill>
                <a:latin typeface="Noto Sans CJK JP"/>
                <a:ea typeface="Noto Sans CJK JP"/>
              </a:rPr>
              <a:t>Kimodoは全身77関節を生成し、</a:t>
            </a:r>
          </a:p>
          <a:p>
            <a:pPr algn="l">
              <a:lnSpc>
                <a:spcPct val="114000"/>
              </a:lnSpc>
              <a:spcAft>
                <a:spcPts val="500"/>
              </a:spcAft>
            </a:pPr>
            <a:r>
              <a:rPr sz="1800" b="0" lang="ja-JP">
                <a:solidFill>
                  <a:srgbClr val="183440"/>
                </a:solidFill>
                <a:latin typeface="Noto Sans CJK JP"/>
                <a:ea typeface="Noto Sans CJK JP"/>
              </a:rPr>
              <a:t>上半身67関節を抽出。腰・脚を固定。</a:t>
            </a:r>
          </a:p>
          <a:p>
            <a:pPr algn="l">
              <a:lnSpc>
                <a:spcPct val="114000"/>
              </a:lnSpc>
              <a:spcAft>
                <a:spcPts val="500"/>
              </a:spcAft>
            </a:pPr>
            <a:r>
              <a:rPr sz="1800" b="0" lang="ja-JP">
                <a:solidFill>
                  <a:srgbClr val="183440"/>
                </a:solidFill>
                <a:latin typeface="Noto Sans CJK JP"/>
                <a:ea typeface="Noto Sans CJK JP"/>
              </a:rPr>
              <a:t>上半身のみを生成するモデルではない。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B300の1会話は約5円相当。ただし借りている間は連続課金</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$8.99 / 時、1ドル200円で換算。モデル常駐済み・起動と待機の費用は別</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[R4] usage・入力開始〜骨格受信  [R9] trial-cleanup.json  [P1] OpenAI公式モデル料金</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15</a:t>
            </a:r>
          </a:p>
        </p:txBody>
      </p:sp>
      <p:sp>
        <p:nvSpPr>
          <p:cNvPr id="9" name="Rectangle 8"/>
          <p:cNvSpPr/>
          <p:nvPr/>
        </p:nvSpPr>
        <p:spPr>
          <a:xfrm>
            <a:off x="758952" y="2194560"/>
            <a:ext cx="10698480" cy="521207"/>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76856"/>
            <a:ext cx="4663440" cy="411479"/>
          </a:xfrm>
          <a:prstGeom prst="rect">
            <a:avLst/>
          </a:prstGeom>
          <a:noFill/>
        </p:spPr>
        <p:txBody>
          <a:bodyPr wrap="square" lIns="0" rIns="0" tIns="0" bIns="0" anchor="t">
            <a:spAutoFit/>
          </a:bodyPr>
          <a:lstStyle/>
          <a:p>
            <a:pPr algn="l">
              <a:lnSpc>
                <a:spcPct val="114000"/>
              </a:lnSpc>
              <a:spcAft>
                <a:spcPts val="500"/>
              </a:spcAft>
            </a:pPr>
            <a:r>
              <a:rPr sz="1600" b="1" lang="ja-JP">
                <a:solidFill>
                  <a:srgbClr val="FFFFFF"/>
                </a:solidFill>
                <a:latin typeface="Noto Sans CJK JP"/>
                <a:ea typeface="Noto Sans CJK JP"/>
              </a:rPr>
              <a:t>料金の対象</a:t>
            </a:r>
          </a:p>
        </p:txBody>
      </p:sp>
      <p:sp>
        <p:nvSpPr>
          <p:cNvPr id="11" name="TextBox 10"/>
          <p:cNvSpPr txBox="1"/>
          <p:nvPr/>
        </p:nvSpPr>
        <p:spPr>
          <a:xfrm>
            <a:off x="5715000" y="2276856"/>
            <a:ext cx="2743200" cy="411479"/>
          </a:xfrm>
          <a:prstGeom prst="rect">
            <a:avLst/>
          </a:prstGeom>
          <a:noFill/>
        </p:spPr>
        <p:txBody>
          <a:bodyPr wrap="square" lIns="0" rIns="0" tIns="0" bIns="0" anchor="t">
            <a:spAutoFit/>
          </a:bodyPr>
          <a:lstStyle/>
          <a:p>
            <a:pPr algn="l">
              <a:lnSpc>
                <a:spcPct val="114000"/>
              </a:lnSpc>
              <a:spcAft>
                <a:spcPts val="500"/>
              </a:spcAft>
            </a:pPr>
            <a:r>
              <a:rPr sz="1600" b="1" lang="ja-JP">
                <a:solidFill>
                  <a:srgbClr val="FFFFFF"/>
                </a:solidFill>
                <a:latin typeface="Noto Sans CJK JP"/>
                <a:ea typeface="Noto Sans CJK JP"/>
              </a:rPr>
              <a:t>通常100 steps</a:t>
            </a:r>
          </a:p>
        </p:txBody>
      </p:sp>
      <p:sp>
        <p:nvSpPr>
          <p:cNvPr id="12" name="TextBox 11"/>
          <p:cNvSpPr txBox="1"/>
          <p:nvPr/>
        </p:nvSpPr>
        <p:spPr>
          <a:xfrm>
            <a:off x="8641080" y="2276856"/>
            <a:ext cx="2743200" cy="411479"/>
          </a:xfrm>
          <a:prstGeom prst="rect">
            <a:avLst/>
          </a:prstGeom>
          <a:noFill/>
        </p:spPr>
        <p:txBody>
          <a:bodyPr wrap="square" lIns="0" rIns="0" tIns="0" bIns="0" anchor="t">
            <a:spAutoFit/>
          </a:bodyPr>
          <a:lstStyle/>
          <a:p>
            <a:pPr algn="l">
              <a:lnSpc>
                <a:spcPct val="114000"/>
              </a:lnSpc>
              <a:spcAft>
                <a:spcPts val="500"/>
              </a:spcAft>
            </a:pPr>
            <a:r>
              <a:rPr sz="1600" b="1" lang="ja-JP">
                <a:solidFill>
                  <a:srgbClr val="FFFFFF"/>
                </a:solidFill>
                <a:latin typeface="Noto Sans CJK JP"/>
                <a:ea typeface="Noto Sans CJK JP"/>
              </a:rPr>
              <a:t>高速20 steps</a:t>
            </a:r>
          </a:p>
        </p:txBody>
      </p:sp>
      <p:sp>
        <p:nvSpPr>
          <p:cNvPr id="13" name="Rectangle 12"/>
          <p:cNvSpPr/>
          <p:nvPr/>
        </p:nvSpPr>
        <p:spPr>
          <a:xfrm>
            <a:off x="758952" y="2715768"/>
            <a:ext cx="10698480" cy="521207"/>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98063"/>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183440"/>
                </a:solidFill>
                <a:latin typeface="Noto Sans CJK JP"/>
                <a:ea typeface="Noto Sans CJK JP"/>
              </a:rPr>
              <a:t>入力音声開始→骨格受信</a:t>
            </a:r>
          </a:p>
        </p:txBody>
      </p:sp>
      <p:sp>
        <p:nvSpPr>
          <p:cNvPr id="15" name="TextBox 14"/>
          <p:cNvSpPr txBox="1"/>
          <p:nvPr/>
        </p:nvSpPr>
        <p:spPr>
          <a:xfrm>
            <a:off x="5715000" y="2798063"/>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6.873秒</a:t>
            </a:r>
          </a:p>
        </p:txBody>
      </p:sp>
      <p:sp>
        <p:nvSpPr>
          <p:cNvPr id="16" name="TextBox 15"/>
          <p:cNvSpPr txBox="1"/>
          <p:nvPr/>
        </p:nvSpPr>
        <p:spPr>
          <a:xfrm>
            <a:off x="8641080" y="2798063"/>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5.837秒</a:t>
            </a:r>
          </a:p>
        </p:txBody>
      </p:sp>
      <p:sp>
        <p:nvSpPr>
          <p:cNvPr id="17" name="Rectangle 16"/>
          <p:cNvSpPr/>
          <p:nvPr/>
        </p:nvSpPr>
        <p:spPr>
          <a:xfrm>
            <a:off x="758952" y="3236976"/>
            <a:ext cx="10698480"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19272"/>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183440"/>
                </a:solidFill>
                <a:latin typeface="Noto Sans CJK JP"/>
                <a:ea typeface="Noto Sans CJK JP"/>
              </a:rPr>
              <a:t>上記時間のGPU料金</a:t>
            </a:r>
          </a:p>
        </p:txBody>
      </p:sp>
      <p:sp>
        <p:nvSpPr>
          <p:cNvPr id="19" name="TextBox 18"/>
          <p:cNvSpPr txBox="1"/>
          <p:nvPr/>
        </p:nvSpPr>
        <p:spPr>
          <a:xfrm>
            <a:off x="5715000" y="3319272"/>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約3.43円</a:t>
            </a:r>
          </a:p>
        </p:txBody>
      </p:sp>
      <p:sp>
        <p:nvSpPr>
          <p:cNvPr id="20" name="TextBox 19"/>
          <p:cNvSpPr txBox="1"/>
          <p:nvPr/>
        </p:nvSpPr>
        <p:spPr>
          <a:xfrm>
            <a:off x="8641080" y="3319272"/>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約2.92円</a:t>
            </a:r>
          </a:p>
        </p:txBody>
      </p:sp>
      <p:sp>
        <p:nvSpPr>
          <p:cNvPr id="21" name="Rectangle 20"/>
          <p:cNvSpPr/>
          <p:nvPr/>
        </p:nvSpPr>
        <p:spPr>
          <a:xfrm>
            <a:off x="758952" y="3758183"/>
            <a:ext cx="10698480" cy="521207"/>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840479"/>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183440"/>
                </a:solidFill>
                <a:latin typeface="Noto Sans CJK JP"/>
                <a:ea typeface="Noto Sans CJK JP"/>
              </a:rPr>
              <a:t>Realtime API・usageから算出</a:t>
            </a:r>
          </a:p>
        </p:txBody>
      </p:sp>
      <p:sp>
        <p:nvSpPr>
          <p:cNvPr id="23" name="TextBox 22"/>
          <p:cNvSpPr txBox="1"/>
          <p:nvPr/>
        </p:nvSpPr>
        <p:spPr>
          <a:xfrm>
            <a:off x="5715000" y="3840479"/>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約1.60円</a:t>
            </a:r>
          </a:p>
        </p:txBody>
      </p:sp>
      <p:sp>
        <p:nvSpPr>
          <p:cNvPr id="24" name="TextBox 23"/>
          <p:cNvSpPr txBox="1"/>
          <p:nvPr/>
        </p:nvSpPr>
        <p:spPr>
          <a:xfrm>
            <a:off x="8641080" y="3840479"/>
            <a:ext cx="2743200" cy="41147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約1.87円</a:t>
            </a:r>
          </a:p>
        </p:txBody>
      </p:sp>
      <p:sp>
        <p:nvSpPr>
          <p:cNvPr id="25" name="Rectangle 24"/>
          <p:cNvSpPr/>
          <p:nvPr/>
        </p:nvSpPr>
        <p:spPr>
          <a:xfrm>
            <a:off x="758952" y="4279392"/>
            <a:ext cx="10698480" cy="5212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361688"/>
            <a:ext cx="466344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小計／会話（ASR等は別）</a:t>
            </a:r>
          </a:p>
        </p:txBody>
      </p:sp>
      <p:sp>
        <p:nvSpPr>
          <p:cNvPr id="27" name="TextBox 26"/>
          <p:cNvSpPr txBox="1"/>
          <p:nvPr/>
        </p:nvSpPr>
        <p:spPr>
          <a:xfrm>
            <a:off x="5715000" y="4361688"/>
            <a:ext cx="274320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約5.04円</a:t>
            </a:r>
          </a:p>
        </p:txBody>
      </p:sp>
      <p:sp>
        <p:nvSpPr>
          <p:cNvPr id="28" name="TextBox 27"/>
          <p:cNvSpPr txBox="1"/>
          <p:nvPr/>
        </p:nvSpPr>
        <p:spPr>
          <a:xfrm>
            <a:off x="8641080" y="4361688"/>
            <a:ext cx="2743200" cy="411479"/>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約4.78円</a:t>
            </a:r>
          </a:p>
        </p:txBody>
      </p:sp>
      <p:sp>
        <p:nvSpPr>
          <p:cNvPr id="29" name="TextBox 28"/>
          <p:cNvSpPr txBox="1"/>
          <p:nvPr/>
        </p:nvSpPr>
        <p:spPr>
          <a:xfrm>
            <a:off x="795528" y="4937760"/>
            <a:ext cx="10561320" cy="393192"/>
          </a:xfrm>
          <a:prstGeom prst="rect">
            <a:avLst/>
          </a:prstGeom>
          <a:noFill/>
        </p:spPr>
        <p:txBody>
          <a:bodyPr wrap="square" lIns="0" rIns="0" tIns="0" bIns="0" anchor="t">
            <a:spAutoFit/>
          </a:bodyPr>
          <a:lstStyle/>
          <a:p>
            <a:pPr algn="l">
              <a:lnSpc>
                <a:spcPct val="114000"/>
              </a:lnSpc>
              <a:spcAft>
                <a:spcPts val="500"/>
              </a:spcAft>
            </a:pPr>
            <a:r>
              <a:rPr sz="2000" b="1" lang="ja-JP">
                <a:solidFill>
                  <a:srgbClr val="B56B13"/>
                </a:solidFill>
                <a:latin typeface="Noto Sans CJK JP"/>
                <a:ea typeface="Noto Sans CJK JP"/>
              </a:rPr>
              <a:t>実運用：1時間100リクエストなら、GPU代だけで約18円／回 ＋ API料金等。</a:t>
            </a:r>
          </a:p>
        </p:txBody>
      </p:sp>
      <p:sp>
        <p:nvSpPr>
          <p:cNvPr id="30" name="TextBox 29"/>
          <p:cNvSpPr txBox="1"/>
          <p:nvPr/>
        </p:nvSpPr>
        <p:spPr>
          <a:xfrm>
            <a:off x="795528" y="5596128"/>
            <a:ext cx="10561320" cy="548640"/>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検証一式のGPU＋ストレージ概算：RTX 4090 約500円 ／ B300 約925円（API料金別）。</a:t>
            </a:r>
          </a:p>
          <a:p>
            <a:pPr algn="l">
              <a:lnSpc>
                <a:spcPct val="114000"/>
              </a:lnSpc>
              <a:spcAft>
                <a:spcPts val="500"/>
              </a:spcAft>
            </a:pPr>
            <a:r>
              <a:rPr sz="1500" b="0" lang="ja-JP">
                <a:solidFill>
                  <a:srgbClr val="5B707B"/>
                </a:solidFill>
                <a:latin typeface="Noto Sans CJK JP"/>
                <a:ea typeface="Noto Sans CJK JP"/>
              </a:rPr>
              <a:t>両Podとも終了・削除を確認済み。料金は確定請求額ではない。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研究室PCでは、小型モデルから常駐実行を検証する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Windows / RTX 5070 12GB / RAM32GB。セットアップ用スクリプトと専用仮想環境を用意</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docs/windows_lab.md / configs/lab-windows.json / [R1][R3] VRAM記録</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16</a:t>
            </a:r>
          </a:p>
        </p:txBody>
      </p:sp>
      <p:sp>
        <p:nvSpPr>
          <p:cNvPr id="9" name="Rounded Rectangle 8"/>
          <p:cNvSpPr/>
          <p:nvPr/>
        </p:nvSpPr>
        <p:spPr>
          <a:xfrm>
            <a:off x="740664" y="2221992"/>
            <a:ext cx="5212080" cy="151790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 y="2221992"/>
            <a:ext cx="41148" cy="1517904"/>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2386584"/>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まず試す：MotionLCM / MMM / MoMask</a:t>
            </a:r>
          </a:p>
        </p:txBody>
      </p:sp>
      <p:sp>
        <p:nvSpPr>
          <p:cNvPr id="12" name="TextBox 11"/>
          <p:cNvSpPr txBox="1"/>
          <p:nvPr/>
        </p:nvSpPr>
        <p:spPr>
          <a:xfrm>
            <a:off x="923544" y="2935224"/>
            <a:ext cx="4846320" cy="73151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4090ではTorch最大割り当て約0.9〜1.5GiB。</a:t>
            </a:r>
          </a:p>
          <a:p>
            <a:pPr algn="l">
              <a:lnSpc>
                <a:spcPct val="114000"/>
              </a:lnSpc>
              <a:spcAft>
                <a:spcPts val="500"/>
              </a:spcAft>
            </a:pPr>
            <a:r>
              <a:rPr sz="1700" b="0" lang="ja-JP">
                <a:solidFill>
                  <a:srgbClr val="183440"/>
                </a:solidFill>
                <a:latin typeface="Noto Sans CJK JP"/>
                <a:ea typeface="Noto Sans CJK JP"/>
              </a:rPr>
              <a:t>Windows実機でGPU演算と生成時間を確認。</a:t>
            </a:r>
          </a:p>
        </p:txBody>
      </p:sp>
      <p:sp>
        <p:nvSpPr>
          <p:cNvPr id="13" name="Rounded Rectangle 12"/>
          <p:cNvSpPr/>
          <p:nvPr/>
        </p:nvSpPr>
        <p:spPr>
          <a:xfrm>
            <a:off x="6227064" y="2221992"/>
            <a:ext cx="5212080" cy="1517904"/>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7064" y="2221992"/>
            <a:ext cx="41148" cy="1517904"/>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2386584"/>
            <a:ext cx="4864608"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Kimodo：CPU側へテキスト処理を分離</a:t>
            </a:r>
          </a:p>
        </p:txBody>
      </p:sp>
      <p:sp>
        <p:nvSpPr>
          <p:cNvPr id="16" name="TextBox 15"/>
          <p:cNvSpPr txBox="1"/>
          <p:nvPr/>
        </p:nvSpPr>
        <p:spPr>
          <a:xfrm>
            <a:off x="6409944" y="2935224"/>
            <a:ext cx="4846320" cy="731519"/>
          </a:xfrm>
          <a:prstGeom prst="rect">
            <a:avLst/>
          </a:prstGeom>
          <a:noFill/>
        </p:spPr>
        <p:txBody>
          <a:bodyPr wrap="square" lIns="0" rIns="0" tIns="0" bIns="0" anchor="t">
            <a:spAutoFit/>
          </a:bodyPr>
          <a:lstStyle/>
          <a:p>
            <a:pPr algn="l">
              <a:lnSpc>
                <a:spcPct val="114000"/>
              </a:lnSpc>
              <a:spcAft>
                <a:spcPts val="500"/>
              </a:spcAft>
            </a:pPr>
            <a:r>
              <a:rPr sz="1700" b="0" lang="ja-JP">
                <a:solidFill>
                  <a:srgbClr val="183440"/>
                </a:solidFill>
                <a:latin typeface="Noto Sans CJK JP"/>
                <a:ea typeface="Noto Sans CJK JP"/>
              </a:rPr>
              <a:t>今回の全GPU常駐は約15.3GiB。</a:t>
            </a:r>
          </a:p>
          <a:p>
            <a:pPr algn="l">
              <a:lnSpc>
                <a:spcPct val="114000"/>
              </a:lnSpc>
              <a:spcAft>
                <a:spcPts val="500"/>
              </a:spcAft>
            </a:pPr>
            <a:r>
              <a:rPr sz="1700" b="0" lang="ja-JP">
                <a:solidFill>
                  <a:srgbClr val="183440"/>
                </a:solidFill>
                <a:latin typeface="Noto Sans CJK JP"/>
                <a:ea typeface="Noto Sans CJK JP"/>
              </a:rPr>
              <a:t>12GBでは同じ構成を使えない。</a:t>
            </a:r>
          </a:p>
        </p:txBody>
      </p:sp>
      <p:sp>
        <p:nvSpPr>
          <p:cNvPr id="17" name="TextBox 16"/>
          <p:cNvSpPr txBox="1"/>
          <p:nvPr/>
        </p:nvSpPr>
        <p:spPr>
          <a:xfrm>
            <a:off x="749808"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1</a:t>
            </a:r>
          </a:p>
        </p:txBody>
      </p:sp>
      <p:sp>
        <p:nvSpPr>
          <p:cNvPr id="18" name="TextBox 17"/>
          <p:cNvSpPr txBox="1"/>
          <p:nvPr/>
        </p:nvSpPr>
        <p:spPr>
          <a:xfrm>
            <a:off x="749808"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環境構築</a:t>
            </a:r>
          </a:p>
        </p:txBody>
      </p:sp>
      <p:sp>
        <p:nvSpPr>
          <p:cNvPr id="19" name="TextBox 18"/>
          <p:cNvSpPr txBox="1"/>
          <p:nvPr/>
        </p:nvSpPr>
        <p:spPr>
          <a:xfrm>
            <a:off x="749808"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既存スクリプト＋専用venv</a:t>
            </a:r>
          </a:p>
        </p:txBody>
      </p:sp>
      <p:sp>
        <p:nvSpPr>
          <p:cNvPr id="20" name="TextBox 19"/>
          <p:cNvSpPr txBox="1"/>
          <p:nvPr/>
        </p:nvSpPr>
        <p:spPr>
          <a:xfrm>
            <a:off x="3520439"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2</a:t>
            </a:r>
          </a:p>
        </p:txBody>
      </p:sp>
      <p:sp>
        <p:nvSpPr>
          <p:cNvPr id="21" name="TextBox 20"/>
          <p:cNvSpPr txBox="1"/>
          <p:nvPr/>
        </p:nvSpPr>
        <p:spPr>
          <a:xfrm>
            <a:off x="3520439"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常駐化</a:t>
            </a:r>
          </a:p>
        </p:txBody>
      </p:sp>
      <p:sp>
        <p:nvSpPr>
          <p:cNvPr id="22" name="TextBox 21"/>
          <p:cNvSpPr txBox="1"/>
          <p:nvPr/>
        </p:nvSpPr>
        <p:spPr>
          <a:xfrm>
            <a:off x="3520439"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重み・言語モデルを事前読込</a:t>
            </a:r>
          </a:p>
        </p:txBody>
      </p:sp>
      <p:sp>
        <p:nvSpPr>
          <p:cNvPr id="23" name="TextBox 22"/>
          <p:cNvSpPr txBox="1"/>
          <p:nvPr/>
        </p:nvSpPr>
        <p:spPr>
          <a:xfrm>
            <a:off x="6291072"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3</a:t>
            </a:r>
          </a:p>
        </p:txBody>
      </p:sp>
      <p:sp>
        <p:nvSpPr>
          <p:cNvPr id="24" name="TextBox 23"/>
          <p:cNvSpPr txBox="1"/>
          <p:nvPr/>
        </p:nvSpPr>
        <p:spPr>
          <a:xfrm>
            <a:off x="6291072"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同じ入力で計測</a:t>
            </a:r>
          </a:p>
        </p:txBody>
      </p:sp>
      <p:sp>
        <p:nvSpPr>
          <p:cNvPr id="25" name="TextBox 24"/>
          <p:cNvSpPr txBox="1"/>
          <p:nvPr/>
        </p:nvSpPr>
        <p:spPr>
          <a:xfrm>
            <a:off x="6291072"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音声初受信・骨格受信を記録</a:t>
            </a:r>
          </a:p>
        </p:txBody>
      </p:sp>
      <p:sp>
        <p:nvSpPr>
          <p:cNvPr id="26" name="TextBox 25"/>
          <p:cNvSpPr txBox="1"/>
          <p:nvPr/>
        </p:nvSpPr>
        <p:spPr>
          <a:xfrm>
            <a:off x="9061704" y="4343400"/>
            <a:ext cx="457200" cy="594360"/>
          </a:xfrm>
          <a:prstGeom prst="rect">
            <a:avLst/>
          </a:prstGeom>
          <a:noFill/>
        </p:spPr>
        <p:txBody>
          <a:bodyPr wrap="square" lIns="0" rIns="0" tIns="0" bIns="0" anchor="t">
            <a:spAutoFit/>
          </a:bodyPr>
          <a:lstStyle/>
          <a:p>
            <a:pPr algn="l">
              <a:lnSpc>
                <a:spcPct val="114000"/>
              </a:lnSpc>
              <a:spcAft>
                <a:spcPts val="500"/>
              </a:spcAft>
            </a:pPr>
            <a:r>
              <a:rPr sz="3200" b="1" lang="ja-JP">
                <a:solidFill>
                  <a:srgbClr val="007F80"/>
                </a:solidFill>
                <a:latin typeface="Noto Sans CJK JP"/>
                <a:ea typeface="Noto Sans CJK JP"/>
              </a:rPr>
              <a:t>4</a:t>
            </a:r>
          </a:p>
        </p:txBody>
      </p:sp>
      <p:sp>
        <p:nvSpPr>
          <p:cNvPr id="27" name="TextBox 26"/>
          <p:cNvSpPr txBox="1"/>
          <p:nvPr/>
        </p:nvSpPr>
        <p:spPr>
          <a:xfrm>
            <a:off x="9061704" y="5056632"/>
            <a:ext cx="2487168" cy="411480"/>
          </a:xfrm>
          <a:prstGeom prst="rect">
            <a:avLst/>
          </a:prstGeom>
          <a:noFill/>
        </p:spPr>
        <p:txBody>
          <a:bodyPr wrap="square" lIns="0" rIns="0" tIns="0" bIns="0" anchor="t">
            <a:spAutoFit/>
          </a:bodyPr>
          <a:lstStyle/>
          <a:p>
            <a:pPr algn="l">
              <a:lnSpc>
                <a:spcPct val="114000"/>
              </a:lnSpc>
              <a:spcAft>
                <a:spcPts val="500"/>
              </a:spcAft>
            </a:pPr>
            <a:r>
              <a:rPr sz="2000" b="1" lang="ja-JP">
                <a:solidFill>
                  <a:srgbClr val="183440"/>
                </a:solidFill>
                <a:latin typeface="Noto Sans CJK JP"/>
                <a:ea typeface="Noto Sans CJK JP"/>
              </a:rPr>
              <a:t>品質を確認</a:t>
            </a:r>
          </a:p>
        </p:txBody>
      </p:sp>
      <p:sp>
        <p:nvSpPr>
          <p:cNvPr id="28" name="TextBox 27"/>
          <p:cNvSpPr txBox="1"/>
          <p:nvPr/>
        </p:nvSpPr>
        <p:spPr>
          <a:xfrm>
            <a:off x="9061704" y="5623560"/>
            <a:ext cx="2487168" cy="420624"/>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意味適合・自然さ・つなぎ目</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論文の順位との比較は限定的。品質を含む優劣は未確定</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ユーザー提示のMoSCo比較表と、今回の実験では入力・生成長・計測範囲が異なる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[U1] ユーザー提示のMoSCo紹介画像（Table 1）  [R1] MotionLCM・MoMask実測</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17</a:t>
            </a:r>
          </a:p>
        </p:txBody>
      </p:sp>
      <p:sp>
        <p:nvSpPr>
          <p:cNvPr id="9" name="Rectangle 8"/>
          <p:cNvSpPr/>
          <p:nvPr/>
        </p:nvSpPr>
        <p:spPr>
          <a:xfrm>
            <a:off x="777240" y="2267712"/>
            <a:ext cx="10698480" cy="603504"/>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350008"/>
            <a:ext cx="2697479" cy="493776"/>
          </a:xfrm>
          <a:prstGeom prst="rect">
            <a:avLst/>
          </a:prstGeom>
          <a:noFill/>
        </p:spPr>
        <p:txBody>
          <a:bodyPr wrap="square" lIns="0" rIns="0" tIns="0" bIns="0" anchor="t">
            <a:spAutoFit/>
          </a:bodyPr>
          <a:lstStyle/>
          <a:p>
            <a:pPr algn="l">
              <a:lnSpc>
                <a:spcPct val="114000"/>
              </a:lnSpc>
              <a:spcAft>
                <a:spcPts val="500"/>
              </a:spcAft>
            </a:pPr>
            <a:r>
              <a:rPr sz="1800" b="1" lang="ja-JP">
                <a:solidFill>
                  <a:srgbClr val="FFFFFF"/>
                </a:solidFill>
                <a:latin typeface="Noto Sans CJK JP"/>
                <a:ea typeface="Noto Sans CJK JP"/>
              </a:rPr>
              <a:t>共通して登場するモデル</a:t>
            </a:r>
          </a:p>
        </p:txBody>
      </p:sp>
      <p:sp>
        <p:nvSpPr>
          <p:cNvPr id="11" name="TextBox 10"/>
          <p:cNvSpPr txBox="1"/>
          <p:nvPr/>
        </p:nvSpPr>
        <p:spPr>
          <a:xfrm>
            <a:off x="3767328" y="2350008"/>
            <a:ext cx="3611880" cy="493776"/>
          </a:xfrm>
          <a:prstGeom prst="rect">
            <a:avLst/>
          </a:prstGeom>
          <a:noFill/>
        </p:spPr>
        <p:txBody>
          <a:bodyPr wrap="square" lIns="0" rIns="0" tIns="0" bIns="0" anchor="t">
            <a:spAutoFit/>
          </a:bodyPr>
          <a:lstStyle/>
          <a:p>
            <a:pPr algn="l">
              <a:lnSpc>
                <a:spcPct val="114000"/>
              </a:lnSpc>
              <a:spcAft>
                <a:spcPts val="500"/>
              </a:spcAft>
            </a:pPr>
            <a:r>
              <a:rPr sz="1800" b="1" lang="ja-JP">
                <a:solidFill>
                  <a:srgbClr val="FFFFFF"/>
                </a:solidFill>
                <a:latin typeface="Noto Sans CJK JP"/>
                <a:ea typeface="Noto Sans CJK JP"/>
              </a:rPr>
              <a:t>提示資料のAITS</a:t>
            </a:r>
          </a:p>
        </p:txBody>
      </p:sp>
      <p:sp>
        <p:nvSpPr>
          <p:cNvPr id="12" name="TextBox 11"/>
          <p:cNvSpPr txBox="1"/>
          <p:nvPr/>
        </p:nvSpPr>
        <p:spPr>
          <a:xfrm>
            <a:off x="7562088" y="2350008"/>
            <a:ext cx="3840480" cy="493776"/>
          </a:xfrm>
          <a:prstGeom prst="rect">
            <a:avLst/>
          </a:prstGeom>
          <a:noFill/>
        </p:spPr>
        <p:txBody>
          <a:bodyPr wrap="square" lIns="0" rIns="0" tIns="0" bIns="0" anchor="t">
            <a:spAutoFit/>
          </a:bodyPr>
          <a:lstStyle/>
          <a:p>
            <a:pPr algn="l">
              <a:lnSpc>
                <a:spcPct val="114000"/>
              </a:lnSpc>
              <a:spcAft>
                <a:spcPts val="500"/>
              </a:spcAft>
            </a:pPr>
            <a:r>
              <a:rPr sz="1800" b="1" lang="ja-JP">
                <a:solidFill>
                  <a:srgbClr val="FFFFFF"/>
                </a:solidFill>
                <a:latin typeface="Noto Sans CJK JP"/>
                <a:ea typeface="Noto Sans CJK JP"/>
              </a:rPr>
              <a:t>今回・初回を除く4区間中央値</a:t>
            </a:r>
          </a:p>
        </p:txBody>
      </p:sp>
      <p:sp>
        <p:nvSpPr>
          <p:cNvPr id="13" name="Rectangle 12"/>
          <p:cNvSpPr/>
          <p:nvPr/>
        </p:nvSpPr>
        <p:spPr>
          <a:xfrm>
            <a:off x="777240" y="2871216"/>
            <a:ext cx="10698480" cy="603504"/>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953512"/>
            <a:ext cx="2697479"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MotionLCM</a:t>
            </a:r>
          </a:p>
        </p:txBody>
      </p:sp>
      <p:sp>
        <p:nvSpPr>
          <p:cNvPr id="15" name="TextBox 14"/>
          <p:cNvSpPr txBox="1"/>
          <p:nvPr/>
        </p:nvSpPr>
        <p:spPr>
          <a:xfrm>
            <a:off x="3767328" y="2953512"/>
            <a:ext cx="36118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0.030秒</a:t>
            </a:r>
          </a:p>
        </p:txBody>
      </p:sp>
      <p:sp>
        <p:nvSpPr>
          <p:cNvPr id="16" name="TextBox 15"/>
          <p:cNvSpPr txBox="1"/>
          <p:nvPr/>
        </p:nvSpPr>
        <p:spPr>
          <a:xfrm>
            <a:off x="7562088" y="2953512"/>
            <a:ext cx="38404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0.039秒</a:t>
            </a:r>
          </a:p>
        </p:txBody>
      </p:sp>
      <p:sp>
        <p:nvSpPr>
          <p:cNvPr id="17" name="Rectangle 16"/>
          <p:cNvSpPr/>
          <p:nvPr/>
        </p:nvSpPr>
        <p:spPr>
          <a:xfrm>
            <a:off x="777240" y="3474720"/>
            <a:ext cx="1069848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557015"/>
            <a:ext cx="2697479" cy="493776"/>
          </a:xfrm>
          <a:prstGeom prst="rect">
            <a:avLst/>
          </a:prstGeom>
          <a:noFill/>
        </p:spPr>
        <p:txBody>
          <a:bodyPr wrap="square" lIns="0" rIns="0" tIns="0" bIns="0" anchor="t">
            <a:spAutoFit/>
          </a:bodyPr>
          <a:lstStyle/>
          <a:p>
            <a:pPr algn="l">
              <a:lnSpc>
                <a:spcPct val="114000"/>
              </a:lnSpc>
              <a:spcAft>
                <a:spcPts val="500"/>
              </a:spcAft>
            </a:pPr>
            <a:r>
              <a:rPr sz="1900" b="1" lang="ja-JP">
                <a:solidFill>
                  <a:srgbClr val="183440"/>
                </a:solidFill>
                <a:latin typeface="Noto Sans CJK JP"/>
                <a:ea typeface="Noto Sans CJK JP"/>
              </a:rPr>
              <a:t>MoMask</a:t>
            </a:r>
          </a:p>
        </p:txBody>
      </p:sp>
      <p:sp>
        <p:nvSpPr>
          <p:cNvPr id="19" name="TextBox 18"/>
          <p:cNvSpPr txBox="1"/>
          <p:nvPr/>
        </p:nvSpPr>
        <p:spPr>
          <a:xfrm>
            <a:off x="3767328" y="3557015"/>
            <a:ext cx="36118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0.120秒</a:t>
            </a:r>
          </a:p>
        </p:txBody>
      </p:sp>
      <p:sp>
        <p:nvSpPr>
          <p:cNvPr id="20" name="TextBox 19"/>
          <p:cNvSpPr txBox="1"/>
          <p:nvPr/>
        </p:nvSpPr>
        <p:spPr>
          <a:xfrm>
            <a:off x="7562088" y="3557015"/>
            <a:ext cx="3840480" cy="493776"/>
          </a:xfrm>
          <a:prstGeom prst="rect">
            <a:avLst/>
          </a:prstGeom>
          <a:noFill/>
        </p:spPr>
        <p:txBody>
          <a:bodyPr wrap="square" lIns="0" rIns="0" tIns="0" bIns="0" anchor="t">
            <a:spAutoFit/>
          </a:bodyPr>
          <a:lstStyle/>
          <a:p>
            <a:pPr algn="l">
              <a:lnSpc>
                <a:spcPct val="114000"/>
              </a:lnSpc>
              <a:spcAft>
                <a:spcPts val="500"/>
              </a:spcAft>
            </a:pPr>
            <a:r>
              <a:rPr sz="1900" b="0" lang="ja-JP">
                <a:solidFill>
                  <a:srgbClr val="183440"/>
                </a:solidFill>
                <a:latin typeface="Noto Sans CJK JP"/>
                <a:ea typeface="Noto Sans CJK JP"/>
              </a:rPr>
              <a:t>0.202秒</a:t>
            </a:r>
          </a:p>
        </p:txBody>
      </p:sp>
      <p:sp>
        <p:nvSpPr>
          <p:cNvPr id="21" name="TextBox 20"/>
          <p:cNvSpPr txBox="1"/>
          <p:nvPr/>
        </p:nvSpPr>
        <p:spPr>
          <a:xfrm>
            <a:off x="822960" y="4361688"/>
            <a:ext cx="10515600" cy="438912"/>
          </a:xfrm>
          <a:prstGeom prst="rect">
            <a:avLst/>
          </a:prstGeom>
          <a:noFill/>
        </p:spPr>
        <p:txBody>
          <a:bodyPr wrap="square" lIns="0" rIns="0" tIns="0" bIns="0" anchor="t">
            <a:spAutoFit/>
          </a:bodyPr>
          <a:lstStyle/>
          <a:p>
            <a:pPr algn="l">
              <a:lnSpc>
                <a:spcPct val="114000"/>
              </a:lnSpc>
              <a:spcAft>
                <a:spcPts val="500"/>
              </a:spcAft>
            </a:pPr>
            <a:r>
              <a:rPr sz="2100" b="1" lang="ja-JP">
                <a:solidFill>
                  <a:srgbClr val="007F80"/>
                </a:solidFill>
                <a:latin typeface="Noto Sans CJK JP"/>
                <a:ea typeface="Noto Sans CJK JP"/>
              </a:rPr>
              <a:t>この2モデルの速度の順序は一致。ただし、論文の数値を再現したとは言えない。</a:t>
            </a:r>
          </a:p>
        </p:txBody>
      </p:sp>
      <p:sp>
        <p:nvSpPr>
          <p:cNvPr id="22" name="TextBox 21"/>
          <p:cNvSpPr txBox="1"/>
          <p:nvPr/>
        </p:nvSpPr>
        <p:spPr>
          <a:xfrm>
            <a:off x="822960" y="5102352"/>
            <a:ext cx="10515600" cy="786384"/>
          </a:xfrm>
          <a:prstGeom prst="rect">
            <a:avLst/>
          </a:prstGeom>
          <a:noFill/>
        </p:spPr>
        <p:txBody>
          <a:bodyPr wrap="square" lIns="0" rIns="0" tIns="0" bIns="0" anchor="t">
            <a:spAutoFit/>
          </a:bodyPr>
          <a:lstStyle/>
          <a:p>
            <a:pPr algn="l">
              <a:lnSpc>
                <a:spcPct val="114000"/>
              </a:lnSpc>
              <a:spcAft>
                <a:spcPts val="500"/>
              </a:spcAft>
            </a:pPr>
            <a:r>
              <a:rPr sz="2000" b="0" lang="ja-JP">
                <a:solidFill>
                  <a:srgbClr val="5B707B"/>
                </a:solidFill>
                <a:latin typeface="Noto Sans CJK JP"/>
                <a:ea typeface="Noto Sans CJK JP"/>
              </a:rPr>
              <a:t>未評価：日本語の意味適合／英語学習の発話に合う動作／動作自然さ／FID／</a:t>
            </a:r>
          </a:p>
          <a:p>
            <a:pPr algn="l">
              <a:lnSpc>
                <a:spcPct val="114000"/>
              </a:lnSpc>
              <a:spcAft>
                <a:spcPts val="500"/>
              </a:spcAft>
            </a:pPr>
            <a:r>
              <a:rPr sz="2000" b="0" lang="ja-JP">
                <a:solidFill>
                  <a:srgbClr val="5B707B"/>
                </a:solidFill>
                <a:latin typeface="Noto Sans CJK JP"/>
                <a:ea typeface="Noto Sans CJK JP"/>
              </a:rPr>
              <a:t>20ステップの品質低下／連続会話でのp50・p95。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次は常駐・短区間化と、品質評価を組み合わせる</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GPUの大型化だけでは、今回の会話経路の追加待ちを1秒以内にできなかった</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判断根拠：[R1–R4] / 右の施策は提案であり、達成時間の予測ではない</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18</a:t>
            </a:r>
          </a:p>
        </p:txBody>
      </p:sp>
      <p:sp>
        <p:nvSpPr>
          <p:cNvPr id="9" name="Rounded Rectangle 8"/>
          <p:cNvSpPr/>
          <p:nvPr/>
        </p:nvSpPr>
        <p:spPr>
          <a:xfrm>
            <a:off x="731520" y="2212848"/>
            <a:ext cx="5221224" cy="321868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12848"/>
            <a:ext cx="41148" cy="321868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77440"/>
            <a:ext cx="4873752"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確認できたこと</a:t>
            </a:r>
          </a:p>
        </p:txBody>
      </p:sp>
      <p:sp>
        <p:nvSpPr>
          <p:cNvPr id="12" name="TextBox 11"/>
          <p:cNvSpPr txBox="1"/>
          <p:nvPr/>
        </p:nvSpPr>
        <p:spPr>
          <a:xfrm>
            <a:off x="914400" y="2926080"/>
            <a:ext cx="4855464" cy="2432304"/>
          </a:xfrm>
          <a:prstGeom prst="rect">
            <a:avLst/>
          </a:prstGeom>
          <a:noFill/>
        </p:spPr>
        <p:txBody>
          <a:bodyPr wrap="square" lIns="0" rIns="0" tIns="0" bIns="0" anchor="t">
            <a:spAutoFit/>
          </a:bodyPr>
          <a:lstStyle/>
          <a:p>
            <a:pPr algn="l">
              <a:lnSpc>
                <a:spcPct val="114000"/>
              </a:lnSpc>
              <a:spcAft>
                <a:spcPts val="500"/>
              </a:spcAft>
            </a:pPr>
            <a:r>
              <a:rPr sz="2000" b="0" lang="ja-JP">
                <a:solidFill>
                  <a:srgbClr val="183440"/>
                </a:solidFill>
                <a:latin typeface="Noto Sans CJK JP"/>
                <a:ea typeface="Noto Sans CJK JP"/>
              </a:rPr>
              <a:t>7モデルの新規生成と動画化。</a:t>
            </a:r>
          </a:p>
          <a:p>
            <a:pPr algn="l">
              <a:lnSpc>
                <a:spcPct val="114000"/>
              </a:lnSpc>
              <a:spcAft>
                <a:spcPts val="500"/>
              </a:spcAft>
            </a:pPr>
            <a:r>
              <a:rPr sz="2000" b="0" lang="ja-JP">
                <a:solidFill>
                  <a:srgbClr val="183440"/>
                </a:solidFill>
                <a:latin typeface="Noto Sans CJK JP"/>
                <a:ea typeface="Noto Sans CJK JP"/>
              </a:rPr>
              <a:t>文単位の発話・動作同期と連結。</a:t>
            </a:r>
          </a:p>
          <a:p>
            <a:pPr algn="l">
              <a:lnSpc>
                <a:spcPct val="114000"/>
              </a:lnSpc>
              <a:spcAft>
                <a:spcPts val="500"/>
              </a:spcAft>
            </a:pPr>
            <a:r>
              <a:rPr sz="2000" b="0" lang="ja-JP">
                <a:solidFill>
                  <a:srgbClr val="183440"/>
                </a:solidFill>
                <a:latin typeface="Noto Sans CJK JP"/>
                <a:ea typeface="Noto Sans CJK JP"/>
              </a:rPr>
              <a:t>B300の生成単体：最短中央値0.435秒。</a:t>
            </a:r>
          </a:p>
          <a:p>
            <a:pPr algn="l">
              <a:lnSpc>
                <a:spcPct val="114000"/>
              </a:lnSpc>
              <a:spcAft>
                <a:spcPts val="500"/>
              </a:spcAft>
            </a:pPr>
            <a:r>
              <a:rPr sz="2000" b="0" lang="ja-JP">
                <a:solidFill>
                  <a:srgbClr val="183440"/>
                </a:solidFill>
                <a:latin typeface="Noto Sans CJK JP"/>
                <a:ea typeface="Noto Sans CJK JP"/>
              </a:rPr>
              <a:t>会話の追加待ち：高速設定で3.252秒。</a:t>
            </a:r>
          </a:p>
        </p:txBody>
      </p:sp>
      <p:sp>
        <p:nvSpPr>
          <p:cNvPr id="13" name="Rounded Rectangle 12"/>
          <p:cNvSpPr/>
          <p:nvPr/>
        </p:nvSpPr>
        <p:spPr>
          <a:xfrm>
            <a:off x="6208776" y="2212848"/>
            <a:ext cx="5221224" cy="3218688"/>
          </a:xfrm>
          <a:prstGeom prst="roundRect">
            <a:avLst>
              <a:gd name="adj" fmla="val 12000"/>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2212848"/>
            <a:ext cx="41148" cy="3218688"/>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6" y="2377440"/>
            <a:ext cx="4873752" cy="411480"/>
          </a:xfrm>
          <a:prstGeom prst="rect">
            <a:avLst/>
          </a:prstGeom>
          <a:noFill/>
        </p:spPr>
        <p:txBody>
          <a:bodyPr wrap="square" lIns="0" rIns="0" tIns="0" bIns="0" anchor="t">
            <a:spAutoFit/>
          </a:bodyPr>
          <a:lstStyle/>
          <a:p>
            <a:pPr algn="l">
              <a:lnSpc>
                <a:spcPct val="114000"/>
              </a:lnSpc>
              <a:spcAft>
                <a:spcPts val="500"/>
              </a:spcAft>
            </a:pPr>
            <a:r>
              <a:rPr sz="1800" b="1" lang="ja-JP">
                <a:solidFill>
                  <a:srgbClr val="007F80"/>
                </a:solidFill>
                <a:latin typeface="Noto Sans CJK JP"/>
                <a:ea typeface="Noto Sans CJK JP"/>
              </a:rPr>
              <a:t>次の検証</a:t>
            </a:r>
          </a:p>
        </p:txBody>
      </p:sp>
      <p:sp>
        <p:nvSpPr>
          <p:cNvPr id="16" name="TextBox 15"/>
          <p:cNvSpPr txBox="1"/>
          <p:nvPr/>
        </p:nvSpPr>
        <p:spPr>
          <a:xfrm>
            <a:off x="6391656" y="2926080"/>
            <a:ext cx="4855464" cy="2432304"/>
          </a:xfrm>
          <a:prstGeom prst="rect">
            <a:avLst/>
          </a:prstGeom>
          <a:noFill/>
        </p:spPr>
        <p:txBody>
          <a:bodyPr wrap="square" lIns="0" rIns="0" tIns="0" bIns="0" anchor="t">
            <a:spAutoFit/>
          </a:bodyPr>
          <a:lstStyle/>
          <a:p>
            <a:pPr algn="l">
              <a:lnSpc>
                <a:spcPct val="114000"/>
              </a:lnSpc>
              <a:spcAft>
                <a:spcPts val="500"/>
              </a:spcAft>
            </a:pPr>
            <a:r>
              <a:rPr sz="2000" b="0" lang="ja-JP">
                <a:solidFill>
                  <a:srgbClr val="183440"/>
                </a:solidFill>
                <a:latin typeface="Noto Sans CJK JP"/>
                <a:ea typeface="Noto Sans CJK JP"/>
              </a:rPr>
              <a:t>① 全モデルを事前読込して比較</a:t>
            </a:r>
          </a:p>
          <a:p>
            <a:pPr algn="l">
              <a:lnSpc>
                <a:spcPct val="114000"/>
              </a:lnSpc>
              <a:spcAft>
                <a:spcPts val="500"/>
              </a:spcAft>
            </a:pPr>
            <a:r>
              <a:rPr sz="2000" b="0" lang="ja-JP">
                <a:solidFill>
                  <a:srgbClr val="183440"/>
                </a:solidFill>
                <a:latin typeface="Noto Sans CJK JP"/>
                <a:ea typeface="Noto Sans CJK JP"/>
              </a:rPr>
              <a:t>② 全文待ちを短い意味区間へ変更</a:t>
            </a:r>
          </a:p>
          <a:p>
            <a:pPr algn="l">
              <a:lnSpc>
                <a:spcPct val="114000"/>
              </a:lnSpc>
              <a:spcAft>
                <a:spcPts val="500"/>
              </a:spcAft>
            </a:pPr>
            <a:r>
              <a:rPr sz="2000" b="0" lang="ja-JP">
                <a:solidFill>
                  <a:srgbClr val="183440"/>
                </a:solidFill>
                <a:latin typeface="Noto Sans CJK JP"/>
                <a:ea typeface="Noto Sans CJK JP"/>
              </a:rPr>
              <a:t>③ 骨格を直接返し、保存処理を分離</a:t>
            </a:r>
          </a:p>
          <a:p>
            <a:pPr algn="l">
              <a:lnSpc>
                <a:spcPct val="114000"/>
              </a:lnSpc>
              <a:spcAft>
                <a:spcPts val="500"/>
              </a:spcAft>
            </a:pPr>
            <a:r>
              <a:rPr sz="2000" b="0" lang="ja-JP">
                <a:solidFill>
                  <a:srgbClr val="183440"/>
                </a:solidFill>
                <a:latin typeface="Noto Sans CJK JP"/>
                <a:ea typeface="Noto Sans CJK JP"/>
              </a:rPr>
              <a:t>④ 5070実機＋反復計測＋品質評価</a:t>
            </a:r>
          </a:p>
        </p:txBody>
      </p:sp>
      <p:sp>
        <p:nvSpPr>
          <p:cNvPr id="17" name="TextBox 16"/>
          <p:cNvSpPr txBox="1"/>
          <p:nvPr/>
        </p:nvSpPr>
        <p:spPr>
          <a:xfrm>
            <a:off x="795528" y="5733288"/>
            <a:ext cx="10561320" cy="393192"/>
          </a:xfrm>
          <a:prstGeom prst="rect">
            <a:avLst/>
          </a:prstGeom>
          <a:noFill/>
        </p:spPr>
        <p:txBody>
          <a:bodyPr wrap="square" lIns="0" rIns="0" tIns="0" bIns="0" anchor="t">
            <a:spAutoFit/>
          </a:bodyPr>
          <a:lstStyle/>
          <a:p>
            <a:pPr algn="l">
              <a:lnSpc>
                <a:spcPct val="114000"/>
              </a:lnSpc>
              <a:spcAft>
                <a:spcPts val="500"/>
              </a:spcAft>
            </a:pPr>
            <a:r>
              <a:rPr sz="1700" b="1" lang="ja-JP">
                <a:solidFill>
                  <a:srgbClr val="007F80"/>
                </a:solidFill>
                <a:latin typeface="Noto Sans CJK JP"/>
                <a:ea typeface="Noto Sans CJK JP"/>
              </a:rPr>
              <a:t>現時点の選定候補：速度重視はMotionLCM / MMM。Kimodoは品質確認と応答経路の改善を継続。</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付録：初期調査からの到達点と、未測定の経路</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古い「未実行」の記録を、後続の成功記録と混同しない</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segmented/english-lesson*/README.md  [R8] execution_results.md・model_compatibility.md</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19</a:t>
            </a:r>
          </a:p>
        </p:txBody>
      </p:sp>
      <p:sp>
        <p:nvSpPr>
          <p:cNvPr id="9" name="Rectangle 8"/>
          <p:cNvSpPr/>
          <p:nvPr/>
        </p:nvSpPr>
        <p:spPr>
          <a:xfrm>
            <a:off x="704088" y="2194560"/>
            <a:ext cx="10789920" cy="502920"/>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276856"/>
            <a:ext cx="2971800" cy="393192"/>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対象</a:t>
            </a:r>
          </a:p>
        </p:txBody>
      </p:sp>
      <p:sp>
        <p:nvSpPr>
          <p:cNvPr id="11" name="TextBox 10"/>
          <p:cNvSpPr txBox="1"/>
          <p:nvPr/>
        </p:nvSpPr>
        <p:spPr>
          <a:xfrm>
            <a:off x="3968496" y="2276856"/>
            <a:ext cx="3474720" cy="393192"/>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初期調査・導入</a:t>
            </a:r>
          </a:p>
        </p:txBody>
      </p:sp>
      <p:sp>
        <p:nvSpPr>
          <p:cNvPr id="12" name="TextBox 11"/>
          <p:cNvSpPr txBox="1"/>
          <p:nvPr/>
        </p:nvSpPr>
        <p:spPr>
          <a:xfrm>
            <a:off x="7626096" y="2276856"/>
            <a:ext cx="3794759" cy="393192"/>
          </a:xfrm>
          <a:prstGeom prst="rect">
            <a:avLst/>
          </a:prstGeom>
          <a:noFill/>
        </p:spPr>
        <p:txBody>
          <a:bodyPr wrap="square" lIns="0" rIns="0" tIns="0" bIns="0" anchor="t">
            <a:spAutoFit/>
          </a:bodyPr>
          <a:lstStyle/>
          <a:p>
            <a:pPr algn="l">
              <a:lnSpc>
                <a:spcPct val="114000"/>
              </a:lnSpc>
              <a:spcAft>
                <a:spcPts val="500"/>
              </a:spcAft>
            </a:pPr>
            <a:r>
              <a:rPr sz="1200" b="1" lang="ja-JP">
                <a:solidFill>
                  <a:srgbClr val="FFFFFF"/>
                </a:solidFill>
                <a:latin typeface="Noto Sans CJK JP"/>
                <a:ea typeface="Noto Sans CJK JP"/>
              </a:rPr>
              <a:t>今回の報告上の扱い</a:t>
            </a:r>
          </a:p>
        </p:txBody>
      </p:sp>
      <p:sp>
        <p:nvSpPr>
          <p:cNvPr id="13" name="Rectangle 12"/>
          <p:cNvSpPr/>
          <p:nvPr/>
        </p:nvSpPr>
        <p:spPr>
          <a:xfrm>
            <a:off x="704088" y="2697480"/>
            <a:ext cx="10789920" cy="50292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277977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Kimodo</a:t>
            </a:r>
          </a:p>
        </p:txBody>
      </p:sp>
      <p:sp>
        <p:nvSpPr>
          <p:cNvPr id="15" name="TextBox 14"/>
          <p:cNvSpPr txBox="1"/>
          <p:nvPr/>
        </p:nvSpPr>
        <p:spPr>
          <a:xfrm>
            <a:off x="3968496" y="277977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初期：公式オンラインの動作指示</a:t>
            </a:r>
          </a:p>
        </p:txBody>
      </p:sp>
      <p:sp>
        <p:nvSpPr>
          <p:cNvPr id="16" name="TextBox 15"/>
          <p:cNvSpPr txBox="1"/>
          <p:nvPr/>
        </p:nvSpPr>
        <p:spPr>
          <a:xfrm>
            <a:off x="7626096" y="277977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後期：共通5文・音声会話・B300実生成</a:t>
            </a:r>
          </a:p>
        </p:txBody>
      </p:sp>
      <p:sp>
        <p:nvSpPr>
          <p:cNvPr id="17" name="Rectangle 16"/>
          <p:cNvSpPr/>
          <p:nvPr/>
        </p:nvSpPr>
        <p:spPr>
          <a:xfrm>
            <a:off x="704088" y="3200400"/>
            <a:ext cx="10789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 y="328269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ARDY</a:t>
            </a:r>
          </a:p>
        </p:txBody>
      </p:sp>
      <p:sp>
        <p:nvSpPr>
          <p:cNvPr id="19" name="TextBox 18"/>
          <p:cNvSpPr txBox="1"/>
          <p:nvPr/>
        </p:nvSpPr>
        <p:spPr>
          <a:xfrm>
            <a:off x="3968496" y="328269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初期：無条件CPU診断</a:t>
            </a:r>
          </a:p>
        </p:txBody>
      </p:sp>
      <p:sp>
        <p:nvSpPr>
          <p:cNvPr id="20" name="TextBox 19"/>
          <p:cNvSpPr txBox="1"/>
          <p:nvPr/>
        </p:nvSpPr>
        <p:spPr>
          <a:xfrm>
            <a:off x="7626096" y="328269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後期：Horizon40遠隔／Core8 CUDA実生成</a:t>
            </a:r>
          </a:p>
        </p:txBody>
      </p:sp>
      <p:sp>
        <p:nvSpPr>
          <p:cNvPr id="21" name="Rectangle 20"/>
          <p:cNvSpPr/>
          <p:nvPr/>
        </p:nvSpPr>
        <p:spPr>
          <a:xfrm>
            <a:off x="704088" y="3703320"/>
            <a:ext cx="10789920" cy="50292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3785615"/>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text-to-vrma</a:t>
            </a:r>
          </a:p>
        </p:txBody>
      </p:sp>
      <p:sp>
        <p:nvSpPr>
          <p:cNvPr id="23" name="TextBox 22"/>
          <p:cNvSpPr txBox="1"/>
          <p:nvPr/>
        </p:nvSpPr>
        <p:spPr>
          <a:xfrm>
            <a:off x="3968496" y="3785615"/>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ARDYエンジン選択・形式統合</a:t>
            </a:r>
          </a:p>
        </p:txBody>
      </p:sp>
      <p:sp>
        <p:nvSpPr>
          <p:cNvPr id="24" name="TextBox 23"/>
          <p:cNvSpPr txBox="1"/>
          <p:nvPr/>
        </p:nvSpPr>
        <p:spPr>
          <a:xfrm>
            <a:off x="7626096" y="3785615"/>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モデルの同条件実生成時間は未測定</a:t>
            </a:r>
          </a:p>
        </p:txBody>
      </p:sp>
      <p:sp>
        <p:nvSpPr>
          <p:cNvPr id="25" name="Rectangle 24"/>
          <p:cNvSpPr/>
          <p:nvPr/>
        </p:nvSpPr>
        <p:spPr>
          <a:xfrm>
            <a:off x="704088" y="4206240"/>
            <a:ext cx="10789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428853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LoM / MIBURI / StreamTalk</a:t>
            </a:r>
          </a:p>
        </p:txBody>
      </p:sp>
      <p:sp>
        <p:nvSpPr>
          <p:cNvPr id="27" name="TextBox 26"/>
          <p:cNvSpPr txBox="1"/>
          <p:nvPr/>
        </p:nvSpPr>
        <p:spPr>
          <a:xfrm>
            <a:off x="3968496" y="428853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公式コード・依存・重み配信を調査</a:t>
            </a:r>
          </a:p>
        </p:txBody>
      </p:sp>
      <p:sp>
        <p:nvSpPr>
          <p:cNvPr id="28" name="TextBox 27"/>
          <p:cNvSpPr txBox="1"/>
          <p:nvPr/>
        </p:nvSpPr>
        <p:spPr>
          <a:xfrm>
            <a:off x="7626096" y="428853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今回の比較条件では実推論未検証</a:t>
            </a:r>
          </a:p>
        </p:txBody>
      </p:sp>
      <p:sp>
        <p:nvSpPr>
          <p:cNvPr id="29" name="Rectangle 28"/>
          <p:cNvSpPr/>
          <p:nvPr/>
        </p:nvSpPr>
        <p:spPr>
          <a:xfrm>
            <a:off x="704088" y="4709160"/>
            <a:ext cx="10789920" cy="502920"/>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 y="479145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LLM-Gesture / ViBES body</a:t>
            </a:r>
          </a:p>
        </p:txBody>
      </p:sp>
      <p:sp>
        <p:nvSpPr>
          <p:cNvPr id="31" name="TextBox 30"/>
          <p:cNvSpPr txBox="1"/>
          <p:nvPr/>
        </p:nvSpPr>
        <p:spPr>
          <a:xfrm>
            <a:off x="3968496" y="479145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資産・公開経路等を調査</a:t>
            </a:r>
          </a:p>
        </p:txBody>
      </p:sp>
      <p:sp>
        <p:nvSpPr>
          <p:cNvPr id="32" name="TextBox 31"/>
          <p:cNvSpPr txBox="1"/>
          <p:nvPr/>
        </p:nvSpPr>
        <p:spPr>
          <a:xfrm>
            <a:off x="7626096" y="479145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今回の比較条件では実推論未検証</a:t>
            </a:r>
          </a:p>
        </p:txBody>
      </p:sp>
      <p:sp>
        <p:nvSpPr>
          <p:cNvPr id="33" name="Rectangle 32"/>
          <p:cNvSpPr/>
          <p:nvPr/>
        </p:nvSpPr>
        <p:spPr>
          <a:xfrm>
            <a:off x="704088" y="5212080"/>
            <a:ext cx="1078992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6" y="5294376"/>
            <a:ext cx="2971800" cy="393192"/>
          </a:xfrm>
          <a:prstGeom prst="rect">
            <a:avLst/>
          </a:prstGeom>
          <a:noFill/>
        </p:spPr>
        <p:txBody>
          <a:bodyPr wrap="square" lIns="0" rIns="0" tIns="0" bIns="0" anchor="t">
            <a:spAutoFit/>
          </a:bodyPr>
          <a:lstStyle/>
          <a:p>
            <a:pPr algn="l">
              <a:lnSpc>
                <a:spcPct val="114000"/>
              </a:lnSpc>
              <a:spcAft>
                <a:spcPts val="500"/>
              </a:spcAft>
            </a:pPr>
            <a:r>
              <a:rPr sz="1300" b="1" lang="ja-JP">
                <a:solidFill>
                  <a:srgbClr val="183440"/>
                </a:solidFill>
                <a:latin typeface="Noto Sans CJK JP"/>
                <a:ea typeface="Noto Sans CJK JP"/>
              </a:rPr>
              <a:t>FreeTalker / AgentHands</a:t>
            </a:r>
          </a:p>
        </p:txBody>
      </p:sp>
      <p:sp>
        <p:nvSpPr>
          <p:cNvPr id="35" name="TextBox 34"/>
          <p:cNvSpPr txBox="1"/>
          <p:nvPr/>
        </p:nvSpPr>
        <p:spPr>
          <a:xfrm>
            <a:off x="3968496" y="5294376"/>
            <a:ext cx="3474720"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コード調査／役割を確認</a:t>
            </a:r>
          </a:p>
        </p:txBody>
      </p:sp>
      <p:sp>
        <p:nvSpPr>
          <p:cNvPr id="36" name="TextBox 35"/>
          <p:cNvSpPr txBox="1"/>
          <p:nvPr/>
        </p:nvSpPr>
        <p:spPr>
          <a:xfrm>
            <a:off x="7626096" y="5294376"/>
            <a:ext cx="3794759" cy="393192"/>
          </a:xfrm>
          <a:prstGeom prst="rect">
            <a:avLst/>
          </a:prstGeom>
          <a:noFill/>
        </p:spPr>
        <p:txBody>
          <a:bodyPr wrap="square" lIns="0" rIns="0" tIns="0" bIns="0" anchor="t">
            <a:spAutoFit/>
          </a:bodyPr>
          <a:lstStyle/>
          <a:p>
            <a:pPr algn="l">
              <a:lnSpc>
                <a:spcPct val="114000"/>
              </a:lnSpc>
              <a:spcAft>
                <a:spcPts val="500"/>
              </a:spcAft>
            </a:pPr>
            <a:r>
              <a:rPr sz="1300" b="0" lang="ja-JP">
                <a:solidFill>
                  <a:srgbClr val="183440"/>
                </a:solidFill>
                <a:latin typeface="Noto Sans CJK JP"/>
                <a:ea typeface="Noto Sans CJK JP"/>
              </a:rPr>
              <a:t>実生成の比較には未収録</a:t>
            </a:r>
          </a:p>
        </p:txBody>
      </p:sp>
      <p:sp>
        <p:nvSpPr>
          <p:cNvPr id="37" name="TextBox 36"/>
          <p:cNvSpPr txBox="1"/>
          <p:nvPr/>
        </p:nvSpPr>
        <p:spPr>
          <a:xfrm>
            <a:off x="777240" y="5943600"/>
            <a:ext cx="10607040" cy="26517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公開コード・ダウンロード可能な重み・推論成功・会話品質の検証は、それぞれ別の到達点。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付録：初期の文分割デモは、発話に合わせた動作指示を使用</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共通原文5区間の後期比較とは、入力・モデル・サービス・描画条件が異なる</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reports/segmented/english-lesson*/README.md / 成功処理の合計</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20</a:t>
            </a:r>
          </a:p>
        </p:txBody>
      </p:sp>
      <p:sp>
        <p:nvSpPr>
          <p:cNvPr id="9" name="Rectangle 8"/>
          <p:cNvSpPr/>
          <p:nvPr/>
        </p:nvSpPr>
        <p:spPr>
          <a:xfrm>
            <a:off x="731520" y="2194560"/>
            <a:ext cx="10789920" cy="438912"/>
          </a:xfrm>
          <a:prstGeom prst="rect">
            <a:avLst/>
          </a:prstGeom>
          <a:solidFill>
            <a:srgbClr val="1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276856"/>
            <a:ext cx="347472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FFFFFF"/>
                </a:solidFill>
                <a:latin typeface="Noto Sans CJK JP"/>
                <a:ea typeface="Noto Sans CJK JP"/>
              </a:rPr>
              <a:t>項目</a:t>
            </a:r>
          </a:p>
        </p:txBody>
      </p:sp>
      <p:sp>
        <p:nvSpPr>
          <p:cNvPr id="11" name="TextBox 10"/>
          <p:cNvSpPr txBox="1"/>
          <p:nvPr/>
        </p:nvSpPr>
        <p:spPr>
          <a:xfrm>
            <a:off x="4498848" y="2276856"/>
            <a:ext cx="3291839"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FFFFFF"/>
                </a:solidFill>
                <a:latin typeface="Noto Sans CJK JP"/>
                <a:ea typeface="Noto Sans CJK JP"/>
              </a:rPr>
              <a:t>Kimodo版</a:t>
            </a:r>
          </a:p>
        </p:txBody>
      </p:sp>
      <p:sp>
        <p:nvSpPr>
          <p:cNvPr id="12" name="TextBox 11"/>
          <p:cNvSpPr txBox="1"/>
          <p:nvPr/>
        </p:nvSpPr>
        <p:spPr>
          <a:xfrm>
            <a:off x="7973567" y="2276856"/>
            <a:ext cx="3474720" cy="329184"/>
          </a:xfrm>
          <a:prstGeom prst="rect">
            <a:avLst/>
          </a:prstGeom>
          <a:noFill/>
        </p:spPr>
        <p:txBody>
          <a:bodyPr wrap="square" lIns="0" rIns="0" tIns="0" bIns="0" anchor="t">
            <a:spAutoFit/>
          </a:bodyPr>
          <a:lstStyle/>
          <a:p>
            <a:pPr algn="l">
              <a:lnSpc>
                <a:spcPct val="114000"/>
              </a:lnSpc>
              <a:spcAft>
                <a:spcPts val="500"/>
              </a:spcAft>
            </a:pPr>
            <a:r>
              <a:rPr sz="1400" b="1" lang="ja-JP">
                <a:solidFill>
                  <a:srgbClr val="FFFFFF"/>
                </a:solidFill>
                <a:latin typeface="Noto Sans CJK JP"/>
                <a:ea typeface="Noto Sans CJK JP"/>
              </a:rPr>
              <a:t>ARDY版</a:t>
            </a:r>
          </a:p>
        </p:txBody>
      </p:sp>
      <p:sp>
        <p:nvSpPr>
          <p:cNvPr id="13" name="Rectangle 12"/>
          <p:cNvSpPr/>
          <p:nvPr/>
        </p:nvSpPr>
        <p:spPr>
          <a:xfrm>
            <a:off x="731520" y="2633472"/>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2715768"/>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モーションモデル</a:t>
            </a:r>
          </a:p>
        </p:txBody>
      </p:sp>
      <p:sp>
        <p:nvSpPr>
          <p:cNvPr id="15" name="TextBox 14"/>
          <p:cNvSpPr txBox="1"/>
          <p:nvPr/>
        </p:nvSpPr>
        <p:spPr>
          <a:xfrm>
            <a:off x="4498848" y="2715768"/>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Kimodo SOMA-RP-v1</a:t>
            </a:r>
          </a:p>
        </p:txBody>
      </p:sp>
      <p:sp>
        <p:nvSpPr>
          <p:cNvPr id="16" name="TextBox 15"/>
          <p:cNvSpPr txBox="1"/>
          <p:nvPr/>
        </p:nvSpPr>
        <p:spPr>
          <a:xfrm>
            <a:off x="7973567" y="2715768"/>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ARDY Core / Horizon40</a:t>
            </a:r>
          </a:p>
        </p:txBody>
      </p:sp>
      <p:sp>
        <p:nvSpPr>
          <p:cNvPr id="17" name="Rectangle 16"/>
          <p:cNvSpPr/>
          <p:nvPr/>
        </p:nvSpPr>
        <p:spPr>
          <a:xfrm>
            <a:off x="731520" y="3072384"/>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154679"/>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利用経路</a:t>
            </a:r>
          </a:p>
        </p:txBody>
      </p:sp>
      <p:sp>
        <p:nvSpPr>
          <p:cNvPr id="19" name="TextBox 18"/>
          <p:cNvSpPr txBox="1"/>
          <p:nvPr/>
        </p:nvSpPr>
        <p:spPr>
          <a:xfrm>
            <a:off x="4498848" y="3154679"/>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NVIDIA公式オンライン</a:t>
            </a:r>
          </a:p>
        </p:txBody>
      </p:sp>
      <p:sp>
        <p:nvSpPr>
          <p:cNvPr id="20" name="TextBox 19"/>
          <p:cNvSpPr txBox="1"/>
          <p:nvPr/>
        </p:nvSpPr>
        <p:spPr>
          <a:xfrm>
            <a:off x="7973567" y="3154679"/>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公開コミュニティSpace</a:t>
            </a:r>
          </a:p>
        </p:txBody>
      </p:sp>
      <p:sp>
        <p:nvSpPr>
          <p:cNvPr id="21" name="Rectangle 20"/>
          <p:cNvSpPr/>
          <p:nvPr/>
        </p:nvSpPr>
        <p:spPr>
          <a:xfrm>
            <a:off x="731520" y="3511296"/>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593591"/>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骨格生成・5区間</a:t>
            </a:r>
          </a:p>
        </p:txBody>
      </p:sp>
      <p:sp>
        <p:nvSpPr>
          <p:cNvPr id="23" name="TextBox 22"/>
          <p:cNvSpPr txBox="1"/>
          <p:nvPr/>
        </p:nvSpPr>
        <p:spPr>
          <a:xfrm>
            <a:off x="4498848" y="3593591"/>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72.91秒</a:t>
            </a:r>
          </a:p>
        </p:txBody>
      </p:sp>
      <p:sp>
        <p:nvSpPr>
          <p:cNvPr id="24" name="TextBox 23"/>
          <p:cNvSpPr txBox="1"/>
          <p:nvPr/>
        </p:nvSpPr>
        <p:spPr>
          <a:xfrm>
            <a:off x="7973567" y="3593591"/>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115.29秒</a:t>
            </a:r>
          </a:p>
        </p:txBody>
      </p:sp>
      <p:sp>
        <p:nvSpPr>
          <p:cNvPr id="25" name="Rectangle 24"/>
          <p:cNvSpPr/>
          <p:nvPr/>
        </p:nvSpPr>
        <p:spPr>
          <a:xfrm>
            <a:off x="731520" y="3950208"/>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032504"/>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音声生成・今回分</a:t>
            </a:r>
          </a:p>
        </p:txBody>
      </p:sp>
      <p:sp>
        <p:nvSpPr>
          <p:cNvPr id="27" name="TextBox 26"/>
          <p:cNvSpPr txBox="1"/>
          <p:nvPr/>
        </p:nvSpPr>
        <p:spPr>
          <a:xfrm>
            <a:off x="4498848" y="4032504"/>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25.32秒</a:t>
            </a:r>
          </a:p>
        </p:txBody>
      </p:sp>
      <p:sp>
        <p:nvSpPr>
          <p:cNvPr id="28" name="TextBox 27"/>
          <p:cNvSpPr txBox="1"/>
          <p:nvPr/>
        </p:nvSpPr>
        <p:spPr>
          <a:xfrm>
            <a:off x="7973567" y="4032504"/>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0秒（同じ既存音声を共有）</a:t>
            </a:r>
          </a:p>
        </p:txBody>
      </p:sp>
      <p:sp>
        <p:nvSpPr>
          <p:cNvPr id="29" name="Rectangle 28"/>
          <p:cNvSpPr/>
          <p:nvPr/>
        </p:nvSpPr>
        <p:spPr>
          <a:xfrm>
            <a:off x="731520" y="4389120"/>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471416"/>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連結込みMP4書き出し</a:t>
            </a:r>
          </a:p>
        </p:txBody>
      </p:sp>
      <p:sp>
        <p:nvSpPr>
          <p:cNvPr id="31" name="TextBox 30"/>
          <p:cNvSpPr txBox="1"/>
          <p:nvPr/>
        </p:nvSpPr>
        <p:spPr>
          <a:xfrm>
            <a:off x="4498848" y="4471416"/>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237.03秒</a:t>
            </a:r>
          </a:p>
        </p:txBody>
      </p:sp>
      <p:sp>
        <p:nvSpPr>
          <p:cNvPr id="32" name="TextBox 31"/>
          <p:cNvSpPr txBox="1"/>
          <p:nvPr/>
        </p:nvSpPr>
        <p:spPr>
          <a:xfrm>
            <a:off x="7973567" y="4471416"/>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1,038.91秒</a:t>
            </a:r>
          </a:p>
        </p:txBody>
      </p:sp>
      <p:sp>
        <p:nvSpPr>
          <p:cNvPr id="33" name="Rectangle 32"/>
          <p:cNvSpPr/>
          <p:nvPr/>
        </p:nvSpPr>
        <p:spPr>
          <a:xfrm>
            <a:off x="731520" y="4828031"/>
            <a:ext cx="107899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4910327"/>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成功処理の合計</a:t>
            </a:r>
          </a:p>
        </p:txBody>
      </p:sp>
      <p:sp>
        <p:nvSpPr>
          <p:cNvPr id="35" name="TextBox 34"/>
          <p:cNvSpPr txBox="1"/>
          <p:nvPr/>
        </p:nvSpPr>
        <p:spPr>
          <a:xfrm>
            <a:off x="4498848" y="4910327"/>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335.27秒</a:t>
            </a:r>
          </a:p>
        </p:txBody>
      </p:sp>
      <p:sp>
        <p:nvSpPr>
          <p:cNvPr id="36" name="TextBox 35"/>
          <p:cNvSpPr txBox="1"/>
          <p:nvPr/>
        </p:nvSpPr>
        <p:spPr>
          <a:xfrm>
            <a:off x="7973567" y="4910327"/>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1,154.20秒</a:t>
            </a:r>
          </a:p>
        </p:txBody>
      </p:sp>
      <p:sp>
        <p:nvSpPr>
          <p:cNvPr id="37" name="Rectangle 36"/>
          <p:cNvSpPr/>
          <p:nvPr/>
        </p:nvSpPr>
        <p:spPr>
          <a:xfrm>
            <a:off x="731520" y="5266944"/>
            <a:ext cx="10789920" cy="438912"/>
          </a:xfrm>
          <a:prstGeom prst="rect">
            <a:avLst/>
          </a:prstGeom>
          <a:solidFill>
            <a:srgbClr val="F0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5349240"/>
            <a:ext cx="3474720" cy="329184"/>
          </a:xfrm>
          <a:prstGeom prst="rect">
            <a:avLst/>
          </a:prstGeom>
          <a:noFill/>
        </p:spPr>
        <p:txBody>
          <a:bodyPr wrap="square" lIns="0" rIns="0" tIns="0" bIns="0" anchor="t">
            <a:spAutoFit/>
          </a:bodyPr>
          <a:lstStyle/>
          <a:p>
            <a:pPr algn="l">
              <a:lnSpc>
                <a:spcPct val="114000"/>
              </a:lnSpc>
              <a:spcAft>
                <a:spcPts val="500"/>
              </a:spcAft>
            </a:pPr>
            <a:r>
              <a:rPr sz="1500" b="1" lang="ja-JP">
                <a:solidFill>
                  <a:srgbClr val="183440"/>
                </a:solidFill>
                <a:latin typeface="Noto Sans CJK JP"/>
                <a:ea typeface="Noto Sans CJK JP"/>
              </a:rPr>
              <a:t>完成動画の長さ</a:t>
            </a:r>
          </a:p>
        </p:txBody>
      </p:sp>
      <p:sp>
        <p:nvSpPr>
          <p:cNvPr id="39" name="TextBox 38"/>
          <p:cNvSpPr txBox="1"/>
          <p:nvPr/>
        </p:nvSpPr>
        <p:spPr>
          <a:xfrm>
            <a:off x="4498848" y="5349240"/>
            <a:ext cx="3291839"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14.133秒</a:t>
            </a:r>
          </a:p>
        </p:txBody>
      </p:sp>
      <p:sp>
        <p:nvSpPr>
          <p:cNvPr id="40" name="TextBox 39"/>
          <p:cNvSpPr txBox="1"/>
          <p:nvPr/>
        </p:nvSpPr>
        <p:spPr>
          <a:xfrm>
            <a:off x="7973567" y="5349240"/>
            <a:ext cx="3474720" cy="329184"/>
          </a:xfrm>
          <a:prstGeom prst="rect">
            <a:avLst/>
          </a:prstGeom>
          <a:noFill/>
        </p:spPr>
        <p:txBody>
          <a:bodyPr wrap="square" lIns="0" rIns="0" tIns="0" bIns="0" anchor="t">
            <a:spAutoFit/>
          </a:bodyPr>
          <a:lstStyle/>
          <a:p>
            <a:pPr algn="l">
              <a:lnSpc>
                <a:spcPct val="114000"/>
              </a:lnSpc>
              <a:spcAft>
                <a:spcPts val="500"/>
              </a:spcAft>
            </a:pPr>
            <a:r>
              <a:rPr sz="1500" b="0" lang="ja-JP">
                <a:solidFill>
                  <a:srgbClr val="183440"/>
                </a:solidFill>
                <a:latin typeface="Noto Sans CJK JP"/>
                <a:ea typeface="Noto Sans CJK JP"/>
              </a:rPr>
              <a:t>14.133秒</a:t>
            </a:r>
          </a:p>
        </p:txBody>
      </p:sp>
      <p:sp>
        <p:nvSpPr>
          <p:cNvPr id="41" name="TextBox 40"/>
          <p:cNvSpPr txBox="1"/>
          <p:nvPr/>
        </p:nvSpPr>
        <p:spPr>
          <a:xfrm>
            <a:off x="804672" y="5934456"/>
            <a:ext cx="4892040" cy="265176"/>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3"/>
              </a:rPr>
              <a:t>▶ Kimodoの分割デモ</a:t>
            </a:r>
          </a:p>
        </p:txBody>
      </p:sp>
      <p:sp>
        <p:nvSpPr>
          <p:cNvPr id="42" name="TextBox 41"/>
          <p:cNvSpPr txBox="1"/>
          <p:nvPr/>
        </p:nvSpPr>
        <p:spPr>
          <a:xfrm>
            <a:off x="6336792" y="5934456"/>
            <a:ext cx="4892040" cy="265176"/>
          </a:xfrm>
          <a:prstGeom prst="rect">
            <a:avLst/>
          </a:prstGeom>
          <a:noFill/>
        </p:spPr>
        <p:txBody>
          <a:bodyPr wrap="square" lIns="0" rIns="0" tIns="0" bIns="0" anchor="t">
            <a:spAutoFit/>
          </a:bodyPr>
          <a:lstStyle/>
          <a:p>
            <a:pPr algn="l">
              <a:lnSpc>
                <a:spcPct val="114000"/>
              </a:lnSpc>
              <a:spcAft>
                <a:spcPts val="500"/>
              </a:spcAft>
            </a:pPr>
            <a:r>
              <a:rPr sz="1400" b="0" lang="ja-JP">
                <a:solidFill>
                  <a:srgbClr val="3269AC"/>
                </a:solidFill>
                <a:latin typeface="Noto Sans CJK JP"/>
                <a:ea typeface="Noto Sans CJK JP"/>
                <a:hlinkClick r:id="rId4"/>
              </a:rPr>
              <a:t>▶ ARDYの分割デモ</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付録：計測原本・固定バージョン・再現手順</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Gitリポジトリ：github.com/nk-an-nk/textToMotion / work　　実験コード基準：3a37d6e</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原本はGitのworkブランチ。再集計値・費用式は同梱measurements.json。</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21</a:t>
            </a:r>
          </a:p>
        </p:txBody>
      </p:sp>
      <p:sp>
        <p:nvSpPr>
          <p:cNvPr id="9" name="TextBox 8"/>
          <p:cNvSpPr txBox="1"/>
          <p:nvPr/>
        </p:nvSpPr>
        <p:spPr>
          <a:xfrm>
            <a:off x="841248" y="2221992"/>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3"/>
              </a:rPr>
              <a:t>[R1・R2] 7モデル比較の記録</a:t>
            </a:r>
          </a:p>
        </p:txBody>
      </p:sp>
      <p:sp>
        <p:nvSpPr>
          <p:cNvPr id="10" name="TextBox 9"/>
          <p:cNvSpPr txBox="1"/>
          <p:nvPr/>
        </p:nvSpPr>
        <p:spPr>
          <a:xfrm>
            <a:off x="841248" y="2734056"/>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4"/>
              </a:rPr>
              <a:t>[R3・R4・R6] Kimodo / B300の計測・動画</a:t>
            </a:r>
          </a:p>
        </p:txBody>
      </p:sp>
      <p:sp>
        <p:nvSpPr>
          <p:cNvPr id="11" name="TextBox 10"/>
          <p:cNvSpPr txBox="1"/>
          <p:nvPr/>
        </p:nvSpPr>
        <p:spPr>
          <a:xfrm>
            <a:off x="841248" y="3246120"/>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5"/>
              </a:rPr>
              <a:t>[R5] GPU条件・ソースと重みのハッシュ</a:t>
            </a:r>
          </a:p>
        </p:txBody>
      </p:sp>
      <p:sp>
        <p:nvSpPr>
          <p:cNvPr id="12" name="TextBox 11"/>
          <p:cNvSpPr txBox="1"/>
          <p:nvPr/>
        </p:nvSpPr>
        <p:spPr>
          <a:xfrm>
            <a:off x="841248" y="3758184"/>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6"/>
              </a:rPr>
              <a:t>[R7] 文分割デモの入力・同期・計測</a:t>
            </a:r>
          </a:p>
        </p:txBody>
      </p:sp>
      <p:sp>
        <p:nvSpPr>
          <p:cNvPr id="13" name="TextBox 12"/>
          <p:cNvSpPr txBox="1"/>
          <p:nvPr/>
        </p:nvSpPr>
        <p:spPr>
          <a:xfrm>
            <a:off x="841248" y="4270248"/>
            <a:ext cx="10515600" cy="384048"/>
          </a:xfrm>
          <a:prstGeom prst="rect">
            <a:avLst/>
          </a:prstGeom>
          <a:noFill/>
        </p:spPr>
        <p:txBody>
          <a:bodyPr wrap="square" lIns="0" rIns="0" tIns="0" bIns="0" anchor="t">
            <a:spAutoFit/>
          </a:bodyPr>
          <a:lstStyle/>
          <a:p>
            <a:pPr algn="l">
              <a:lnSpc>
                <a:spcPct val="114000"/>
              </a:lnSpc>
              <a:spcAft>
                <a:spcPts val="500"/>
              </a:spcAft>
            </a:pPr>
            <a:r>
              <a:rPr sz="1800" b="1" lang="ja-JP">
                <a:solidFill>
                  <a:srgbClr val="3269AC"/>
                </a:solidFill>
                <a:latin typeface="Noto Sans CJK JP"/>
                <a:ea typeface="Noto Sans CJK JP"/>
                <a:hlinkClick r:id="rId7"/>
              </a:rPr>
              <a:t>研究室Windowsのセットアップ手順</a:t>
            </a:r>
          </a:p>
        </p:txBody>
      </p:sp>
      <p:sp>
        <p:nvSpPr>
          <p:cNvPr id="14" name="TextBox 13"/>
          <p:cNvSpPr txBox="1"/>
          <p:nvPr/>
        </p:nvSpPr>
        <p:spPr>
          <a:xfrm>
            <a:off x="841248" y="5010912"/>
            <a:ext cx="10378440" cy="347472"/>
          </a:xfrm>
          <a:prstGeom prst="rect">
            <a:avLst/>
          </a:prstGeom>
          <a:noFill/>
        </p:spPr>
        <p:txBody>
          <a:bodyPr wrap="square" lIns="0" rIns="0" tIns="0" bIns="0" anchor="t">
            <a:spAutoFit/>
          </a:bodyPr>
          <a:lstStyle/>
          <a:p>
            <a:pPr algn="l">
              <a:lnSpc>
                <a:spcPct val="114000"/>
              </a:lnSpc>
              <a:spcAft>
                <a:spcPts val="500"/>
              </a:spcAft>
            </a:pPr>
            <a:r>
              <a:rPr sz="1800" b="1" lang="ja-JP">
                <a:solidFill>
                  <a:srgbClr val="183440"/>
                </a:solidFill>
                <a:latin typeface="Noto Sans CJK JP"/>
                <a:ea typeface="Noto Sans CJK JP"/>
              </a:rPr>
              <a:t>B300：PyTorch 2.8.0+cu129 / CUDA 12.9 / Python 3.12.3</a:t>
            </a:r>
          </a:p>
        </p:txBody>
      </p:sp>
      <p:sp>
        <p:nvSpPr>
          <p:cNvPr id="15" name="TextBox 14"/>
          <p:cNvSpPr txBox="1"/>
          <p:nvPr/>
        </p:nvSpPr>
        <p:spPr>
          <a:xfrm>
            <a:off x="841248" y="5522976"/>
            <a:ext cx="10378440" cy="502920"/>
          </a:xfrm>
          <a:prstGeom prst="rect">
            <a:avLst/>
          </a:prstGeom>
          <a:noFill/>
        </p:spPr>
        <p:txBody>
          <a:bodyPr wrap="square" lIns="0" rIns="0" tIns="0" bIns="0" anchor="t">
            <a:spAutoFit/>
          </a:bodyPr>
          <a:lstStyle/>
          <a:p>
            <a:pPr algn="l">
              <a:lnSpc>
                <a:spcPct val="114000"/>
              </a:lnSpc>
              <a:spcAft>
                <a:spcPts val="500"/>
              </a:spcAft>
            </a:pPr>
            <a:r>
              <a:rPr sz="1500" b="0" lang="ja-JP">
                <a:solidFill>
                  <a:srgbClr val="5B707B"/>
                </a:solidFill>
                <a:latin typeface="Noto Sans CJK JP"/>
                <a:ea typeface="Noto Sans CJK JP"/>
              </a:rPr>
              <a:t>ソース・重みrevision・LoRA各448テンソルを検証。元NPZ・骨格JSON・WAV・時刻・usageを保存。</a:t>
            </a:r>
          </a:p>
          <a:p>
            <a:pPr algn="l">
              <a:lnSpc>
                <a:spcPct val="114000"/>
              </a:lnSpc>
              <a:spcAft>
                <a:spcPts val="500"/>
              </a:spcAft>
            </a:pPr>
            <a:r>
              <a:rPr sz="1500" b="0" lang="ja-JP">
                <a:solidFill>
                  <a:srgbClr val="5B707B"/>
                </a:solidFill>
                <a:latin typeface="Noto Sans CJK JP"/>
                <a:ea typeface="Noto Sans CJK JP"/>
              </a:rPr>
              <a:t>実装テスト：Python112件／JavaScript22件。ライブWebRTC＋ローカルGPUの連続対話は未検証。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実験報告</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付録：全18本のデモ動画をPowerPoint内に収録</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モデル名・画像をクリックすると、会話と共通5文の動画スライドへ移動</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[R2] audio-input-dialogue/*/demo.mp4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22</a:t>
            </a:r>
          </a:p>
        </p:txBody>
      </p:sp>
      <p:pic>
        <p:nvPicPr>
          <p:cNvPr id="9" name="Picture 8" descr="dialogue-kimodo.png">
            <a:hlinkClick action="ppaction://hlinksldjump" r:id="rId11"/>
          </p:cNvPr>
          <p:cNvPicPr>
            <a:picLocks noChangeAspect="1"/>
          </p:cNvPicPr>
          <p:nvPr/>
        </p:nvPicPr>
        <p:blipFill>
          <a:blip r:embed="rId3"/>
          <a:srcRect l="23000" t="20989" r="23000" b="29989"/>
          <a:stretch>
            <a:fillRect/>
          </a:stretch>
        </p:blipFill>
        <p:spPr>
          <a:xfrm>
            <a:off x="731520" y="2194560"/>
            <a:ext cx="2578608" cy="1316736"/>
          </a:xfrm>
          <a:prstGeom prst="rect">
            <a:avLst/>
          </a:prstGeom>
        </p:spPr>
      </p:pic>
      <p:sp>
        <p:nvSpPr>
          <p:cNvPr id="10" name="TextBox 9">
            <a:hlinkClick action="ppaction://hlinksldjump" r:id="rId11"/>
          </p:cNvPr>
          <p:cNvSpPr txBox="1"/>
          <p:nvPr/>
        </p:nvSpPr>
        <p:spPr>
          <a:xfrm>
            <a:off x="731520"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Kimodo</a:t>
            </a:r>
          </a:p>
        </p:txBody>
      </p:sp>
      <p:pic>
        <p:nvPicPr>
          <p:cNvPr id="11" name="Picture 10" descr="dialogue-ardy.png">
            <a:hlinkClick action="ppaction://hlinksldjump" r:id="rId12"/>
          </p:cNvPr>
          <p:cNvPicPr>
            <a:picLocks noChangeAspect="1"/>
          </p:cNvPicPr>
          <p:nvPr/>
        </p:nvPicPr>
        <p:blipFill>
          <a:blip r:embed="rId4"/>
          <a:srcRect l="23000" t="20989" r="23000" b="29989"/>
          <a:stretch>
            <a:fillRect/>
          </a:stretch>
        </p:blipFill>
        <p:spPr>
          <a:xfrm>
            <a:off x="3547872" y="2194560"/>
            <a:ext cx="2578608" cy="1316736"/>
          </a:xfrm>
          <a:prstGeom prst="rect">
            <a:avLst/>
          </a:prstGeom>
        </p:spPr>
      </p:pic>
      <p:sp>
        <p:nvSpPr>
          <p:cNvPr id="12" name="TextBox 11">
            <a:hlinkClick action="ppaction://hlinksldjump" r:id="rId12"/>
          </p:cNvPr>
          <p:cNvSpPr txBox="1"/>
          <p:nvPr/>
        </p:nvSpPr>
        <p:spPr>
          <a:xfrm>
            <a:off x="3547872"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ARDY</a:t>
            </a:r>
          </a:p>
        </p:txBody>
      </p:sp>
      <p:pic>
        <p:nvPicPr>
          <p:cNvPr id="13" name="Picture 12" descr="dialogue-motionlcm.png">
            <a:hlinkClick action="ppaction://hlinksldjump" r:id="rId13"/>
          </p:cNvPr>
          <p:cNvPicPr>
            <a:picLocks noChangeAspect="1"/>
          </p:cNvPicPr>
          <p:nvPr/>
        </p:nvPicPr>
        <p:blipFill>
          <a:blip r:embed="rId5"/>
          <a:srcRect l="23000" t="20989" r="23000" b="29989"/>
          <a:stretch>
            <a:fillRect/>
          </a:stretch>
        </p:blipFill>
        <p:spPr>
          <a:xfrm>
            <a:off x="6364224" y="2194560"/>
            <a:ext cx="2578608" cy="1316736"/>
          </a:xfrm>
          <a:prstGeom prst="rect">
            <a:avLst/>
          </a:prstGeom>
        </p:spPr>
      </p:pic>
      <p:sp>
        <p:nvSpPr>
          <p:cNvPr id="14" name="TextBox 13">
            <a:hlinkClick action="ppaction://hlinksldjump" r:id="rId13"/>
          </p:cNvPr>
          <p:cNvSpPr txBox="1"/>
          <p:nvPr/>
        </p:nvSpPr>
        <p:spPr>
          <a:xfrm>
            <a:off x="6364224"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MotionLCM</a:t>
            </a:r>
          </a:p>
        </p:txBody>
      </p:sp>
      <p:pic>
        <p:nvPicPr>
          <p:cNvPr id="15" name="Picture 14" descr="dialogue-momask.png">
            <a:hlinkClick action="ppaction://hlinksldjump" r:id="rId14"/>
          </p:cNvPr>
          <p:cNvPicPr>
            <a:picLocks noChangeAspect="1"/>
          </p:cNvPicPr>
          <p:nvPr/>
        </p:nvPicPr>
        <p:blipFill>
          <a:blip r:embed="rId6"/>
          <a:srcRect l="23000" t="20989" r="23000" b="29989"/>
          <a:stretch>
            <a:fillRect/>
          </a:stretch>
        </p:blipFill>
        <p:spPr>
          <a:xfrm>
            <a:off x="9180576" y="2194560"/>
            <a:ext cx="2578608" cy="1316736"/>
          </a:xfrm>
          <a:prstGeom prst="rect">
            <a:avLst/>
          </a:prstGeom>
        </p:spPr>
      </p:pic>
      <p:sp>
        <p:nvSpPr>
          <p:cNvPr id="16" name="TextBox 15">
            <a:hlinkClick action="ppaction://hlinksldjump" r:id="rId14"/>
          </p:cNvPr>
          <p:cNvSpPr txBox="1"/>
          <p:nvPr/>
        </p:nvSpPr>
        <p:spPr>
          <a:xfrm>
            <a:off x="9180576" y="3575304"/>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MoMask</a:t>
            </a:r>
          </a:p>
        </p:txBody>
      </p:sp>
      <p:pic>
        <p:nvPicPr>
          <p:cNvPr id="17" name="Picture 16" descr="dialogue-mmm.png">
            <a:hlinkClick action="ppaction://hlinksldjump" r:id="rId15"/>
          </p:cNvPr>
          <p:cNvPicPr>
            <a:picLocks noChangeAspect="1"/>
          </p:cNvPicPr>
          <p:nvPr/>
        </p:nvPicPr>
        <p:blipFill>
          <a:blip r:embed="rId7"/>
          <a:srcRect l="23000" t="20989" r="23000" b="29989"/>
          <a:stretch>
            <a:fillRect/>
          </a:stretch>
        </p:blipFill>
        <p:spPr>
          <a:xfrm>
            <a:off x="731520" y="4050791"/>
            <a:ext cx="2578608" cy="1316736"/>
          </a:xfrm>
          <a:prstGeom prst="rect">
            <a:avLst/>
          </a:prstGeom>
        </p:spPr>
      </p:pic>
      <p:sp>
        <p:nvSpPr>
          <p:cNvPr id="18" name="TextBox 17">
            <a:hlinkClick action="ppaction://hlinksldjump" r:id="rId15"/>
          </p:cNvPr>
          <p:cNvSpPr txBox="1"/>
          <p:nvPr/>
        </p:nvSpPr>
        <p:spPr>
          <a:xfrm>
            <a:off x="731520" y="5431536"/>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MMM</a:t>
            </a:r>
          </a:p>
        </p:txBody>
      </p:sp>
      <p:pic>
        <p:nvPicPr>
          <p:cNvPr id="19" name="Picture 18" descr="dialogue-reactmotion.png">
            <a:hlinkClick action="ppaction://hlinksldjump" r:id="rId16"/>
          </p:cNvPr>
          <p:cNvPicPr>
            <a:picLocks noChangeAspect="1"/>
          </p:cNvPicPr>
          <p:nvPr/>
        </p:nvPicPr>
        <p:blipFill>
          <a:blip r:embed="rId8"/>
          <a:srcRect l="23000" t="20989" r="23000" b="29989"/>
          <a:stretch>
            <a:fillRect/>
          </a:stretch>
        </p:blipFill>
        <p:spPr>
          <a:xfrm>
            <a:off x="3547872" y="4050791"/>
            <a:ext cx="2578608" cy="1316736"/>
          </a:xfrm>
          <a:prstGeom prst="rect">
            <a:avLst/>
          </a:prstGeom>
        </p:spPr>
      </p:pic>
      <p:sp>
        <p:nvSpPr>
          <p:cNvPr id="20" name="TextBox 19">
            <a:hlinkClick action="ppaction://hlinksldjump" r:id="rId16"/>
          </p:cNvPr>
          <p:cNvSpPr txBox="1"/>
          <p:nvPr/>
        </p:nvSpPr>
        <p:spPr>
          <a:xfrm>
            <a:off x="3547872" y="5431536"/>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ReactMotion（聞き手）</a:t>
            </a:r>
          </a:p>
        </p:txBody>
      </p:sp>
      <p:pic>
        <p:nvPicPr>
          <p:cNvPr id="21" name="Picture 20" descr="dialogue-maai.png">
            <a:hlinkClick action="ppaction://hlinksldjump" r:id="rId17"/>
          </p:cNvPr>
          <p:cNvPicPr>
            <a:picLocks noChangeAspect="1"/>
          </p:cNvPicPr>
          <p:nvPr/>
        </p:nvPicPr>
        <p:blipFill>
          <a:blip r:embed="rId9"/>
          <a:srcRect l="23000" t="20989" r="23000" b="29989"/>
          <a:stretch>
            <a:fillRect/>
          </a:stretch>
        </p:blipFill>
        <p:spPr>
          <a:xfrm>
            <a:off x="6364224" y="4050791"/>
            <a:ext cx="2578608" cy="1316736"/>
          </a:xfrm>
          <a:prstGeom prst="rect">
            <a:avLst/>
          </a:prstGeom>
        </p:spPr>
      </p:pic>
      <p:sp>
        <p:nvSpPr>
          <p:cNvPr id="22" name="TextBox 21">
            <a:hlinkClick action="ppaction://hlinksldjump" r:id="rId17"/>
          </p:cNvPr>
          <p:cNvSpPr txBox="1"/>
          <p:nvPr/>
        </p:nvSpPr>
        <p:spPr>
          <a:xfrm>
            <a:off x="6364224" y="5431536"/>
            <a:ext cx="2606040" cy="34747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MaAI（聞き手）</a:t>
            </a:r>
          </a:p>
        </p:txBody>
      </p:sp>
      <p:sp>
        <p:nvSpPr>
          <p:cNvPr id="23" name="TextBox 22">
            <a:hlinkClick action="ppaction://hlinksldjump" r:id="rId10"/>
          </p:cNvPr>
          <p:cNvSpPr txBox="1"/>
          <p:nvPr/>
        </p:nvSpPr>
        <p:spPr>
          <a:xfrm>
            <a:off x="9208008" y="4270248"/>
            <a:ext cx="2048256" cy="39319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B300比較へ</a:t>
            </a:r>
          </a:p>
        </p:txBody>
      </p:sp>
      <p:sp>
        <p:nvSpPr>
          <p:cNvPr id="24" name="TextBox 23">
            <a:hlinkClick action="ppaction://hlinksldjump" r:id="rId18"/>
          </p:cNvPr>
          <p:cNvSpPr txBox="1"/>
          <p:nvPr/>
        </p:nvSpPr>
        <p:spPr>
          <a:xfrm>
            <a:off x="9208008" y="4791456"/>
            <a:ext cx="2048256" cy="393192"/>
          </a:xfrm>
          <a:prstGeom prst="rect">
            <a:avLst/>
          </a:prstGeom>
          <a:noFill/>
        </p:spPr>
        <p:txBody>
          <a:bodyPr wrap="square" lIns="0" rIns="0" tIns="0" bIns="0" anchor="t">
            <a:spAutoFit/>
          </a:bodyPr>
          <a:lstStyle/>
          <a:p>
            <a:pPr algn="l">
              <a:lnSpc>
                <a:spcPct val="114000"/>
              </a:lnSpc>
              <a:spcAft>
                <a:spcPts val="500"/>
              </a:spcAft>
            </a:pPr>
            <a:r>
              <a:rPr sz="1500" b="1" lang="ja-JP">
                <a:solidFill>
                  <a:srgbClr val="3269AC"/>
                </a:solidFill>
                <a:latin typeface="Noto Sans CJK JP"/>
                <a:ea typeface="Noto Sans CJK JP"/>
              </a:rPr>
              <a:t>▶ 文分割デモへ</a:t>
            </a:r>
          </a:p>
        </p:txBody>
      </p:sp>
      <p:sp>
        <p:nvSpPr>
          <p:cNvPr id="25" name="TextBox 24"/>
          <p:cNvSpPr txBox="1"/>
          <p:nvPr/>
        </p:nvSpPr>
        <p:spPr>
          <a:xfrm>
            <a:off x="9208008" y="5321808"/>
            <a:ext cx="2048256" cy="365760"/>
          </a:xfrm>
          <a:prstGeom prst="rect">
            <a:avLst/>
          </a:prstGeom>
          <a:noFill/>
        </p:spPr>
        <p:txBody>
          <a:bodyPr wrap="square" lIns="0" rIns="0" tIns="0" bIns="0" anchor="t">
            <a:spAutoFit/>
          </a:bodyPr>
          <a:lstStyle/>
          <a:p>
            <a:pPr algn="l">
              <a:lnSpc>
                <a:spcPct val="114000"/>
              </a:lnSpc>
              <a:spcAft>
                <a:spcPts val="500"/>
              </a:spcAft>
            </a:pPr>
            <a:r>
              <a:rPr sz="1200" b="0" lang="ja-JP">
                <a:solidFill>
                  <a:srgbClr val="5B707B"/>
                </a:solidFill>
                <a:latin typeface="Noto Sans CJK JP"/>
                <a:ea typeface="Noto Sans CJK JP"/>
              </a:rPr>
              <a:t>動画はすべて埋め込み</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デモ動画：Kimodo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kimodo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23</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kimodo.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kimod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発話終了→動作完了観測：15.395秒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kimodo.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kimodo.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5区間の生成処理合計：51.409秒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デモ動画：ARDY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ardy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24</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ardy.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ardy.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発話終了→動作完了観測：187.660秒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ardy.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ardy.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5区間の生成処理合計：38.492秒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デモ動画：MotionLCM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motionlcm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25</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otionlcm.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otionlcm.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発話終了→動作完了観測：19.242秒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otionlcm.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otionlcm.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5区間の生成処理合計：0.570秒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デモ動画：MoMask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momask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26</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omask.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omask.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発話終了→動作完了観測：24.082秒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omask.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omask.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5区間の生成処理合計：1.512秒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デモ動画：MMM / 話し手の動作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mmm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27</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mm.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mm.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発話終了→動作完了観測：23.828秒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mm.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mm.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5区間の生成処理合計：0.757秒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デモ動画：ReactMotion / 聞き手の反応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reactmotion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28</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reactmotion.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reactmotion.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発話終了→動作完了観測：18.998秒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reactmotion.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reactmotion.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5区間の生成処理合計：2.597秒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デモ動画：MaAI / 聞き手の反応</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スライドショーで動画をクリックして再生。左右の動画は個別に再生できます。</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[R1・R2] maai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29</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生徒 → 先生の会話</a:t>
            </a:r>
          </a:p>
        </p:txBody>
      </p:sp>
      <p:pic>
        <p:nvPicPr>
          <p:cNvPr id="10" name="Picture 9" descr="dialogue-maai.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dialogue-maai.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発話終了→動作完了観測：19.606秒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共通の英語学習5区間</a:t>
            </a:r>
          </a:p>
        </p:txBody>
      </p:sp>
      <p:pic>
        <p:nvPicPr>
          <p:cNvPr id="15" name="Picture 14" descr="common-maai.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common-maai.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5区間の生成処理合計：8.063秒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38912" y="365760"/>
            <a:ext cx="73152" cy="320040"/>
          </a:xfrm>
          <a:prstGeom prst="rect">
            <a:avLst/>
          </a:prstGeom>
          <a:solidFill>
            <a:srgbClr val="007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881360" cy="292608"/>
          </a:xfrm>
          <a:prstGeom prst="rect">
            <a:avLst/>
          </a:prstGeom>
          <a:noFill/>
        </p:spPr>
        <p:txBody>
          <a:bodyPr wrap="square" lIns="0" rIns="0" tIns="0" bIns="0" anchor="t">
            <a:spAutoFit/>
          </a:bodyPr>
          <a:lstStyle/>
          <a:p>
            <a:pPr algn="l">
              <a:lnSpc>
                <a:spcPct val="114000"/>
              </a:lnSpc>
              <a:spcAft>
                <a:spcPts val="500"/>
              </a:spcAft>
            </a:pPr>
            <a:r>
              <a:rPr sz="1000" b="1" lang="ja-JP">
                <a:solidFill>
                  <a:srgbClr val="007F80"/>
                </a:solidFill>
                <a:latin typeface="Noto Sans CJK JP"/>
                <a:ea typeface="Noto Sans CJK JP"/>
              </a:rPr>
              <a:t>動画付録 / 全18本をスライド内で再生</a:t>
            </a:r>
          </a:p>
        </p:txBody>
      </p:sp>
      <p:sp>
        <p:nvSpPr>
          <p:cNvPr id="4" name="TextBox 3"/>
          <p:cNvSpPr txBox="1"/>
          <p:nvPr/>
        </p:nvSpPr>
        <p:spPr>
          <a:xfrm>
            <a:off x="612648" y="859536"/>
            <a:ext cx="10972800" cy="585216"/>
          </a:xfrm>
          <a:prstGeom prst="rect">
            <a:avLst/>
          </a:prstGeom>
          <a:noFill/>
        </p:spPr>
        <p:txBody>
          <a:bodyPr wrap="square" lIns="0" rIns="0" tIns="0" bIns="0" anchor="t">
            <a:spAutoFit/>
          </a:bodyPr>
          <a:lstStyle/>
          <a:p>
            <a:pPr algn="l">
              <a:lnSpc>
                <a:spcPct val="114000"/>
              </a:lnSpc>
              <a:spcAft>
                <a:spcPts val="500"/>
              </a:spcAft>
            </a:pPr>
            <a:r>
              <a:rPr sz="2900" b="1" lang="ja-JP">
                <a:solidFill>
                  <a:srgbClr val="183440"/>
                </a:solidFill>
                <a:latin typeface="Noto Sans CJK JP"/>
                <a:ea typeface="Noto Sans CJK JP"/>
              </a:rPr>
              <a:t>デモ動画：文ごとの発話・ジェスチャーを同期して連結</a:t>
            </a:r>
          </a:p>
        </p:txBody>
      </p:sp>
      <p:sp>
        <p:nvSpPr>
          <p:cNvPr id="5" name="TextBox 4"/>
          <p:cNvSpPr txBox="1"/>
          <p:nvPr/>
        </p:nvSpPr>
        <p:spPr>
          <a:xfrm>
            <a:off x="630936" y="1508760"/>
            <a:ext cx="10927080" cy="502920"/>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初期の文分割デモ：発話に合わせた英語の動作指示を使用した別条件の実験</a:t>
            </a:r>
          </a:p>
        </p:txBody>
      </p:sp>
      <p:sp>
        <p:nvSpPr>
          <p:cNvPr id="6" name="Rectangle 5"/>
          <p:cNvSpPr/>
          <p:nvPr/>
        </p:nvSpPr>
        <p:spPr>
          <a:xfrm>
            <a:off x="612648" y="6428232"/>
            <a:ext cx="10972800" cy="10972"/>
          </a:xfrm>
          <a:prstGeom prst="rect">
            <a:avLst/>
          </a:prstGeom>
          <a:solidFill>
            <a:srgbClr val="DCE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510528"/>
            <a:ext cx="9966960" cy="201168"/>
          </a:xfrm>
          <a:prstGeom prst="rect">
            <a:avLst/>
          </a:prstGeom>
          <a:noFill/>
        </p:spPr>
        <p:txBody>
          <a:bodyPr wrap="square" lIns="0" rIns="0" tIns="0" bIns="0" anchor="t">
            <a:spAutoFit/>
          </a:bodyPr>
          <a:lstStyle/>
          <a:p>
            <a:pPr algn="l">
              <a:lnSpc>
                <a:spcPct val="114000"/>
              </a:lnSpc>
              <a:spcAft>
                <a:spcPts val="500"/>
              </a:spcAft>
            </a:pPr>
            <a:r>
              <a:rPr sz="800" b="0" lang="ja-JP">
                <a:solidFill>
                  <a:srgbClr val="5B707B"/>
                </a:solidFill>
                <a:latin typeface="Noto Sans CJK JP"/>
                <a:ea typeface="Noto Sans CJK JP"/>
              </a:rPr>
              <a:t>[R7] segmented/english-lesson* / AvatarSample_VRM1.0・pixiv VRoid Project</a:t>
            </a:r>
          </a:p>
        </p:txBody>
      </p:sp>
      <p:sp>
        <p:nvSpPr>
          <p:cNvPr id="8" name="TextBox 7"/>
          <p:cNvSpPr txBox="1"/>
          <p:nvPr/>
        </p:nvSpPr>
        <p:spPr>
          <a:xfrm>
            <a:off x="10972800" y="6473952"/>
            <a:ext cx="502920" cy="274320"/>
          </a:xfrm>
          <a:prstGeom prst="rect">
            <a:avLst/>
          </a:prstGeom>
          <a:noFill/>
        </p:spPr>
        <p:txBody>
          <a:bodyPr wrap="square" lIns="0" rIns="0" tIns="0" bIns="0" anchor="t">
            <a:spAutoFit/>
          </a:bodyPr>
          <a:lstStyle/>
          <a:p>
            <a:pPr algn="r">
              <a:lnSpc>
                <a:spcPct val="114000"/>
              </a:lnSpc>
              <a:spcAft>
                <a:spcPts val="500"/>
              </a:spcAft>
            </a:pPr>
            <a:r>
              <a:rPr sz="1100" b="0" lang="ja-JP">
                <a:solidFill>
                  <a:srgbClr val="5B707B"/>
                </a:solidFill>
                <a:latin typeface="Noto Sans CJK JP"/>
                <a:ea typeface="Noto Sans CJK JP"/>
              </a:rPr>
              <a:t>30</a:t>
            </a:r>
          </a:p>
        </p:txBody>
      </p:sp>
      <p:sp>
        <p:nvSpPr>
          <p:cNvPr id="9" name="TextBox 8"/>
          <p:cNvSpPr txBox="1"/>
          <p:nvPr/>
        </p:nvSpPr>
        <p:spPr>
          <a:xfrm>
            <a:off x="694944"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Kimodo / 公式オンライン</a:t>
            </a:r>
          </a:p>
        </p:txBody>
      </p:sp>
      <p:pic>
        <p:nvPicPr>
          <p:cNvPr id="10" name="Picture 9" descr="segmented-english-lesson.png"/>
          <p:cNvPicPr>
            <a:picLocks noChangeAspect="1"/>
          </p:cNvPicPr>
          <p:nvPr/>
        </p:nvPicPr>
        <p:blipFill>
          <a:blip r:embed="rId3"/>
          <a:srcRect t="2" b="2"/>
          <a:stretch>
            <a:fillRect/>
          </a:stretch>
        </p:blipFill>
        <p:spPr>
          <a:xfrm>
            <a:off x="694944" y="2560320"/>
            <a:ext cx="5239512" cy="2947111"/>
          </a:xfrm>
          <a:prstGeom prst="rect">
            <a:avLst/>
          </a:prstGeom>
        </p:spPr>
      </p:pic>
      <p:pic>
        <p:nvPicPr>
          <p:cNvPr id="11" name="segmented-english-lesson.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694944" y="2560320"/>
            <a:ext cx="5239512" cy="2947111"/>
          </a:xfrm>
          <a:prstGeom prst="rect">
            <a:avLst/>
          </a:prstGeom>
        </p:spPr>
      </p:pic>
      <p:sp>
        <p:nvSpPr>
          <p:cNvPr id="12" name="TextBox 11"/>
          <p:cNvSpPr txBox="1"/>
          <p:nvPr/>
        </p:nvSpPr>
        <p:spPr>
          <a:xfrm>
            <a:off x="694944"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5区間を連結・音声付き・14.133秒</a:t>
            </a:r>
          </a:p>
        </p:txBody>
      </p:sp>
      <p:sp>
        <p:nvSpPr>
          <p:cNvPr id="13" name="TextBox 12"/>
          <p:cNvSpPr txBox="1"/>
          <p:nvPr/>
        </p:nvSpPr>
        <p:spPr>
          <a:xfrm>
            <a:off x="694944"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6"/>
              </a:rPr>
              <a:t>▶ MP4を直接開く（補助リンク）</a:t>
            </a:r>
          </a:p>
        </p:txBody>
      </p:sp>
      <p:sp>
        <p:nvSpPr>
          <p:cNvPr id="14" name="TextBox 13"/>
          <p:cNvSpPr txBox="1"/>
          <p:nvPr/>
        </p:nvSpPr>
        <p:spPr>
          <a:xfrm>
            <a:off x="6254496" y="2002536"/>
            <a:ext cx="5239512" cy="356616"/>
          </a:xfrm>
          <a:prstGeom prst="rect">
            <a:avLst/>
          </a:prstGeom>
          <a:noFill/>
        </p:spPr>
        <p:txBody>
          <a:bodyPr wrap="square" lIns="0" rIns="0" tIns="0" bIns="0" anchor="t">
            <a:spAutoFit/>
          </a:bodyPr>
          <a:lstStyle/>
          <a:p>
            <a:pPr algn="l">
              <a:lnSpc>
                <a:spcPct val="114000"/>
              </a:lnSpc>
              <a:spcAft>
                <a:spcPts val="500"/>
              </a:spcAft>
            </a:pPr>
            <a:r>
              <a:rPr sz="2000" b="1" lang="ja-JP">
                <a:solidFill>
                  <a:srgbClr val="007F80"/>
                </a:solidFill>
                <a:latin typeface="Noto Sans CJK JP"/>
                <a:ea typeface="Noto Sans CJK JP"/>
              </a:rPr>
              <a:t>ARDY / Horizon40</a:t>
            </a:r>
          </a:p>
        </p:txBody>
      </p:sp>
      <p:pic>
        <p:nvPicPr>
          <p:cNvPr id="15" name="Picture 14" descr="segmented-english-lesson-ardy.png"/>
          <p:cNvPicPr>
            <a:picLocks noChangeAspect="1"/>
          </p:cNvPicPr>
          <p:nvPr/>
        </p:nvPicPr>
        <p:blipFill>
          <a:blip r:embed="rId7"/>
          <a:srcRect t="2" b="2"/>
          <a:stretch>
            <a:fillRect/>
          </a:stretch>
        </p:blipFill>
        <p:spPr>
          <a:xfrm>
            <a:off x="6254496" y="2560320"/>
            <a:ext cx="5239512" cy="2947111"/>
          </a:xfrm>
          <a:prstGeom prst="rect">
            <a:avLst/>
          </a:prstGeom>
        </p:spPr>
      </p:pic>
      <p:pic>
        <p:nvPicPr>
          <p:cNvPr id="16" name="segmented-english-lesson-ardy.mp4">
            <a:hlinkClick r:id="" action="ppaction://media"/>
          </p:cNvPr>
          <p:cNvPicPr>
            <a:picLocks noChangeAspect="1"/>
          </p:cNvPicPr>
          <p:nvPr>
            <a:videoFile r:link="rId9"/>
            <p:extLst>
              <p:ext uri="{DAA4B4D4-6D71-4841-9C94-3DE7FCFB9230}">
                <p14:media xmlns:p14="http://schemas.microsoft.com/office/powerpoint/2010/main" r:embed="rId8"/>
              </p:ext>
            </p:extLst>
          </p:nvPr>
        </p:nvPicPr>
        <p:blipFill>
          <a:blip r:embed="rId7"/>
          <a:stretch>
            <a:fillRect/>
          </a:stretch>
        </p:blipFill>
        <p:spPr>
          <a:xfrm>
            <a:off x="6254496" y="2560320"/>
            <a:ext cx="5239512" cy="2947111"/>
          </a:xfrm>
          <a:prstGeom prst="rect">
            <a:avLst/>
          </a:prstGeom>
        </p:spPr>
      </p:pic>
      <p:sp>
        <p:nvSpPr>
          <p:cNvPr id="17" name="TextBox 16"/>
          <p:cNvSpPr txBox="1"/>
          <p:nvPr/>
        </p:nvSpPr>
        <p:spPr>
          <a:xfrm>
            <a:off x="6254496" y="5614416"/>
            <a:ext cx="5239512" cy="310896"/>
          </a:xfrm>
          <a:prstGeom prst="rect">
            <a:avLst/>
          </a:prstGeom>
          <a:noFill/>
        </p:spPr>
        <p:txBody>
          <a:bodyPr wrap="square" lIns="0" rIns="0" tIns="0" bIns="0" anchor="t">
            <a:spAutoFit/>
          </a:bodyPr>
          <a:lstStyle/>
          <a:p>
            <a:pPr algn="l">
              <a:lnSpc>
                <a:spcPct val="114000"/>
              </a:lnSpc>
              <a:spcAft>
                <a:spcPts val="500"/>
              </a:spcAft>
            </a:pPr>
            <a:r>
              <a:rPr sz="1400" b="0" lang="ja-JP">
                <a:solidFill>
                  <a:srgbClr val="5B707B"/>
                </a:solidFill>
                <a:latin typeface="Noto Sans CJK JP"/>
                <a:ea typeface="Noto Sans CJK JP"/>
              </a:rPr>
              <a:t>5区間を連結・音声付き・14.133秒</a:t>
            </a:r>
          </a:p>
        </p:txBody>
      </p:sp>
      <p:sp>
        <p:nvSpPr>
          <p:cNvPr id="18" name="TextBox 17"/>
          <p:cNvSpPr txBox="1"/>
          <p:nvPr/>
        </p:nvSpPr>
        <p:spPr>
          <a:xfrm>
            <a:off x="6254496" y="6025896"/>
            <a:ext cx="3840480" cy="256032"/>
          </a:xfrm>
          <a:prstGeom prst="rect">
            <a:avLst/>
          </a:prstGeom>
          <a:noFill/>
        </p:spPr>
        <p:txBody>
          <a:bodyPr wrap="square" lIns="0" rIns="0" tIns="0" bIns="0" anchor="t">
            <a:spAutoFit/>
          </a:bodyPr>
          <a:lstStyle/>
          <a:p>
            <a:pPr algn="l">
              <a:lnSpc>
                <a:spcPct val="114000"/>
              </a:lnSpc>
              <a:spcAft>
                <a:spcPts val="500"/>
              </a:spcAft>
            </a:pPr>
            <a:r>
              <a:rPr sz="1100" b="0" lang="ja-JP">
                <a:solidFill>
                  <a:srgbClr val="3269AC"/>
                </a:solidFill>
                <a:latin typeface="Noto Sans CJK JP"/>
                <a:ea typeface="Noto Sans CJK JP"/>
                <a:hlinkClick r:id="rId10"/>
              </a:rPr>
              <a:t>▶ MP4を直接開く（補助リンク）</a:t>
            </a:r>
          </a:p>
        </p:txBody>
      </p:sp>
      <p:sp>
        <p:nvSpPr>
          <p:cNvPr id="19" name="TextBox 18">
            <a:hlinkClick action="ppaction://hlinksldjump" r:id="rId11"/>
          </p:cNvPr>
          <p:cNvSpPr txBox="1"/>
          <p:nvPr/>
        </p:nvSpPr>
        <p:spPr>
          <a:xfrm>
            <a:off x="9354312" y="6025896"/>
            <a:ext cx="2011680" cy="274320"/>
          </a:xfrm>
          <a:prstGeom prst="rect">
            <a:avLst/>
          </a:prstGeom>
          <a:noFill/>
        </p:spPr>
        <p:txBody>
          <a:bodyPr wrap="square" lIns="0" rIns="0" tIns="0" bIns="0" anchor="t">
            <a:spAutoFit/>
          </a:bodyPr>
          <a:lstStyle/>
          <a:p>
            <a:pPr algn="r">
              <a:lnSpc>
                <a:spcPct val="114000"/>
              </a:lnSpc>
              <a:spcAft>
                <a:spcPts val="500"/>
              </a:spcAft>
            </a:pPr>
            <a:r>
              <a:rPr sz="1200" b="1" lang="ja-JP">
                <a:solidFill>
                  <a:srgbClr val="3269AC"/>
                </a:solidFill>
                <a:latin typeface="Noto Sans CJK JP"/>
                <a:ea typeface="Noto Sans CJK JP"/>
              </a:rPr>
              <a:t>← 動画目次へ</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video>
              <p:cMediaNode vol="80000">
                <p:cTn id="3" fill="hold" display="0">
                  <p:stCondLst>
                    <p:cond delay="indefinite"/>
                  </p:stCondLst>
                </p:cTn>
                <p:tgtEl>
                  <p:spTgt spid="1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音声対話 × Text-to-Motion × VRM — 実験報告</dc:title>
  <dc:subject>7モデル比較・Kimodo B300検証・応答遅延・費用・研究室PCへの展開</dc:subject>
  <dc:creator>textToMotion experiment report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