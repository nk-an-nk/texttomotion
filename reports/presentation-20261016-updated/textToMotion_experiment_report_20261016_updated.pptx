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音声対話 × Text-to-Motion × VRM</a:t>
            </a:r>
          </a:p>
          <a:p/>
          <a:p>
            <a:r>
              <a:t>既存の実推論・音声入力・動画・CSVを再集計した報告。追加のGPU課金やモデル推論は実施していない。実験日の原記録はUTC、報告日は日本時間。</a:t>
            </a:r>
          </a:p>
          <a:p/>
          <a:p>
            <a:r>
              <a:t>出典: 報告日 2026-10-16（日本時間） / nk-an-nk/textToMotion /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生成単体の高速化は確認。会話の待ち時間には課題が残る</a:t>
            </a:r>
          </a:p>
          <a:p/>
          <a:p>
            <a:r>
              <a:t>MotionLCMはRTX4090で初回を除く4つの異なる区間の中央値。Kimodoの0.435秒はB300、149フレーム、3反復の中央値。3.252秒は別の実音声入力会話1回の値であり、同じ統計量や実行条件ではない。</a:t>
            </a:r>
          </a:p>
          <a:p/>
          <a:p>
            <a:r>
              <a:t>出典: [R1] common/*/motion-generation.json  [R3] benchmark/summary.json  [R4] dialogue-times.csv</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目標は、音声の返答と上半身ジェスチャーをそろえること</a:t>
            </a:r>
          </a:p>
          <a:p/>
          <a:p>
            <a:r>
              <a:t>学生は録音済み合成音声を実時間で送信。生マイクの連続会話や自由回答の試験ではない。基準時刻は生徒の発話終了。教師の全文を受信してから動作を生成し、教師音声は骨格受信まで保留する。</a:t>
            </a:r>
          </a:p>
          <a:p/>
          <a:p>
            <a:r>
              <a:t>出典: [R2] audio-response-times.csv  [R4] dialogue-*/measurement.json</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7モデルを実生成。出力する役割が異なるモデルを含む</a:t>
            </a:r>
          </a:p>
          <a:p/>
          <a:p>
            <a:r>
              <a:t>text-to-vrmaはARDYを用いる変換・後処理経路であり独立した動作モデルではない。公式Node関数と形式変換は確認したが、今回の7モデル実測に実生成データは含まない。MaAIは生徒音声を使い、ReactMotionは会話デモで生徒の認識文を使う。</a:t>
            </a:r>
          </a:p>
          <a:p/>
          <a:p>
            <a:r>
              <a:t>出典: [R1] common-input-times.csv  [R2] README.md  [R8] model_compatibility.md</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研究室PCの制約を意識しつつ、GPU環境を段階的に拡張</a:t>
            </a:r>
          </a:p>
          <a:p/>
          <a:p>
            <a:r>
              <a:t>RTX4090はCPUスレッドとaffinityを8に設定、PyTorch allocator上限を12227MiBに設定。GPU自体は24GBであり12GB GPUそのものではない。RAM32GBのハード上限は未設定。B300はCPU推論8スレッド、ホスト可視192論理CPUを割当コア数と混同しない。API観測の割当は24vCPUと251GB。Kimodoの旧共通5文は4090ではなく公式オンラインL40S表示の経路。</a:t>
            </a:r>
          </a:p>
          <a:p/>
          <a:p>
            <a:r>
              <a:t>出典: [R5] reproducibility/hardware.json  [R6] benchmark/hardware.json  docs/windows_lab.md</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共通の英語学習5区間と、生徒→先生の短い会話を使用</a:t>
            </a:r>
          </a:p>
          <a:p/>
          <a:p>
            <a:r>
              <a:t>共通5文の後期比較は原文をそのまま使用。最初期の文分割デモは発話に合わせた英語動作命令を使っており、その結果を後期共通入力と混同しない。ReactMotionとMaAIは聞き手として評価。会話の教師返答は固定しており自由回答の試験ではない。</a:t>
            </a:r>
          </a:p>
          <a:p/>
          <a:p>
            <a:r>
              <a:t>出典: [R1] common-input-times.csv  [R2] audio-input-dialogue/*/measurement.json</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計測を3段階に分け、Realtimeとの差を明確に定義</a:t>
            </a:r>
          </a:p>
          <a:p/>
          <a:p>
            <a:r>
              <a:t>T_audioは生徒発話終了から最初の教師音声チャンク受信まで。T_boneは同じ起点から骨格受信または動作完了観測まで。差はT_bone−T_audio。スピーカー再生の物理遅延、口形の音素一致、運動品質の誤差ではない。動画では両方を同一フレームで開始するよう音声を保留。MP4書き出しはCPU処理。</a:t>
            </a:r>
          </a:p>
          <a:p/>
          <a:p>
            <a:r>
              <a:t>出典: [R1–R4] 計測CSV・measurement.json / docs/audio_input_comparison.md</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共通5区間の記録：生成処理と動画化を別々に保存</a:t>
            </a:r>
          </a:p>
          <a:p/>
          <a:p>
            <a:r>
              <a:t>Kimodoは公式オンラインでテキスト処理と通信を含む骨格取得時間。ARDYはCPUテキスト特徴を事前計算し、その実処理時間をCUDA生成に加算した。モデルロードは別、会話版では実際に受け取った教師全文からエンコードする。MaAIは同じ発話の音声を使う。描画はCPU SwiftShaderで一部並行実行。UTC入力→MP4経過時間は待ちや再描画が入るため速度比較に使わない。</a:t>
            </a:r>
          </a:p>
          <a:p/>
          <a:p>
            <a:r>
              <a:t>出典: [R1] common-input-times.csv / 値は各5区間の合計</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同じRTX 4090・入力5区間ではMotionLCMが最短</a:t>
            </a:r>
          </a:p>
          <a:p/>
          <a:p>
            <a:r>
              <a:t>MotionLCM 0.0388537359秒、MMM 0.0607730370秒、MoMask 0.2023586521秒。これは同一文の反復中央値ではなく異なる4文の中央値。初回区間は40フレームで0.414、0.527、0.705秒。GPUピークはTorch allocated値で全デバイス使用量や必要VRAMの保証ではない。各モデルの意味適合性・品質は未採点。</a:t>
            </a:r>
          </a:p>
          <a:p/>
          <a:p>
            <a:r>
              <a:t>出典: [R1] common/{motionlcm,mmm,momask}/segments/*/motion-generation.json</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従来の会話経路では、起動・中継の待ちが大きかった</a:t>
            </a:r>
          </a:p>
          <a:p/>
          <a:p>
            <a:r>
              <a:t>完了観測の時間は純粋な骨格生成ではない。ローカルGPU経路は起動とモデルロード、RPC、最大5秒の完了ポーリング等を含む。ARDYは言語モデルの読込・CPUエンコードも実施。Realtime接続の旧3秒終了待ちもある。Kimodoは公式オンラインである。ReactMotion/MaAIの聞き手反応を先生のジェスチャー品質ランキングに使わない。</a:t>
            </a:r>
          </a:p>
          <a:p/>
          <a:p>
            <a:r>
              <a:t>出典: [R2] audio-response-times.csv / Kimodoは公式オンライン、他はRTX 4090</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Kimodo / B300：20ステップでは生成単体が1秒未満</a:t>
            </a:r>
          </a:p>
          <a:p/>
          <a:p>
            <a:r>
              <a:t>各設定を1回ウォームアップ後、seed0/1/2で計測。毎回テキスト特徴を再計算。入力処理、CUDA生成・復元、CPU転送、上半身JSON化まで含む。モデルロード・ネットワーク・動画化は除く。動作モデルfloat32、テキストエンコーダーbfloat16。TF32は許可設定であり全カーネルがTF32とは断定しない。torch.compileは使用せず、後処理も無効。100→20ステップの品質・FIDは未評価。</a:t>
            </a:r>
          </a:p>
          <a:p/>
          <a:p>
            <a:r>
              <a:t>出典: [R3] benchmark/summary.json・hardware.json / Kimodo-SOMA-RP-v1</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B300でも、骨格が届くまでの追加待ちは約3.25秒</a:t>
            </a:r>
          </a:p>
          <a:p/>
          <a:p>
            <a:r>
              <a:t>高速経路は最初の音声0.685386秒、全文1.673376秒、生成送信1.782977秒、骨格受信3.936996秒。追加待ち3.251610秒。内訳は全文待ち0.987990秒、送信まで0.109601秒、生成0.496237秒、中継・通知・保存用NPZ等を含む残差1.657782秒。残差は純粋なネットワーク遅延ではない。生成した長さは通常144frames/4.8秒、高速162frames/5.4秒で、前スライドの149framesとは別実行。GPUと常駐化、接続終了待ち短縮等を同時に変えており、旧15.395秒からの変化をGPUだけの効果とは扱わない。</a:t>
            </a:r>
          </a:p>
          <a:p/>
          <a:p>
            <a:r>
              <a:t>出典: [R4] dialogue-{fp32-100,tf32-20}/measurement.json / 各1回・同一クライアント時計</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上半身・正面1080pのデモで、実測した待ち時間を確認</a:t>
            </a:r>
          </a:p>
          <a:p/>
          <a:p>
            <a:r>
              <a:t>この動画は実測した待ち時間を再現するオフライン再生でありライブ録画ではない。音声は実際のRealtime応答、動作は受信した全文から実生成。発話と動作を同一フレームにそろえて開始する。動画内の表示時刻と30fpsの切り上げにより、実再生開始は通常5.00秒、高速3.9667秒。PowerPointでは2本のMP4を埋め込む。PDFは静止画プレビューで音声動画は同梱MP4またはindex.htmlを使用。</a:t>
            </a:r>
          </a:p>
          <a:p/>
          <a:p>
            <a:r>
              <a:t>出典: [R4] video-{fp32-100,tf32-20}/demo.mp4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文ごとに発話・動作を同期し、連結する経路を実装</a:t>
            </a:r>
          </a:p>
          <a:p/>
          <a:p>
            <a:r>
              <a:t>初期の分割デモでは発話に対応する英語動作指示を使用。Kimodo骨格合計72.91秒、音声25.32秒、描画237.03秒、成功処理335.27秒。ARDY Horizon40コミュニティSpaceは骨格115.29秒、描画1038.91秒、成功処理1154.20秒、最初の入力からMP4完成1219.86秒。これらは後期Core8/4090の共通原文比較と異なる。区間音声の開始位置はPCM検査で0サンプル差。短い音声の区間はモデル最短長の骨格を生成して再生速度を調整、元骨格を保持。B300は全77関節を生成後、上半身67関節を抽出。腰・脚の表示を固定するため上半身専用モデルへの高速化ではない。</a:t>
            </a:r>
          </a:p>
          <a:p/>
          <a:p>
            <a:r>
              <a:t>出典: [R7] segmented/english-lesson*/README.md  [R4] B300 README.md</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B300の1会話は約5円相当。ただし借りている間は連続課金</a:t>
            </a:r>
          </a:p>
          <a:p/>
          <a:p>
            <a:r>
              <a:t>GPU料金は生徒音声入力開始から骨格受信までの約6.8725秒/5.8374秒を時間換算。骨格生成単体だけの費用0.97円/0.25円を総費用とは扱わない。Realtimeはinput text89/audio19、output text38/audio96（通常）、output text61/audio108（高速）。100万tokenあたりtext input$4/output$24/audio input$32/output$64。reasoning23tokensはoutput text61に含まれる内訳として二重加算しない。料金確認2026-10-15、確定請求額は未取得。ASR・ストレージ・起動・待機・動画化は合計から除外。研究用の録音済み入力作成費用も1会話の見積もりに含まない。</a:t>
            </a:r>
          </a:p>
          <a:p/>
          <a:p>
            <a:r>
              <a:t>出典: [R4] usage・入力開始〜骨格受信  [R9] trial-cleanup.json  [P1] OpenAI公式モデル料金</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研究室PCでは、小型モデルから常駐実行を検証する</a:t>
            </a:r>
          </a:p>
          <a:p/>
          <a:p>
            <a:r>
              <a:t>SSH・WSL・Dockerを前提としないWindowsネイティブ手順。Python/Node/FFmpeg/BuildToolsを事前チェックし、専用venvと固定ソースを用いる。現物Windows/5070のビルドと実推論は未検証。Torchピークだけで必要VRAMを保証しない。KimodoのGPUテキストエンコーダー込み15.3GiB構成は12GBに収まらない。CPUテキストエンコーダーは公式に提供されるがCPU待ちが増える可能性があり5070で再測定する。初回loadやRAM容量、Blackwell対応CUDAビルドも確認が必要。</a:t>
            </a:r>
          </a:p>
          <a:p/>
          <a:p>
            <a:r>
              <a:t>出典: docs/windows_lab.md / configs/lab-windows.json / [R1][R3] VRAM記録</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論文の順位との比較は限定的。品質を含む優劣は未確定</a:t>
            </a:r>
          </a:p>
          <a:p/>
          <a:p>
            <a:r>
              <a:t>MoSCo表はユーザーが提示した紹介画像から引用。原論文Table1の独立再検証や全14モデルの再現ではない。画像のAITSはMotionLCM0.030秒、MoMask0.120秒、RTX4090/HumanML3D。今回の初回を除く4文の中央値では0.039秒/0.202秒で順序は同じだが条件や統計量が違う。MoSCo本体、TEMOS、MotionMamba等は実行していない。FIDを今回の日本語会話ジェスチャーにそのまま適用して順位を決めない。</a:t>
            </a:r>
          </a:p>
          <a:p/>
          <a:p>
            <a:r>
              <a:t>出典: [U1] ユーザー提示のMoSCo紹介画像（Table 1）  [R1] MotionLCM・MoMask実測</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次は常駐・短区間化と、品質評価を組み合わせる</a:t>
            </a:r>
          </a:p>
          <a:p/>
          <a:p>
            <a:r>
              <a:t>達成済みと未達を明示。B300で生成単体1秒未満は確認したが、会話での差は3.252秒。次の仮説はモデル常駐の徹底、全文完了前の短い意味区間での開始、Jupyter中継から直接サービスへの変更、保存用NPZ転送を同期経路から外す。これらの効果は未測定。複数音声・複数seed・反復回数を増やして品質とp50/p95を測り、5070Windows実機と同条件に近づける。</a:t>
            </a:r>
          </a:p>
          <a:p/>
          <a:p>
            <a:r>
              <a:t>出典: 判断根拠：[R1–R4] / 右の施策は提案であり、達成時間の予測ではない</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付録：初期調査からの到達点と、未測定の経路</a:t>
            </a:r>
          </a:p>
          <a:p/>
          <a:p>
            <a:r>
              <a:t>初期CPU環境では9モデルを調査しARDY無条件CPUとKimodo公式オンラインの動作指示を実行。後続でARDY Horizon40のテキスト条件付き生成、Core8のGPU実生成、7モデル比較とB300Kimodoを追加した。初期のStage3未達という表記は初期日付の範囲。会話内容の意味に合った自然なジェスチャーの品質検証は引き続き未達。text-to-vrmaは形式変換fixtureをモデル生成成功に数えない。</a:t>
            </a:r>
          </a:p>
          <a:p/>
          <a:p>
            <a:r>
              <a:t>出典: [R7] segmented/english-lesson*/README.md  [R8] execution_results.md・model_compatibility.md</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付録：初期の文分割デモは、発話に合わせた動作指示を使用</a:t>
            </a:r>
          </a:p>
          <a:p/>
          <a:p>
            <a:r>
              <a:t>Kimodoは公式オンライン、ARDYはHorizon40の公開コミュニティSpace。両方とも原発話そのままではなく発話に合わせた英語動作指示を使用。ARDYの音声は既存のKimodo音声を共有し、追加OpenAI音声生成は0回。各動画は14.133秒、424フレーム、1080p/30fps。最短長制約を満たす新規骨格を生成し再生速度を調整した区間がある。これはライブ会話の待ち時間ではない。</a:t>
            </a:r>
          </a:p>
          <a:p/>
          <a:p>
            <a:r>
              <a:t>出典: [R7] reports/segmented/english-lesson*/README.md / 成功処理の合計</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付録：計測原本・固定バージョン・再現手順</a:t>
            </a:r>
          </a:p>
          <a:p/>
          <a:p>
            <a:r>
              <a:t>R1=reports/model-comparison/runpod-20261014/common-input-times.csvと各生成JSON。R2=同audio-response-times.csvと各measurement.json。R3=reports/kimodo-b300-20261015/benchmark/summary.json/hardware.json。R4=同dialogue-times.csvとdialogue-*/measurement.json/video-*/demo.mp4。R5=旧reproducibility/hardware.json/source-and-weights.json。R6=B300environment.json/benchmark/hardware.json。R7=reports/segmented/english-lesson*/README.md。R8=reports/execution_results.md/model_compatibility.md。R9=両試験trial-cleanup.json。U1=ユーザー提示のMoSCo紹介画像（原論文独立検証なし）。P1=OpenAIのgpt-realtime-2.1公式モデルページ、2026-10-15に料金確認。B300ソース58e781898b3d7e328a676a75d3e338c45dce3ad9、checkpoint revision defbe1f34f5fd031eb0ccfe19f3f92a9880c287b。MNTPとsupervisedの各448tensor照合を通った経路のみ報告値に使用。学習済み重みとVRM本体は資料へ再配布していない。</a:t>
            </a:r>
          </a:p>
          <a:p/>
          <a:p>
            <a:r>
              <a:t>出典: 原本はGitのworkブランチ。再集計値・費用式は同梱measurements.json。</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付録：全18本のデモ動画をPowerPoint内に収録</a:t>
            </a:r>
          </a:p>
          <a:p/>
          <a:p>
            <a:r>
              <a:t>7モデルの会話と共通5文で14本、B300比較2本、初期の文分割2本の全18本をPPTX内に埋め込む。画像は外部MP4へのリンクではなく埋め込み動画スライドへの移動。会話動画は実音声入力と実モデル生成の計測値を再現するオフライン再生。実マイクのライブ録画ではない。ARDYは187秒の待ちが含まれる。ReactMotionとMaAIは聞き手。MaAIは今回の挨拶では最大p_nod0.3219で0.5閾値を超えず、うなずきイベントを追加していない。</a:t>
            </a:r>
          </a:p>
          <a:p/>
          <a:p>
            <a:r>
              <a:t>出典: [R2] audio-input-dialogue/*/demo.mp4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デモ動画：Kimodo / 話し手の動作</a:t>
            </a:r>
          </a:p>
          <a:p/>
          <a:p>
            <a:r>
              <a:t>Kimodo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kimodo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デモ動画：ARDY / 話し手の動作</a:t>
            </a:r>
          </a:p>
          <a:p/>
          <a:p>
            <a:r>
              <a:t>ARDY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ardy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デモ動画：MotionLCM / 話し手の動作</a:t>
            </a:r>
          </a:p>
          <a:p/>
          <a:p>
            <a:r>
              <a:t>MotionLCM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motionlcm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デモ動画：MoMask / 話し手の動作</a:t>
            </a:r>
          </a:p>
          <a:p/>
          <a:p>
            <a:r>
              <a:t>MoMask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momask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デモ動画：MMM / 話し手の動作</a:t>
            </a:r>
          </a:p>
          <a:p/>
          <a:p>
            <a:r>
              <a:t>MMM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mmm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デモ動画：ReactMotion / 聞き手の反応</a:t>
            </a:r>
          </a:p>
          <a:p/>
          <a:p>
            <a:r>
              <a:t>ReactMotion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reactmotion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デモ動画：MaAI / 聞き手の反応</a:t>
            </a:r>
          </a:p>
          <a:p/>
          <a:p>
            <a:r>
              <a:t>MaAI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maai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デモ動画：文ごとの発話・ジェスチャーを同期して連結</a:t>
            </a:r>
          </a:p>
          <a:p/>
          <a:p>
            <a:r>
              <a:t>KimodoとARDY Horizon40の初期文分割動画を全編埋め込み。音声を共有し各区間の発話とジェスチャーを同じフレームで開始して連結した。後期の共通原文5区間比較とは入力と生成経路が異なる。2本とも既存の14.133秒、424フレームの完成動画。</a:t>
            </a:r>
          </a:p>
          <a:p/>
          <a:p>
            <a:r>
              <a:t>出典: [R7] segmented/english-lesson* / AvatarSample_VRM1.0・pixiv VRoid Project</a:t>
            </a:r>
          </a:p>
          <a:p/>
          <a:p>
            <a:r>
              <a:t>更新注記：このページは第1期の条件・数値を保持しています。第2期のLLM英訳・3モデル再測定は31枚目以降を参照。</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追加実験：LLM英訳を挟み、3モデルを2環境で実生成</a:t>
            </a:r>
          </a:p>
          <a:p/>
          <a:p>
            <a:r>
              <a:t>第1期は原文直接入力。第2期は利用者の指定に従いLLMで忠実に英訳し、その英語を動作モデルに入力。音声と字幕は原文を保持。共通5区間は全モデルで英訳と音声を共有。会話は実際に受信した教師文を毎回英訳する。B300は今回設定で4090を上回らず、最上位GPUなら必ず高速という結果ではなかった。</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発話内容は保持し、動作モデルへ渡す文だけLLMで英訳</a:t>
            </a:r>
          </a:p>
          <a:p/>
          <a:p>
            <a:r>
              <a:t>LLMはOpenAI Realtime gpt-realtime-2.1のテキスト出力。原文・英訳・usage・翻訳時間を保存。第1期の原文直接入力条件とは異なる。T5の日本語未知語問題を回避し、英訳後のMoLingo入力では未知語0件、全3モデルで入力の切り詰めなし。翻訳は事前接続せず、その接続時間を翻訳秒数へ含む。</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常駐生成はMoMaskが最短。会話の待ちは別に計測</a:t>
            </a:r>
          </a:p>
          <a:p/>
          <a:p>
            <a:r>
              <a:t>生成中央値はテキスト符号化・サンプリング・デコード・CPU転送・JSON直列化を含む。モデル読込、共有英訳、通信、保存、MP4描画を除く。会話の骨格受信は生徒の発話終了を基準とし、LLM英訳とJupyter WSS中継を含む。Realtime差は最初の音声チャンク受信との差。会話では英訳表現・音声長が呼び出しごとに変動し、速度順位を確定する反復測定ではない。</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研究室向けの4090と、前回と同じB300を比較</a:t>
            </a:r>
          </a:p>
          <a:p/>
          <a:p>
            <a:r>
              <a:t>研究室向け代替条件はRTX4090、PyTorch allocator上限12227MiB、CPU8スレッド・affinity8。CUDA context等はallocator上限の外。実CPUはEPYC75F3、割当16vCPU/62GB。B300はXeon6740E、割当24vCPU/251GB、推論8スレッド。両方Ubuntu24.04、Torch2.8.0+cu129、CUDA12.9。同一ソースと重み。動作本体FP32、CLIPは公式FP16、MoLingo T5はFP32、TF32無効、batch1。上半身だけ推論した値ではない。</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1リクエストの参考料金を、GPU・音声・英訳に分ける</a:t>
            </a:r>
          </a:p>
          <a:p/>
          <a:p>
            <a:r>
              <a:t>GPU単価は作成時REST API表示の0.89USD/hと8.99USD/h。表は生徒音声開始〜骨格受信のGPU時間按分＋実usageのRealtime音声とLLM英訳。1USD=200円。API単価は第1期資料で2026-10-15確認のgpt-realtime-2.1：100万tokenあたり入力text4/audio32、出力text24/audio64 USD。reasoningはtext内訳として二重加算しない。ASR・起動・待機・保存・動画化を除く参考小計で実請求ではない。今回GPUレンタルはPod作成〜停止で4090約0.343USD、B300約3.942USD、合計約4.286USD。実請求未照合、ストレージ・OpenAI費用別。GPUは停止確認済み。各40GB永続領域に重み・source・venv・結果を24時間保持。期限後削除watcherはこのクラウド環境上のbest effortでprovider TTLではない。</a:t>
            </a:r>
          </a:p>
          <a:p/>
          <a:p>
            <a:r>
              <a:t>出典：reports/masked-models-20261016/request-cost-estimates.json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英訳で未知語を回避。発話に合う動作かは別に確認</a:t>
            </a:r>
          </a:p>
          <a:p/>
          <a:p>
            <a:r>
              <a:t>MoLingoのT5で未知語0件。CLIPも入力切り詰めなし。ただし発話を英訳した文は動作記述データセットの入力領域と異なり、自然なco-speech gestureを保証しない。MoMaskの会話では4090約96度、B300約152度の胴体傾斜が発生した。角度は品質スコアではない。FID・自然さ・意味適合の定量評価は実施していない。手指や表情を生成するモデルではなく口パクは音声RMS表示。</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GPUの大型化だけでは、Realtimeとの差1秒に届かない</a:t>
            </a:r>
          </a:p>
          <a:p/>
          <a:p>
            <a:r>
              <a:t>この3モデル、batch1、同一精度、Jupyter中継での測定。最初の音声と骨格受信の差は全条件で1秒超。モデル常駐は実施済みで、全文待ち、翻訳接続と生成、通信が残る。今後は短い意味区間での開始と直接通信、翻訳済み文やテキスト特徴の再利用を別条件として測る。研究室5070/Windows実機、連続マイク、複数反復p50/p95、品質評価は未達。次の12枚に全42本の新規動画を埋め込む。</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MoLingo-263 / 4090・12GB制限：会話・共通5区間</a:t>
            </a:r>
          </a:p>
          <a:p/>
          <a:p>
            <a:r>
              <a:t>英訳経路。会話は実測した待ちを再現するオフライン動画でライブ録画ではない。発話終了→骨格受信6.174746秒、Realtime差5.597247秒。共通5区間の常駐生成中央値2.217139秒。英訳・通信は常駐生成中央値から除く。両動画を同時再生すると音声が重なる。</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ReMoMask-2 / 4090・12GB制限：会話・共通5区間</a:t>
            </a:r>
          </a:p>
          <a:p/>
          <a:p>
            <a:r>
              <a:t>英訳経路。会話は実測した待ちを再現するオフライン動画でライブ録画ではない。発話終了→骨格受信3.301875秒、Realtime差2.591828秒。共通5区間の常駐生成中央値0.277362秒。英訳・通信は常駐生成中央値から除く。両動画を同時再生すると音声が重なる。</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MoMask / 4090・12GB制限：会話・共通5区間</a:t>
            </a:r>
          </a:p>
          <a:p/>
          <a:p>
            <a:r>
              <a:t>英訳経路。会話は実測した待ちを再現するオフライン動画でライブ録画ではない。発話終了→骨格受信3.336523秒、Realtime差2.710306秒。共通5区間の常駐生成中央値0.167760秒。英訳・通信は常駐生成中央値から除く。両動画を同時再生すると音声が重なる。</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MoLingo-263 / B300：会話・共通5区間</a:t>
            </a:r>
          </a:p>
          <a:p/>
          <a:p>
            <a:r>
              <a:t>英訳経路。会話は実測した待ちを再現するオフライン動画でライブ録画ではない。発話終了→骨格受信7.756304秒、Realtime差6.863156秒。共通5区間の常駐生成中央値3.037725秒。英訳・通信は常駐生成中央値から除く。両動画を同時再生すると音声が重なる。</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ReMoMask-2 / B300：会話・共通5区間</a:t>
            </a:r>
          </a:p>
          <a:p/>
          <a:p>
            <a:r>
              <a:t>英訳経路。会話は実測した待ちを再現するオフライン動画でライブ録画ではない。発話終了→骨格受信5.010864秒、Realtime差4.111571秒。共通5区間の常駐生成中央値0.493767秒。英訳・通信は常駐生成中央値から除く。両動画を同時再生すると音声が重なる。</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MoMask / B300：会話・共通5区間</a:t>
            </a:r>
          </a:p>
          <a:p/>
          <a:p>
            <a:r>
              <a:t>英訳経路。会話は実測した待ちを再現するオフライン動画でライブ録画ではない。発話終了→骨格受信4.217304秒、Realtime差3.403824秒。共通5区間の常駐生成中央値0.299805秒。英訳・通信は常駐生成中央値から除く。両動画を同時再生すると音声が重なる。</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MoLingo-263 / 4090・12GB制限：区間単独5本</a:t>
            </a:r>
          </a:p>
          <a:p/>
          <a:p>
            <a:r>
              <a:t>共通5区間のseed0動画を切り詰めずに埋め込み。発話・ジェスチャーの開始は区間ごとに同期。元の全身骨格を保存し上半身を表示する。完成動画に合わせたネイティブ骨格の再生速度調整あり。音声は全モデル・環境で共有。</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ReMoMask-2 / 4090・12GB制限：区間単独5本</a:t>
            </a:r>
          </a:p>
          <a:p/>
          <a:p>
            <a:r>
              <a:t>共通5区間のseed0動画を切り詰めずに埋め込み。発話・ジェスチャーの開始は区間ごとに同期。元の全身骨格を保存し上半身を表示する。完成動画に合わせたネイティブ骨格の再生速度調整あり。音声は全モデル・環境で共有。</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MoMask / 4090・12GB制限：区間単独5本</a:t>
            </a:r>
          </a:p>
          <a:p/>
          <a:p>
            <a:r>
              <a:t>共通5区間のseed0動画を切り詰めずに埋め込み。発話・ジェスチャーの開始は区間ごとに同期。元の全身骨格を保存し上半身を表示する。完成動画に合わせたネイティブ骨格の再生速度調整あり。音声は全モデル・環境で共有。</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MoLingo-263 / B300：区間単独5本</a:t>
            </a:r>
          </a:p>
          <a:p/>
          <a:p>
            <a:r>
              <a:t>共通5区間のseed0動画を切り詰めずに埋め込み。発話・ジェスチャーの開始は区間ごとに同期。元の全身骨格を保存し上半身を表示する。完成動画に合わせたネイティブ骨格の再生速度調整あり。音声は全モデル・環境で共有。</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ReMoMask-2 / B300：区間単独5本</a:t>
            </a:r>
          </a:p>
          <a:p/>
          <a:p>
            <a:r>
              <a:t>共通5区間のseed0動画を切り詰めずに埋め込み。発話・ジェスチャーの開始は区間ごとに同期。元の全身骨格を保存し上半身を表示する。完成動画に合わせたネイティブ骨格の再生速度調整あり。音声は全モデル・環境で共有。</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MoMask / B300：区間単独5本</a:t>
            </a:r>
          </a:p>
          <a:p/>
          <a:p>
            <a:r>
              <a:t>共通5区間のseed0動画を切り詰めずに埋め込み。発話・ジェスチャーの開始は区間ごとに同期。元の全身骨格を保存し上半身を表示する。完成動画に合わせたネイティブ骨格の再生速度調整あり。音声は全モデル・環境で共有。</a:t>
            </a:r>
          </a:p>
          <a:p/>
          <a:p>
            <a:r>
              <a:t>出典: 追加実験 2026-10-16 / reports/masked-models-20261016 / seed0の全編を収録</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slide" Target="slide3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hyperlink" Target="media/b300-fp32-100.mp4" TargetMode="External"/><Relationship Id="rId7" Type="http://schemas.openxmlformats.org/officeDocument/2006/relationships/image" Target="../media/image1.png"/><Relationship Id="rId8" Type="http://schemas.microsoft.com/office/2007/relationships/media" Target="../media/media2.mp4"/><Relationship Id="rId9" Type="http://schemas.openxmlformats.org/officeDocument/2006/relationships/video" Target="../media/media2.mp4"/><Relationship Id="rId10" Type="http://schemas.openxmlformats.org/officeDocument/2006/relationships/hyperlink" Target="media/b300-tf32-20.mp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media/segmented-english-lesson.mp4" TargetMode="External"/><Relationship Id="rId4" Type="http://schemas.openxmlformats.org/officeDocument/2006/relationships/hyperlink" Target="media/segmented-english-lesson-ardy.mp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github.com/nk-an-nk/textToMotion/blob/work/reports/model-comparison/runpod-20261014/README.md" TargetMode="External"/><Relationship Id="rId4" Type="http://schemas.openxmlformats.org/officeDocument/2006/relationships/hyperlink" Target="https://github.com/nk-an-nk/textToMotion/blob/work/reports/kimodo-b300-20261015/README.md" TargetMode="External"/><Relationship Id="rId5" Type="http://schemas.openxmlformats.org/officeDocument/2006/relationships/hyperlink" Target="https://github.com/nk-an-nk/textToMotion/blob/work/reports/model-comparison/runpod-20261014/reproducibility/source-and-weights.json" TargetMode="External"/><Relationship Id="rId6" Type="http://schemas.openxmlformats.org/officeDocument/2006/relationships/hyperlink" Target="https://github.com/nk-an-nk/textToMotion/blob/work/reports/segmented/README.md" TargetMode="External"/><Relationship Id="rId7" Type="http://schemas.openxmlformats.org/officeDocument/2006/relationships/hyperlink" Target="https://github.com/nk-an-nk/textToMotion/blob/work/docs/windows_lab.m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slide" Target="slide13.xml"/><Relationship Id="rId11" Type="http://schemas.openxmlformats.org/officeDocument/2006/relationships/slide" Target="slide23.xml"/><Relationship Id="rId12" Type="http://schemas.openxmlformats.org/officeDocument/2006/relationships/slide" Target="slide24.xml"/><Relationship Id="rId13" Type="http://schemas.openxmlformats.org/officeDocument/2006/relationships/slide" Target="slide25.xml"/><Relationship Id="rId14" Type="http://schemas.openxmlformats.org/officeDocument/2006/relationships/slide" Target="slide26.xml"/><Relationship Id="rId15" Type="http://schemas.openxmlformats.org/officeDocument/2006/relationships/slide" Target="slide27.xml"/><Relationship Id="rId16" Type="http://schemas.openxmlformats.org/officeDocument/2006/relationships/slide" Target="slide28.xml"/><Relationship Id="rId17" Type="http://schemas.openxmlformats.org/officeDocument/2006/relationships/slide" Target="slide29.xml"/><Relationship Id="rId18" Type="http://schemas.openxmlformats.org/officeDocument/2006/relationships/slide" Target="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png"/><Relationship Id="rId4" Type="http://schemas.microsoft.com/office/2007/relationships/media" Target="../media/media3.mp4"/><Relationship Id="rId5" Type="http://schemas.openxmlformats.org/officeDocument/2006/relationships/video" Target="../media/media3.mp4"/><Relationship Id="rId6" Type="http://schemas.openxmlformats.org/officeDocument/2006/relationships/hyperlink" Target="media/dialogue-kimodo.mp4" TargetMode="External"/><Relationship Id="rId7" Type="http://schemas.openxmlformats.org/officeDocument/2006/relationships/image" Target="../media/image10.png"/><Relationship Id="rId8" Type="http://schemas.microsoft.com/office/2007/relationships/media" Target="../media/media4.mp4"/><Relationship Id="rId9" Type="http://schemas.openxmlformats.org/officeDocument/2006/relationships/video" Target="../media/media4.mp4"/><Relationship Id="rId10" Type="http://schemas.openxmlformats.org/officeDocument/2006/relationships/hyperlink" Target="media/common-kimodo.mp4" TargetMode="External"/><Relationship Id="rId11" Type="http://schemas.openxmlformats.org/officeDocument/2006/relationships/slide" Target="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png"/><Relationship Id="rId4" Type="http://schemas.microsoft.com/office/2007/relationships/media" Target="../media/media5.mp4"/><Relationship Id="rId5" Type="http://schemas.openxmlformats.org/officeDocument/2006/relationships/video" Target="../media/media5.mp4"/><Relationship Id="rId6" Type="http://schemas.openxmlformats.org/officeDocument/2006/relationships/hyperlink" Target="media/dialogue-ardy.mp4" TargetMode="External"/><Relationship Id="rId7" Type="http://schemas.openxmlformats.org/officeDocument/2006/relationships/image" Target="../media/image11.png"/><Relationship Id="rId8" Type="http://schemas.microsoft.com/office/2007/relationships/media" Target="../media/media6.mp4"/><Relationship Id="rId9" Type="http://schemas.openxmlformats.org/officeDocument/2006/relationships/video" Target="../media/media6.mp4"/><Relationship Id="rId10" Type="http://schemas.openxmlformats.org/officeDocument/2006/relationships/hyperlink" Target="media/common-ardy.mp4" TargetMode="External"/><Relationship Id="rId11" Type="http://schemas.openxmlformats.org/officeDocument/2006/relationships/slide" Target="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 Id="rId4" Type="http://schemas.microsoft.com/office/2007/relationships/media" Target="../media/media7.mp4"/><Relationship Id="rId5" Type="http://schemas.openxmlformats.org/officeDocument/2006/relationships/video" Target="../media/media7.mp4"/><Relationship Id="rId6" Type="http://schemas.openxmlformats.org/officeDocument/2006/relationships/hyperlink" Target="media/dialogue-motionlcm.mp4" TargetMode="External"/><Relationship Id="rId7" Type="http://schemas.openxmlformats.org/officeDocument/2006/relationships/image" Target="../media/image12.png"/><Relationship Id="rId8" Type="http://schemas.microsoft.com/office/2007/relationships/media" Target="../media/media8.mp4"/><Relationship Id="rId9" Type="http://schemas.openxmlformats.org/officeDocument/2006/relationships/video" Target="../media/media8.mp4"/><Relationship Id="rId10" Type="http://schemas.openxmlformats.org/officeDocument/2006/relationships/hyperlink" Target="media/common-motionlcm.mp4" TargetMode="External"/><Relationship Id="rId11" Type="http://schemas.openxmlformats.org/officeDocument/2006/relationships/slide" Target="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png"/><Relationship Id="rId4" Type="http://schemas.microsoft.com/office/2007/relationships/media" Target="../media/media9.mp4"/><Relationship Id="rId5" Type="http://schemas.openxmlformats.org/officeDocument/2006/relationships/video" Target="../media/media9.mp4"/><Relationship Id="rId6" Type="http://schemas.openxmlformats.org/officeDocument/2006/relationships/hyperlink" Target="media/dialogue-momask.mp4" TargetMode="External"/><Relationship Id="rId7" Type="http://schemas.openxmlformats.org/officeDocument/2006/relationships/image" Target="../media/image13.png"/><Relationship Id="rId8" Type="http://schemas.microsoft.com/office/2007/relationships/media" Target="../media/media10.mp4"/><Relationship Id="rId9" Type="http://schemas.openxmlformats.org/officeDocument/2006/relationships/video" Target="../media/media10.mp4"/><Relationship Id="rId10" Type="http://schemas.openxmlformats.org/officeDocument/2006/relationships/hyperlink" Target="media/common-momask.mp4" TargetMode="External"/><Relationship Id="rId11" Type="http://schemas.openxmlformats.org/officeDocument/2006/relationships/slide" Target="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7.png"/><Relationship Id="rId4" Type="http://schemas.microsoft.com/office/2007/relationships/media" Target="../media/media11.mp4"/><Relationship Id="rId5" Type="http://schemas.openxmlformats.org/officeDocument/2006/relationships/video" Target="../media/media11.mp4"/><Relationship Id="rId6" Type="http://schemas.openxmlformats.org/officeDocument/2006/relationships/hyperlink" Target="media/dialogue-mmm.mp4" TargetMode="External"/><Relationship Id="rId7" Type="http://schemas.openxmlformats.org/officeDocument/2006/relationships/image" Target="../media/image14.png"/><Relationship Id="rId8" Type="http://schemas.microsoft.com/office/2007/relationships/media" Target="../media/media12.mp4"/><Relationship Id="rId9" Type="http://schemas.openxmlformats.org/officeDocument/2006/relationships/video" Target="../media/media12.mp4"/><Relationship Id="rId10" Type="http://schemas.openxmlformats.org/officeDocument/2006/relationships/hyperlink" Target="media/common-mmm.mp4" TargetMode="External"/><Relationship Id="rId11" Type="http://schemas.openxmlformats.org/officeDocument/2006/relationships/slide" Target="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8.png"/><Relationship Id="rId4" Type="http://schemas.microsoft.com/office/2007/relationships/media" Target="../media/media13.mp4"/><Relationship Id="rId5" Type="http://schemas.openxmlformats.org/officeDocument/2006/relationships/video" Target="../media/media13.mp4"/><Relationship Id="rId6" Type="http://schemas.openxmlformats.org/officeDocument/2006/relationships/hyperlink" Target="media/dialogue-reactmotion.mp4" TargetMode="External"/><Relationship Id="rId7" Type="http://schemas.openxmlformats.org/officeDocument/2006/relationships/image" Target="../media/image15.png"/><Relationship Id="rId8" Type="http://schemas.microsoft.com/office/2007/relationships/media" Target="../media/media14.mp4"/><Relationship Id="rId9" Type="http://schemas.openxmlformats.org/officeDocument/2006/relationships/video" Target="../media/media14.mp4"/><Relationship Id="rId10" Type="http://schemas.openxmlformats.org/officeDocument/2006/relationships/hyperlink" Target="media/common-reactmotion.mp4" TargetMode="External"/><Relationship Id="rId11" Type="http://schemas.openxmlformats.org/officeDocument/2006/relationships/slide" Target="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9.png"/><Relationship Id="rId4" Type="http://schemas.microsoft.com/office/2007/relationships/media" Target="../media/media15.mp4"/><Relationship Id="rId5" Type="http://schemas.openxmlformats.org/officeDocument/2006/relationships/video" Target="../media/media15.mp4"/><Relationship Id="rId6" Type="http://schemas.openxmlformats.org/officeDocument/2006/relationships/hyperlink" Target="media/dialogue-maai.mp4" TargetMode="External"/><Relationship Id="rId7" Type="http://schemas.openxmlformats.org/officeDocument/2006/relationships/image" Target="../media/image16.png"/><Relationship Id="rId8" Type="http://schemas.microsoft.com/office/2007/relationships/media" Target="../media/media16.mp4"/><Relationship Id="rId9" Type="http://schemas.openxmlformats.org/officeDocument/2006/relationships/video" Target="../media/media16.mp4"/><Relationship Id="rId10" Type="http://schemas.openxmlformats.org/officeDocument/2006/relationships/hyperlink" Target="media/common-maai.mp4" TargetMode="External"/><Relationship Id="rId11" Type="http://schemas.openxmlformats.org/officeDocument/2006/relationships/slide" Target="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7.png"/><Relationship Id="rId4" Type="http://schemas.microsoft.com/office/2007/relationships/media" Target="../media/media17.mp4"/><Relationship Id="rId5" Type="http://schemas.openxmlformats.org/officeDocument/2006/relationships/video" Target="../media/media17.mp4"/><Relationship Id="rId6" Type="http://schemas.openxmlformats.org/officeDocument/2006/relationships/hyperlink" Target="media/segmented-english-lesson.mp4" TargetMode="External"/><Relationship Id="rId7" Type="http://schemas.openxmlformats.org/officeDocument/2006/relationships/image" Target="../media/image18.png"/><Relationship Id="rId8" Type="http://schemas.microsoft.com/office/2007/relationships/media" Target="../media/media18.mp4"/><Relationship Id="rId9" Type="http://schemas.openxmlformats.org/officeDocument/2006/relationships/video" Target="../media/media18.mp4"/><Relationship Id="rId10" Type="http://schemas.openxmlformats.org/officeDocument/2006/relationships/hyperlink" Target="media/segmented-english-lesson-ardy.mp4" TargetMode="External"/><Relationship Id="rId11" Type="http://schemas.openxmlformats.org/officeDocument/2006/relationships/slide" Target="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9.jpg"/><Relationship Id="rId4" Type="http://schemas.microsoft.com/office/2007/relationships/media" Target="../media/media19.mp4"/><Relationship Id="rId5" Type="http://schemas.openxmlformats.org/officeDocument/2006/relationships/video" Target="../media/media19.mp4"/><Relationship Id="rId6" Type="http://schemas.openxmlformats.org/officeDocument/2006/relationships/image" Target="../media/image22.jpg"/><Relationship Id="rId7" Type="http://schemas.microsoft.com/office/2007/relationships/media" Target="../media/media20.mp4"/><Relationship Id="rId8" Type="http://schemas.openxmlformats.org/officeDocument/2006/relationships/video" Target="../media/media20.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0.jpg"/><Relationship Id="rId4" Type="http://schemas.microsoft.com/office/2007/relationships/media" Target="../media/media21.mp4"/><Relationship Id="rId5" Type="http://schemas.openxmlformats.org/officeDocument/2006/relationships/video" Target="../media/media21.mp4"/><Relationship Id="rId6" Type="http://schemas.openxmlformats.org/officeDocument/2006/relationships/image" Target="../media/image23.jpg"/><Relationship Id="rId7" Type="http://schemas.microsoft.com/office/2007/relationships/media" Target="../media/media22.mp4"/><Relationship Id="rId8" Type="http://schemas.openxmlformats.org/officeDocument/2006/relationships/video" Target="../media/media22.mp4"/></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1.jpg"/><Relationship Id="rId4" Type="http://schemas.microsoft.com/office/2007/relationships/media" Target="../media/media23.mp4"/><Relationship Id="rId5" Type="http://schemas.openxmlformats.org/officeDocument/2006/relationships/video" Target="../media/media23.mp4"/><Relationship Id="rId6" Type="http://schemas.openxmlformats.org/officeDocument/2006/relationships/image" Target="../media/image24.jpg"/><Relationship Id="rId7" Type="http://schemas.microsoft.com/office/2007/relationships/media" Target="../media/media24.mp4"/><Relationship Id="rId8" Type="http://schemas.openxmlformats.org/officeDocument/2006/relationships/video" Target="../media/media24.mp4"/></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5.jpg"/><Relationship Id="rId4" Type="http://schemas.microsoft.com/office/2007/relationships/media" Target="../media/media25.mp4"/><Relationship Id="rId5" Type="http://schemas.openxmlformats.org/officeDocument/2006/relationships/video" Target="../media/media25.mp4"/><Relationship Id="rId6" Type="http://schemas.openxmlformats.org/officeDocument/2006/relationships/image" Target="../media/image26.jpg"/><Relationship Id="rId7" Type="http://schemas.microsoft.com/office/2007/relationships/media" Target="../media/media26.mp4"/><Relationship Id="rId8" Type="http://schemas.openxmlformats.org/officeDocument/2006/relationships/video" Target="../media/media26.mp4"/></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7.jpg"/><Relationship Id="rId4" Type="http://schemas.microsoft.com/office/2007/relationships/media" Target="../media/media27.mp4"/><Relationship Id="rId5" Type="http://schemas.openxmlformats.org/officeDocument/2006/relationships/video" Target="../media/media27.mp4"/><Relationship Id="rId6" Type="http://schemas.openxmlformats.org/officeDocument/2006/relationships/image" Target="../media/image28.jpg"/><Relationship Id="rId7" Type="http://schemas.microsoft.com/office/2007/relationships/media" Target="../media/media28.mp4"/><Relationship Id="rId8" Type="http://schemas.openxmlformats.org/officeDocument/2006/relationships/video" Target="../media/media28.mp4"/></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9.jpg"/><Relationship Id="rId4" Type="http://schemas.microsoft.com/office/2007/relationships/media" Target="../media/media29.mp4"/><Relationship Id="rId5" Type="http://schemas.openxmlformats.org/officeDocument/2006/relationships/video" Target="../media/media29.mp4"/><Relationship Id="rId6" Type="http://schemas.openxmlformats.org/officeDocument/2006/relationships/image" Target="../media/image30.jpg"/><Relationship Id="rId7" Type="http://schemas.microsoft.com/office/2007/relationships/media" Target="../media/media30.mp4"/><Relationship Id="rId8" Type="http://schemas.openxmlformats.org/officeDocument/2006/relationships/video" Target="../media/media30.mp4"/></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1.jpg"/><Relationship Id="rId4" Type="http://schemas.microsoft.com/office/2007/relationships/media" Target="../media/media31.mp4"/><Relationship Id="rId5" Type="http://schemas.openxmlformats.org/officeDocument/2006/relationships/video" Target="../media/media31.mp4"/><Relationship Id="rId6" Type="http://schemas.openxmlformats.org/officeDocument/2006/relationships/image" Target="../media/image32.jpg"/><Relationship Id="rId7" Type="http://schemas.microsoft.com/office/2007/relationships/media" Target="../media/media32.mp4"/><Relationship Id="rId8" Type="http://schemas.openxmlformats.org/officeDocument/2006/relationships/video" Target="../media/media32.mp4"/><Relationship Id="rId9" Type="http://schemas.openxmlformats.org/officeDocument/2006/relationships/image" Target="../media/image33.jpg"/><Relationship Id="rId10" Type="http://schemas.microsoft.com/office/2007/relationships/media" Target="../media/media33.mp4"/><Relationship Id="rId11" Type="http://schemas.openxmlformats.org/officeDocument/2006/relationships/video" Target="../media/media33.mp4"/><Relationship Id="rId12" Type="http://schemas.openxmlformats.org/officeDocument/2006/relationships/image" Target="../media/image34.jpg"/><Relationship Id="rId13" Type="http://schemas.microsoft.com/office/2007/relationships/media" Target="../media/media34.mp4"/><Relationship Id="rId14" Type="http://schemas.openxmlformats.org/officeDocument/2006/relationships/video" Target="../media/media34.mp4"/><Relationship Id="rId15" Type="http://schemas.openxmlformats.org/officeDocument/2006/relationships/image" Target="../media/image35.jpg"/><Relationship Id="rId16" Type="http://schemas.microsoft.com/office/2007/relationships/media" Target="../media/media35.mp4"/><Relationship Id="rId17" Type="http://schemas.openxmlformats.org/officeDocument/2006/relationships/video" Target="../media/media35.mp4"/></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6.jpg"/><Relationship Id="rId4" Type="http://schemas.microsoft.com/office/2007/relationships/media" Target="../media/media36.mp4"/><Relationship Id="rId5" Type="http://schemas.openxmlformats.org/officeDocument/2006/relationships/video" Target="../media/media36.mp4"/><Relationship Id="rId6" Type="http://schemas.openxmlformats.org/officeDocument/2006/relationships/image" Target="../media/image37.jpg"/><Relationship Id="rId7" Type="http://schemas.microsoft.com/office/2007/relationships/media" Target="../media/media37.mp4"/><Relationship Id="rId8" Type="http://schemas.openxmlformats.org/officeDocument/2006/relationships/video" Target="../media/media37.mp4"/><Relationship Id="rId9" Type="http://schemas.openxmlformats.org/officeDocument/2006/relationships/image" Target="../media/image38.jpg"/><Relationship Id="rId10" Type="http://schemas.microsoft.com/office/2007/relationships/media" Target="../media/media38.mp4"/><Relationship Id="rId11" Type="http://schemas.openxmlformats.org/officeDocument/2006/relationships/video" Target="../media/media38.mp4"/><Relationship Id="rId12" Type="http://schemas.openxmlformats.org/officeDocument/2006/relationships/image" Target="../media/image39.jpg"/><Relationship Id="rId13" Type="http://schemas.microsoft.com/office/2007/relationships/media" Target="../media/media39.mp4"/><Relationship Id="rId14" Type="http://schemas.openxmlformats.org/officeDocument/2006/relationships/video" Target="../media/media39.mp4"/><Relationship Id="rId15" Type="http://schemas.openxmlformats.org/officeDocument/2006/relationships/image" Target="../media/image40.jpg"/><Relationship Id="rId16" Type="http://schemas.microsoft.com/office/2007/relationships/media" Target="../media/media40.mp4"/><Relationship Id="rId17" Type="http://schemas.openxmlformats.org/officeDocument/2006/relationships/video" Target="../media/media40.mp4"/></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1.jpg"/><Relationship Id="rId4" Type="http://schemas.microsoft.com/office/2007/relationships/media" Target="../media/media41.mp4"/><Relationship Id="rId5" Type="http://schemas.openxmlformats.org/officeDocument/2006/relationships/video" Target="../media/media41.mp4"/><Relationship Id="rId6" Type="http://schemas.openxmlformats.org/officeDocument/2006/relationships/image" Target="../media/image42.jpg"/><Relationship Id="rId7" Type="http://schemas.microsoft.com/office/2007/relationships/media" Target="../media/media42.mp4"/><Relationship Id="rId8" Type="http://schemas.openxmlformats.org/officeDocument/2006/relationships/video" Target="../media/media42.mp4"/><Relationship Id="rId9" Type="http://schemas.openxmlformats.org/officeDocument/2006/relationships/image" Target="../media/image43.jpg"/><Relationship Id="rId10" Type="http://schemas.microsoft.com/office/2007/relationships/media" Target="../media/media43.mp4"/><Relationship Id="rId11" Type="http://schemas.openxmlformats.org/officeDocument/2006/relationships/video" Target="../media/media43.mp4"/><Relationship Id="rId12" Type="http://schemas.openxmlformats.org/officeDocument/2006/relationships/image" Target="../media/image44.jpg"/><Relationship Id="rId13" Type="http://schemas.microsoft.com/office/2007/relationships/media" Target="../media/media44.mp4"/><Relationship Id="rId14" Type="http://schemas.openxmlformats.org/officeDocument/2006/relationships/video" Target="../media/media44.mp4"/><Relationship Id="rId15" Type="http://schemas.openxmlformats.org/officeDocument/2006/relationships/image" Target="../media/image45.jpg"/><Relationship Id="rId16" Type="http://schemas.microsoft.com/office/2007/relationships/media" Target="../media/media45.mp4"/><Relationship Id="rId17" Type="http://schemas.openxmlformats.org/officeDocument/2006/relationships/video" Target="../media/media45.mp4"/></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6.jpg"/><Relationship Id="rId4" Type="http://schemas.microsoft.com/office/2007/relationships/media" Target="../media/media46.mp4"/><Relationship Id="rId5" Type="http://schemas.openxmlformats.org/officeDocument/2006/relationships/video" Target="../media/media46.mp4"/><Relationship Id="rId6" Type="http://schemas.openxmlformats.org/officeDocument/2006/relationships/image" Target="../media/image47.jpg"/><Relationship Id="rId7" Type="http://schemas.microsoft.com/office/2007/relationships/media" Target="../media/media47.mp4"/><Relationship Id="rId8" Type="http://schemas.openxmlformats.org/officeDocument/2006/relationships/video" Target="../media/media47.mp4"/><Relationship Id="rId9" Type="http://schemas.openxmlformats.org/officeDocument/2006/relationships/image" Target="../media/image48.jpg"/><Relationship Id="rId10" Type="http://schemas.microsoft.com/office/2007/relationships/media" Target="../media/media48.mp4"/><Relationship Id="rId11" Type="http://schemas.openxmlformats.org/officeDocument/2006/relationships/video" Target="../media/media48.mp4"/><Relationship Id="rId12" Type="http://schemas.openxmlformats.org/officeDocument/2006/relationships/image" Target="../media/image49.jpg"/><Relationship Id="rId13" Type="http://schemas.microsoft.com/office/2007/relationships/media" Target="../media/media49.mp4"/><Relationship Id="rId14" Type="http://schemas.openxmlformats.org/officeDocument/2006/relationships/video" Target="../media/media49.mp4"/><Relationship Id="rId15" Type="http://schemas.openxmlformats.org/officeDocument/2006/relationships/image" Target="../media/image50.jpg"/><Relationship Id="rId16" Type="http://schemas.microsoft.com/office/2007/relationships/media" Target="../media/media50.mp4"/><Relationship Id="rId17" Type="http://schemas.openxmlformats.org/officeDocument/2006/relationships/video" Target="../media/media50.mp4"/></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1.jpg"/><Relationship Id="rId4" Type="http://schemas.microsoft.com/office/2007/relationships/media" Target="../media/media51.mp4"/><Relationship Id="rId5" Type="http://schemas.openxmlformats.org/officeDocument/2006/relationships/video" Target="../media/media51.mp4"/><Relationship Id="rId6" Type="http://schemas.openxmlformats.org/officeDocument/2006/relationships/image" Target="../media/image52.jpg"/><Relationship Id="rId7" Type="http://schemas.microsoft.com/office/2007/relationships/media" Target="../media/media52.mp4"/><Relationship Id="rId8" Type="http://schemas.openxmlformats.org/officeDocument/2006/relationships/video" Target="../media/media52.mp4"/><Relationship Id="rId9" Type="http://schemas.openxmlformats.org/officeDocument/2006/relationships/image" Target="../media/image53.jpg"/><Relationship Id="rId10" Type="http://schemas.microsoft.com/office/2007/relationships/media" Target="../media/media53.mp4"/><Relationship Id="rId11" Type="http://schemas.openxmlformats.org/officeDocument/2006/relationships/video" Target="../media/media53.mp4"/><Relationship Id="rId12" Type="http://schemas.openxmlformats.org/officeDocument/2006/relationships/image" Target="../media/image54.jpg"/><Relationship Id="rId13" Type="http://schemas.microsoft.com/office/2007/relationships/media" Target="../media/media54.mp4"/><Relationship Id="rId14" Type="http://schemas.openxmlformats.org/officeDocument/2006/relationships/video" Target="../media/media54.mp4"/><Relationship Id="rId15" Type="http://schemas.openxmlformats.org/officeDocument/2006/relationships/image" Target="../media/image55.jpg"/><Relationship Id="rId16" Type="http://schemas.microsoft.com/office/2007/relationships/media" Target="../media/media55.mp4"/><Relationship Id="rId17" Type="http://schemas.openxmlformats.org/officeDocument/2006/relationships/video" Target="../media/media55.mp4"/></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6.jpg"/><Relationship Id="rId4" Type="http://schemas.microsoft.com/office/2007/relationships/media" Target="../media/media56.mp4"/><Relationship Id="rId5" Type="http://schemas.openxmlformats.org/officeDocument/2006/relationships/video" Target="../media/media56.mp4"/><Relationship Id="rId6" Type="http://schemas.openxmlformats.org/officeDocument/2006/relationships/image" Target="../media/image57.jpg"/><Relationship Id="rId7" Type="http://schemas.microsoft.com/office/2007/relationships/media" Target="../media/media57.mp4"/><Relationship Id="rId8" Type="http://schemas.openxmlformats.org/officeDocument/2006/relationships/video" Target="../media/media57.mp4"/><Relationship Id="rId9" Type="http://schemas.openxmlformats.org/officeDocument/2006/relationships/image" Target="../media/image58.jpg"/><Relationship Id="rId10" Type="http://schemas.microsoft.com/office/2007/relationships/media" Target="../media/media58.mp4"/><Relationship Id="rId11" Type="http://schemas.openxmlformats.org/officeDocument/2006/relationships/video" Target="../media/media58.mp4"/><Relationship Id="rId12" Type="http://schemas.openxmlformats.org/officeDocument/2006/relationships/image" Target="../media/image59.jpg"/><Relationship Id="rId13" Type="http://schemas.microsoft.com/office/2007/relationships/media" Target="../media/media59.mp4"/><Relationship Id="rId14" Type="http://schemas.openxmlformats.org/officeDocument/2006/relationships/video" Target="../media/media59.mp4"/><Relationship Id="rId15" Type="http://schemas.openxmlformats.org/officeDocument/2006/relationships/image" Target="../media/image60.jpg"/><Relationship Id="rId16" Type="http://schemas.microsoft.com/office/2007/relationships/media" Target="../media/media60.mp4"/><Relationship Id="rId17" Type="http://schemas.openxmlformats.org/officeDocument/2006/relationships/video" Target="../media/media60.mp4"/></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B3A"/>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AFC9CE"/>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FFFFFF"/>
                </a:solidFill>
                <a:latin typeface="Noto Sans CJK JP"/>
                <a:ea typeface="Noto Sans CJK JP"/>
              </a:rPr>
              <a:t>音声対話 × Text-to-Motion × VRM</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C2D5DA"/>
                </a:solidFill>
                <a:latin typeface="Noto Sans CJK JP"/>
                <a:ea typeface="Noto Sans CJK JP"/>
              </a:rPr>
              <a:t>生成速度・会話の応答遅延・費用・研究室PCでの実行を検証</a:t>
            </a:r>
          </a:p>
        </p:txBody>
      </p:sp>
      <p:sp>
        <p:nvSpPr>
          <p:cNvPr id="6" name="Rectangle 5"/>
          <p:cNvSpPr/>
          <p:nvPr/>
        </p:nvSpPr>
        <p:spPr>
          <a:xfrm>
            <a:off x="612648" y="6428232"/>
            <a:ext cx="10972800" cy="10972"/>
          </a:xfrm>
          <a:prstGeom prst="rect">
            <a:avLst/>
          </a:prstGeom>
          <a:solidFill>
            <a:srgbClr val="355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BED1D6"/>
                </a:solidFill>
                <a:latin typeface="Noto Sans CJK JP"/>
                <a:ea typeface="Noto Sans CJK JP"/>
              </a:rPr>
              <a:t>報告日 2026-10-16（日本時間） / nk-an-nk/textToMotion / work</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C2D5DA"/>
                </a:solidFill>
                <a:latin typeface="Noto Sans CJK JP"/>
                <a:ea typeface="Noto Sans CJK JP"/>
              </a:rPr>
              <a:t>01</a:t>
            </a:r>
          </a:p>
        </p:txBody>
      </p:sp>
      <p:sp>
        <p:nvSpPr>
          <p:cNvPr id="9" name="TextBox 8"/>
          <p:cNvSpPr txBox="1"/>
          <p:nvPr/>
        </p:nvSpPr>
        <p:spPr>
          <a:xfrm>
            <a:off x="713232" y="2468880"/>
            <a:ext cx="6675120" cy="1554480"/>
          </a:xfrm>
          <a:prstGeom prst="rect">
            <a:avLst/>
          </a:prstGeom>
          <a:noFill/>
        </p:spPr>
        <p:txBody>
          <a:bodyPr wrap="square" lIns="0" rIns="0" tIns="0" bIns="0" anchor="t">
            <a:spAutoFit/>
          </a:bodyPr>
          <a:lstStyle/>
          <a:p>
            <a:pPr algn="l">
              <a:lnSpc>
                <a:spcPct val="114000"/>
              </a:lnSpc>
              <a:spcAft>
                <a:spcPts val="500"/>
              </a:spcAft>
            </a:pPr>
            <a:r>
              <a:rPr sz="3400" b="1" lang="ja-JP">
                <a:solidFill>
                  <a:srgbClr val="FFFFFF"/>
                </a:solidFill>
                <a:latin typeface="Noto Sans CJK JP"/>
                <a:ea typeface="Noto Sans CJK JP"/>
              </a:rPr>
              <a:t>9モデルの比較と</a:t>
            </a:r>
          </a:p>
          <a:p>
            <a:pPr algn="l">
              <a:lnSpc>
                <a:spcPct val="114000"/>
              </a:lnSpc>
              <a:spcAft>
                <a:spcPts val="500"/>
              </a:spcAft>
            </a:pPr>
            <a:r>
              <a:rPr sz="3400" b="1" lang="ja-JP">
                <a:solidFill>
                  <a:srgbClr val="FFFFFF"/>
                </a:solidFill>
                <a:latin typeface="Noto Sans CJK JP"/>
                <a:ea typeface="Noto Sans CJK JP"/>
              </a:rPr>
              <a:t>LLM英訳経路の追試</a:t>
            </a:r>
          </a:p>
        </p:txBody>
      </p:sp>
      <p:sp>
        <p:nvSpPr>
          <p:cNvPr id="10" name="TextBox 9"/>
          <p:cNvSpPr txBox="1"/>
          <p:nvPr/>
        </p:nvSpPr>
        <p:spPr>
          <a:xfrm>
            <a:off x="731520" y="4352544"/>
            <a:ext cx="6080760" cy="1005840"/>
          </a:xfrm>
          <a:prstGeom prst="rect">
            <a:avLst/>
          </a:prstGeom>
          <a:noFill/>
        </p:spPr>
        <p:txBody>
          <a:bodyPr wrap="square" lIns="0" rIns="0" tIns="0" bIns="0" anchor="t">
            <a:spAutoFit/>
          </a:bodyPr>
          <a:lstStyle/>
          <a:p>
            <a:pPr algn="l">
              <a:lnSpc>
                <a:spcPct val="114000"/>
              </a:lnSpc>
              <a:spcAft>
                <a:spcPts val="500"/>
              </a:spcAft>
            </a:pPr>
            <a:r>
              <a:rPr sz="2000" b="0" lang="ja-JP">
                <a:solidFill>
                  <a:srgbClr val="C2D5DA"/>
                </a:solidFill>
                <a:latin typeface="Noto Sans CJK JP"/>
                <a:ea typeface="Noto Sans CJK JP"/>
              </a:rPr>
              <a:t>目標：生徒の音声を受け取り、</a:t>
            </a:r>
          </a:p>
          <a:p>
            <a:pPr algn="l">
              <a:lnSpc>
                <a:spcPct val="114000"/>
              </a:lnSpc>
              <a:spcAft>
                <a:spcPts val="500"/>
              </a:spcAft>
            </a:pPr>
            <a:r>
              <a:rPr sz="2000" b="0" lang="ja-JP">
                <a:solidFill>
                  <a:srgbClr val="C2D5DA"/>
                </a:solidFill>
                <a:latin typeface="Noto Sans CJK JP"/>
                <a:ea typeface="Noto Sans CJK JP"/>
              </a:rPr>
              <a:t>先生の発話と上半身ジェスチャーを自然なテンポで返す</a:t>
            </a:r>
          </a:p>
        </p:txBody>
      </p:sp>
      <p:pic>
        <p:nvPicPr>
          <p:cNvPr id="11" name="Picture 10" descr="b300-tf32-20.png"/>
          <p:cNvPicPr>
            <a:picLocks noChangeAspect="1"/>
          </p:cNvPicPr>
          <p:nvPr/>
        </p:nvPicPr>
        <p:blipFill>
          <a:blip r:embed="rId3"/>
          <a:srcRect l="34984" t="15000" r="31984" b="19500"/>
          <a:stretch>
            <a:fillRect/>
          </a:stretch>
        </p:blipFill>
        <p:spPr>
          <a:xfrm>
            <a:off x="7726679" y="2176272"/>
            <a:ext cx="3566160" cy="3977639"/>
          </a:xfrm>
          <a:prstGeom prst="rect">
            <a:avLst/>
          </a:prstGeom>
        </p:spPr>
      </p:pic>
      <p:sp>
        <p:nvSpPr>
          <p:cNvPr id="12" name="TextBox 11"/>
          <p:cNvSpPr txBox="1"/>
          <p:nvPr/>
        </p:nvSpPr>
        <p:spPr>
          <a:xfrm>
            <a:off x="731520" y="5779008"/>
            <a:ext cx="6217920" cy="292608"/>
          </a:xfrm>
          <a:prstGeom prst="rect">
            <a:avLst/>
          </a:prstGeom>
          <a:noFill/>
        </p:spPr>
        <p:txBody>
          <a:bodyPr wrap="square" lIns="0" rIns="0" tIns="0" bIns="0" anchor="t">
            <a:spAutoFit/>
          </a:bodyPr>
          <a:lstStyle/>
          <a:p>
            <a:pPr algn="l">
              <a:lnSpc>
                <a:spcPct val="114000"/>
              </a:lnSpc>
              <a:spcAft>
                <a:spcPts val="500"/>
              </a:spcAft>
            </a:pPr>
            <a:r>
              <a:rPr sz="1200" b="0" lang="ja-JP">
                <a:solidFill>
                  <a:srgbClr val="AFC9CE"/>
                </a:solidFill>
                <a:latin typeface="Noto Sans CJK JP"/>
                <a:ea typeface="Noto Sans CJK JP"/>
              </a:rPr>
              <a:t>更新版：49枚 / 全60本の動画を埋め込み / 追加実験は31枚目から</a:t>
            </a:r>
          </a:p>
        </p:txBody>
      </p:sp>
      <p:sp>
        <p:nvSpPr>
          <p:cNvPr id="13" name="TextBox 12">
            <a:hlinkClick action="ppaction://hlinksldjump" r:id="rId4"/>
          </p:cNvPr>
          <p:cNvSpPr txBox="1"/>
          <p:nvPr/>
        </p:nvSpPr>
        <p:spPr>
          <a:xfrm>
            <a:off x="731520" y="6108192"/>
            <a:ext cx="6217920" cy="256032"/>
          </a:xfrm>
          <a:prstGeom prst="rect">
            <a:avLst/>
          </a:prstGeom>
          <a:noFill/>
        </p:spPr>
        <p:txBody>
          <a:bodyPr wrap="square" lIns="0" rIns="0" tIns="0" bIns="0" anchor="t">
            <a:spAutoFit/>
          </a:bodyPr>
          <a:lstStyle/>
          <a:p>
            <a:pPr algn="l">
              <a:lnSpc>
                <a:spcPct val="114000"/>
              </a:lnSpc>
              <a:spcAft>
                <a:spcPts val="500"/>
              </a:spcAft>
            </a:pPr>
            <a:r>
              <a:rPr sz="1200" b="1" lang="ja-JP">
                <a:solidFill>
                  <a:srgbClr val="AFC9CE"/>
                </a:solidFill>
                <a:latin typeface="Noto Sans CJK JP"/>
                <a:ea typeface="Noto Sans CJK JP"/>
              </a:rPr>
              <a:t>▶ 今回の追加実験へ（31枚目）</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生成単体の高速化は確認。会話の待ち時間には課題が残る</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「生成が速い」と「会話の返答が速い」を分けて評価する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common/*/motion-generation.json  [R3] benchmark/summary.json  [R4] dialogue-times.csv</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02</a:t>
            </a:r>
          </a:p>
        </p:txBody>
      </p:sp>
      <p:sp>
        <p:nvSpPr>
          <p:cNvPr id="9" name="Rounded Rectangle 8"/>
          <p:cNvSpPr/>
          <p:nvPr/>
        </p:nvSpPr>
        <p:spPr>
          <a:xfrm>
            <a:off x="694944" y="2286000"/>
            <a:ext cx="3493008" cy="2148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414016"/>
            <a:ext cx="3127248" cy="384048"/>
          </a:xfrm>
          <a:prstGeom prst="rect">
            <a:avLst/>
          </a:prstGeom>
          <a:noFill/>
        </p:spPr>
        <p:txBody>
          <a:bodyPr wrap="square" lIns="0" rIns="0" tIns="0" bIns="0" anchor="t">
            <a:spAutoFit/>
          </a:bodyPr>
          <a:lstStyle/>
          <a:p>
            <a:pPr algn="l">
              <a:lnSpc>
                <a:spcPct val="114000"/>
              </a:lnSpc>
              <a:spcAft>
                <a:spcPts val="500"/>
              </a:spcAft>
            </a:pPr>
            <a:r>
              <a:rPr sz="1600" b="1" lang="ja-JP">
                <a:solidFill>
                  <a:srgbClr val="5B707B"/>
                </a:solidFill>
                <a:latin typeface="Noto Sans CJK JP"/>
                <a:ea typeface="Noto Sans CJK JP"/>
              </a:rPr>
              <a:t>MotionLCM / RTX 4090</a:t>
            </a:r>
          </a:p>
        </p:txBody>
      </p:sp>
      <p:sp>
        <p:nvSpPr>
          <p:cNvPr id="11" name="TextBox 10"/>
          <p:cNvSpPr txBox="1"/>
          <p:nvPr/>
        </p:nvSpPr>
        <p:spPr>
          <a:xfrm>
            <a:off x="877824" y="2953512"/>
            <a:ext cx="3127248" cy="758952"/>
          </a:xfrm>
          <a:prstGeom prst="rect">
            <a:avLst/>
          </a:prstGeom>
          <a:noFill/>
        </p:spPr>
        <p:txBody>
          <a:bodyPr wrap="square" lIns="0" rIns="0" tIns="0" bIns="0" anchor="t">
            <a:spAutoFit/>
          </a:bodyPr>
          <a:lstStyle/>
          <a:p>
            <a:pPr algn="l">
              <a:lnSpc>
                <a:spcPct val="114000"/>
              </a:lnSpc>
              <a:spcAft>
                <a:spcPts val="500"/>
              </a:spcAft>
            </a:pPr>
            <a:r>
              <a:rPr sz="4000" b="1" lang="ja-JP">
                <a:solidFill>
                  <a:srgbClr val="007F80"/>
                </a:solidFill>
                <a:latin typeface="Noto Sans CJK JP"/>
                <a:ea typeface="Noto Sans CJK JP"/>
              </a:rPr>
              <a:t>0.039秒</a:t>
            </a:r>
          </a:p>
        </p:txBody>
      </p:sp>
      <p:sp>
        <p:nvSpPr>
          <p:cNvPr id="12" name="TextBox 11"/>
          <p:cNvSpPr txBox="1"/>
          <p:nvPr/>
        </p:nvSpPr>
        <p:spPr>
          <a:xfrm>
            <a:off x="877824" y="3858768"/>
            <a:ext cx="3127248" cy="438912"/>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初回を除く4区間の生成処理中央値</a:t>
            </a:r>
          </a:p>
        </p:txBody>
      </p:sp>
      <p:sp>
        <p:nvSpPr>
          <p:cNvPr id="13" name="Rounded Rectangle 12"/>
          <p:cNvSpPr/>
          <p:nvPr/>
        </p:nvSpPr>
        <p:spPr>
          <a:xfrm>
            <a:off x="4352544" y="2286000"/>
            <a:ext cx="3493008" cy="2148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414016"/>
            <a:ext cx="3127248" cy="384048"/>
          </a:xfrm>
          <a:prstGeom prst="rect">
            <a:avLst/>
          </a:prstGeom>
          <a:noFill/>
        </p:spPr>
        <p:txBody>
          <a:bodyPr wrap="square" lIns="0" rIns="0" tIns="0" bIns="0" anchor="t">
            <a:spAutoFit/>
          </a:bodyPr>
          <a:lstStyle/>
          <a:p>
            <a:pPr algn="l">
              <a:lnSpc>
                <a:spcPct val="114000"/>
              </a:lnSpc>
              <a:spcAft>
                <a:spcPts val="500"/>
              </a:spcAft>
            </a:pPr>
            <a:r>
              <a:rPr sz="1600" b="1" lang="ja-JP">
                <a:solidFill>
                  <a:srgbClr val="5B707B"/>
                </a:solidFill>
                <a:latin typeface="Noto Sans CJK JP"/>
                <a:ea typeface="Noto Sans CJK JP"/>
              </a:rPr>
              <a:t>Kimodo / B300・20 steps</a:t>
            </a:r>
          </a:p>
        </p:txBody>
      </p:sp>
      <p:sp>
        <p:nvSpPr>
          <p:cNvPr id="15" name="TextBox 14"/>
          <p:cNvSpPr txBox="1"/>
          <p:nvPr/>
        </p:nvSpPr>
        <p:spPr>
          <a:xfrm>
            <a:off x="4535424" y="2953512"/>
            <a:ext cx="3127248" cy="758952"/>
          </a:xfrm>
          <a:prstGeom prst="rect">
            <a:avLst/>
          </a:prstGeom>
          <a:noFill/>
        </p:spPr>
        <p:txBody>
          <a:bodyPr wrap="square" lIns="0" rIns="0" tIns="0" bIns="0" anchor="t">
            <a:spAutoFit/>
          </a:bodyPr>
          <a:lstStyle/>
          <a:p>
            <a:pPr algn="l">
              <a:lnSpc>
                <a:spcPct val="114000"/>
              </a:lnSpc>
              <a:spcAft>
                <a:spcPts val="500"/>
              </a:spcAft>
            </a:pPr>
            <a:r>
              <a:rPr sz="4000" b="1" lang="ja-JP">
                <a:solidFill>
                  <a:srgbClr val="007F80"/>
                </a:solidFill>
                <a:latin typeface="Noto Sans CJK JP"/>
                <a:ea typeface="Noto Sans CJK JP"/>
              </a:rPr>
              <a:t>0.435秒</a:t>
            </a:r>
          </a:p>
        </p:txBody>
      </p:sp>
      <p:sp>
        <p:nvSpPr>
          <p:cNvPr id="16" name="TextBox 15"/>
          <p:cNvSpPr txBox="1"/>
          <p:nvPr/>
        </p:nvSpPr>
        <p:spPr>
          <a:xfrm>
            <a:off x="4535424" y="3858768"/>
            <a:ext cx="3127248" cy="438912"/>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約5秒の動作、3反復の中央値</a:t>
            </a:r>
          </a:p>
        </p:txBody>
      </p:sp>
      <p:sp>
        <p:nvSpPr>
          <p:cNvPr id="17" name="Rounded Rectangle 16"/>
          <p:cNvSpPr/>
          <p:nvPr/>
        </p:nvSpPr>
        <p:spPr>
          <a:xfrm>
            <a:off x="8010144" y="2286000"/>
            <a:ext cx="3493008" cy="2148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3" y="2414016"/>
            <a:ext cx="3127248" cy="384048"/>
          </a:xfrm>
          <a:prstGeom prst="rect">
            <a:avLst/>
          </a:prstGeom>
          <a:noFill/>
        </p:spPr>
        <p:txBody>
          <a:bodyPr wrap="square" lIns="0" rIns="0" tIns="0" bIns="0" anchor="t">
            <a:spAutoFit/>
          </a:bodyPr>
          <a:lstStyle/>
          <a:p>
            <a:pPr algn="l">
              <a:lnSpc>
                <a:spcPct val="114000"/>
              </a:lnSpc>
              <a:spcAft>
                <a:spcPts val="500"/>
              </a:spcAft>
            </a:pPr>
            <a:r>
              <a:rPr sz="1600" b="1" lang="ja-JP">
                <a:solidFill>
                  <a:srgbClr val="5B707B"/>
                </a:solidFill>
                <a:latin typeface="Noto Sans CJK JP"/>
                <a:ea typeface="Noto Sans CJK JP"/>
              </a:rPr>
              <a:t>Realtimeとの差</a:t>
            </a:r>
          </a:p>
        </p:txBody>
      </p:sp>
      <p:sp>
        <p:nvSpPr>
          <p:cNvPr id="19" name="TextBox 18"/>
          <p:cNvSpPr txBox="1"/>
          <p:nvPr/>
        </p:nvSpPr>
        <p:spPr>
          <a:xfrm>
            <a:off x="8193023" y="2953512"/>
            <a:ext cx="3127248" cy="758952"/>
          </a:xfrm>
          <a:prstGeom prst="rect">
            <a:avLst/>
          </a:prstGeom>
          <a:noFill/>
        </p:spPr>
        <p:txBody>
          <a:bodyPr wrap="square" lIns="0" rIns="0" tIns="0" bIns="0" anchor="t">
            <a:spAutoFit/>
          </a:bodyPr>
          <a:lstStyle/>
          <a:p>
            <a:pPr algn="l">
              <a:lnSpc>
                <a:spcPct val="114000"/>
              </a:lnSpc>
              <a:spcAft>
                <a:spcPts val="500"/>
              </a:spcAft>
            </a:pPr>
            <a:r>
              <a:rPr sz="4000" b="1" lang="ja-JP">
                <a:solidFill>
                  <a:srgbClr val="B56B13"/>
                </a:solidFill>
                <a:latin typeface="Noto Sans CJK JP"/>
                <a:ea typeface="Noto Sans CJK JP"/>
              </a:rPr>
              <a:t>3.252秒</a:t>
            </a:r>
          </a:p>
        </p:txBody>
      </p:sp>
      <p:sp>
        <p:nvSpPr>
          <p:cNvPr id="20" name="TextBox 19"/>
          <p:cNvSpPr txBox="1"/>
          <p:nvPr/>
        </p:nvSpPr>
        <p:spPr>
          <a:xfrm>
            <a:off x="8193023" y="3858768"/>
            <a:ext cx="3127248" cy="438912"/>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B300高速設定の会話実測・1回</a:t>
            </a:r>
          </a:p>
        </p:txBody>
      </p:sp>
      <p:sp>
        <p:nvSpPr>
          <p:cNvPr id="21" name="Rounded Rectangle 20"/>
          <p:cNvSpPr/>
          <p:nvPr/>
        </p:nvSpPr>
        <p:spPr>
          <a:xfrm>
            <a:off x="694944" y="4791456"/>
            <a:ext cx="10808208" cy="1170432"/>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4944" y="4791456"/>
            <a:ext cx="41148" cy="1170432"/>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4956048"/>
            <a:ext cx="1046073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判断</a:t>
            </a:r>
          </a:p>
        </p:txBody>
      </p:sp>
      <p:sp>
        <p:nvSpPr>
          <p:cNvPr id="24" name="TextBox 23"/>
          <p:cNvSpPr txBox="1"/>
          <p:nvPr/>
        </p:nvSpPr>
        <p:spPr>
          <a:xfrm>
            <a:off x="877824" y="5504688"/>
            <a:ext cx="10442448" cy="384048"/>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次の焦点はモデル常駐・全文待ち・結果中継の短縮と、ジェスチャー品質の評価。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目標は、音声の返答と上半身ジェスチャーをそろえること</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評価対象：録音した生徒音声 → Realtimeの実応答 → 新規の動作生成 → VRM表示</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[R2] audio-response-times.csv  [R4] dialogue-*/measurement.json</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03</a:t>
            </a:r>
          </a:p>
        </p:txBody>
      </p:sp>
      <p:sp>
        <p:nvSpPr>
          <p:cNvPr id="9" name="Rounded Rectangle 8"/>
          <p:cNvSpPr/>
          <p:nvPr/>
        </p:nvSpPr>
        <p:spPr>
          <a:xfrm>
            <a:off x="694944" y="2423160"/>
            <a:ext cx="2487168" cy="137160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606040"/>
            <a:ext cx="2194560" cy="402336"/>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生徒の音声</a:t>
            </a:r>
          </a:p>
        </p:txBody>
      </p:sp>
      <p:sp>
        <p:nvSpPr>
          <p:cNvPr id="11" name="TextBox 10"/>
          <p:cNvSpPr txBox="1"/>
          <p:nvPr/>
        </p:nvSpPr>
        <p:spPr>
          <a:xfrm>
            <a:off x="841248" y="3200400"/>
            <a:ext cx="2194560" cy="365760"/>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先生、こんにちは！</a:t>
            </a:r>
          </a:p>
        </p:txBody>
      </p:sp>
      <p:sp>
        <p:nvSpPr>
          <p:cNvPr id="12" name="TextBox 11"/>
          <p:cNvSpPr txBox="1"/>
          <p:nvPr/>
        </p:nvSpPr>
        <p:spPr>
          <a:xfrm>
            <a:off x="3218687" y="2834640"/>
            <a:ext cx="228600" cy="365760"/>
          </a:xfrm>
          <a:prstGeom prst="rect">
            <a:avLst/>
          </a:prstGeom>
          <a:noFill/>
        </p:spPr>
        <p:txBody>
          <a:bodyPr wrap="square" lIns="0" rIns="0" tIns="0" bIns="0" anchor="t">
            <a:spAutoFit/>
          </a:bodyPr>
          <a:lstStyle/>
          <a:p>
            <a:pPr algn="l">
              <a:lnSpc>
                <a:spcPct val="114000"/>
              </a:lnSpc>
              <a:spcAft>
                <a:spcPts val="500"/>
              </a:spcAft>
            </a:pPr>
            <a:r>
              <a:rPr sz="2000" b="0" lang="ja-JP">
                <a:solidFill>
                  <a:srgbClr val="5B707B"/>
                </a:solidFill>
                <a:latin typeface="Noto Sans CJK JP"/>
                <a:ea typeface="Noto Sans CJK JP"/>
              </a:rPr>
              <a:t>→</a:t>
            </a:r>
          </a:p>
        </p:txBody>
      </p:sp>
      <p:sp>
        <p:nvSpPr>
          <p:cNvPr id="13" name="Rounded Rectangle 12"/>
          <p:cNvSpPr/>
          <p:nvPr/>
        </p:nvSpPr>
        <p:spPr>
          <a:xfrm>
            <a:off x="3456432" y="2423160"/>
            <a:ext cx="2487168" cy="137160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02736" y="2606040"/>
            <a:ext cx="2194560" cy="402336"/>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Realtime</a:t>
            </a:r>
          </a:p>
        </p:txBody>
      </p:sp>
      <p:sp>
        <p:nvSpPr>
          <p:cNvPr id="15" name="TextBox 14"/>
          <p:cNvSpPr txBox="1"/>
          <p:nvPr/>
        </p:nvSpPr>
        <p:spPr>
          <a:xfrm>
            <a:off x="3602736" y="3200400"/>
            <a:ext cx="2194560" cy="365760"/>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返答の音声・文字</a:t>
            </a:r>
          </a:p>
        </p:txBody>
      </p:sp>
      <p:sp>
        <p:nvSpPr>
          <p:cNvPr id="16" name="TextBox 15"/>
          <p:cNvSpPr txBox="1"/>
          <p:nvPr/>
        </p:nvSpPr>
        <p:spPr>
          <a:xfrm>
            <a:off x="5980176" y="2834640"/>
            <a:ext cx="228600" cy="365760"/>
          </a:xfrm>
          <a:prstGeom prst="rect">
            <a:avLst/>
          </a:prstGeom>
          <a:noFill/>
        </p:spPr>
        <p:txBody>
          <a:bodyPr wrap="square" lIns="0" rIns="0" tIns="0" bIns="0" anchor="t">
            <a:spAutoFit/>
          </a:bodyPr>
          <a:lstStyle/>
          <a:p>
            <a:pPr algn="l">
              <a:lnSpc>
                <a:spcPct val="114000"/>
              </a:lnSpc>
              <a:spcAft>
                <a:spcPts val="500"/>
              </a:spcAft>
            </a:pPr>
            <a:r>
              <a:rPr sz="2000" b="0" lang="ja-JP">
                <a:solidFill>
                  <a:srgbClr val="5B707B"/>
                </a:solidFill>
                <a:latin typeface="Noto Sans CJK JP"/>
                <a:ea typeface="Noto Sans CJK JP"/>
              </a:rPr>
              <a:t>→</a:t>
            </a:r>
          </a:p>
        </p:txBody>
      </p:sp>
      <p:sp>
        <p:nvSpPr>
          <p:cNvPr id="17" name="Rounded Rectangle 16"/>
          <p:cNvSpPr/>
          <p:nvPr/>
        </p:nvSpPr>
        <p:spPr>
          <a:xfrm>
            <a:off x="6217920" y="2423160"/>
            <a:ext cx="2487168" cy="137160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2606040"/>
            <a:ext cx="2194560" cy="402336"/>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動作モデル</a:t>
            </a:r>
          </a:p>
        </p:txBody>
      </p:sp>
      <p:sp>
        <p:nvSpPr>
          <p:cNvPr id="19" name="TextBox 18"/>
          <p:cNvSpPr txBox="1"/>
          <p:nvPr/>
        </p:nvSpPr>
        <p:spPr>
          <a:xfrm>
            <a:off x="6364224" y="3200400"/>
            <a:ext cx="2194560" cy="365760"/>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新規の骨格を生成</a:t>
            </a:r>
          </a:p>
        </p:txBody>
      </p:sp>
      <p:sp>
        <p:nvSpPr>
          <p:cNvPr id="20" name="TextBox 19"/>
          <p:cNvSpPr txBox="1"/>
          <p:nvPr/>
        </p:nvSpPr>
        <p:spPr>
          <a:xfrm>
            <a:off x="8741663" y="2834640"/>
            <a:ext cx="228600" cy="365760"/>
          </a:xfrm>
          <a:prstGeom prst="rect">
            <a:avLst/>
          </a:prstGeom>
          <a:noFill/>
        </p:spPr>
        <p:txBody>
          <a:bodyPr wrap="square" lIns="0" rIns="0" tIns="0" bIns="0" anchor="t">
            <a:spAutoFit/>
          </a:bodyPr>
          <a:lstStyle/>
          <a:p>
            <a:pPr algn="l">
              <a:lnSpc>
                <a:spcPct val="114000"/>
              </a:lnSpc>
              <a:spcAft>
                <a:spcPts val="500"/>
              </a:spcAft>
            </a:pPr>
            <a:r>
              <a:rPr sz="2000" b="0" lang="ja-JP">
                <a:solidFill>
                  <a:srgbClr val="5B707B"/>
                </a:solidFill>
                <a:latin typeface="Noto Sans CJK JP"/>
                <a:ea typeface="Noto Sans CJK JP"/>
              </a:rPr>
              <a:t>→</a:t>
            </a:r>
          </a:p>
        </p:txBody>
      </p:sp>
      <p:sp>
        <p:nvSpPr>
          <p:cNvPr id="21" name="Rounded Rectangle 20"/>
          <p:cNvSpPr/>
          <p:nvPr/>
        </p:nvSpPr>
        <p:spPr>
          <a:xfrm>
            <a:off x="8979408" y="2423160"/>
            <a:ext cx="2487168" cy="137160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2606040"/>
            <a:ext cx="2194560" cy="402336"/>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VRMアバター</a:t>
            </a:r>
          </a:p>
        </p:txBody>
      </p:sp>
      <p:sp>
        <p:nvSpPr>
          <p:cNvPr id="23" name="TextBox 22"/>
          <p:cNvSpPr txBox="1"/>
          <p:nvPr/>
        </p:nvSpPr>
        <p:spPr>
          <a:xfrm>
            <a:off x="9125712" y="3200400"/>
            <a:ext cx="2194560" cy="365760"/>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発話と動作を同期</a:t>
            </a:r>
          </a:p>
        </p:txBody>
      </p:sp>
      <p:sp>
        <p:nvSpPr>
          <p:cNvPr id="24" name="Rounded Rectangle 23"/>
          <p:cNvSpPr/>
          <p:nvPr/>
        </p:nvSpPr>
        <p:spPr>
          <a:xfrm>
            <a:off x="694944" y="4206240"/>
            <a:ext cx="5248656" cy="1645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4944" y="4206240"/>
            <a:ext cx="41148" cy="164592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4370831"/>
            <a:ext cx="4901184"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応答テンポの目標</a:t>
            </a:r>
          </a:p>
        </p:txBody>
      </p:sp>
      <p:sp>
        <p:nvSpPr>
          <p:cNvPr id="27" name="TextBox 26"/>
          <p:cNvSpPr txBox="1"/>
          <p:nvPr/>
        </p:nvSpPr>
        <p:spPr>
          <a:xfrm>
            <a:off x="877824" y="4919472"/>
            <a:ext cx="4882896" cy="859536"/>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Realtimeの最初の音声受信から、</a:t>
            </a:r>
          </a:p>
          <a:p>
            <a:pPr algn="l">
              <a:lnSpc>
                <a:spcPct val="114000"/>
              </a:lnSpc>
              <a:spcAft>
                <a:spcPts val="500"/>
              </a:spcAft>
            </a:pPr>
            <a:r>
              <a:rPr sz="1700" b="0" lang="ja-JP">
                <a:solidFill>
                  <a:srgbClr val="183440"/>
                </a:solidFill>
                <a:latin typeface="Noto Sans CJK JP"/>
                <a:ea typeface="Noto Sans CJK JP"/>
              </a:rPr>
              <a:t>骨格が使えるまでの追加待ちを1秒以内へ。</a:t>
            </a:r>
          </a:p>
        </p:txBody>
      </p:sp>
      <p:sp>
        <p:nvSpPr>
          <p:cNvPr id="28" name="Rounded Rectangle 27"/>
          <p:cNvSpPr/>
          <p:nvPr/>
        </p:nvSpPr>
        <p:spPr>
          <a:xfrm>
            <a:off x="6199632" y="4206240"/>
            <a:ext cx="5248656" cy="1645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9632" y="4206240"/>
            <a:ext cx="41148" cy="164592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2512" y="4370831"/>
            <a:ext cx="4901184"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運用上の条件</a:t>
            </a:r>
          </a:p>
        </p:txBody>
      </p:sp>
      <p:sp>
        <p:nvSpPr>
          <p:cNvPr id="31" name="TextBox 30"/>
          <p:cNvSpPr txBox="1"/>
          <p:nvPr/>
        </p:nvSpPr>
        <p:spPr>
          <a:xfrm>
            <a:off x="6382512" y="4919472"/>
            <a:ext cx="4882896" cy="859536"/>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上半身のみ表示／研究室Windowsで再現／</a:t>
            </a:r>
          </a:p>
          <a:p>
            <a:pPr algn="l">
              <a:lnSpc>
                <a:spcPct val="114000"/>
              </a:lnSpc>
              <a:spcAft>
                <a:spcPts val="500"/>
              </a:spcAft>
            </a:pPr>
            <a:r>
              <a:rPr sz="1700" b="0" lang="ja-JP">
                <a:solidFill>
                  <a:srgbClr val="183440"/>
                </a:solidFill>
                <a:latin typeface="Noto Sans CJK JP"/>
                <a:ea typeface="Noto Sans CJK JP"/>
              </a:rPr>
              <a:t>既存環境への変更を抑える。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7モデルを実生成。出力する役割が異なるモデルを含む</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話し手のジェスチャー、聞き手の全身反応、頭部反応を区別する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common-input-times.csv  [R2] README.md  [R8] model_compatibility.md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04</a:t>
            </a:r>
          </a:p>
        </p:txBody>
      </p:sp>
      <p:sp>
        <p:nvSpPr>
          <p:cNvPr id="9" name="Rectangle 8"/>
          <p:cNvSpPr/>
          <p:nvPr/>
        </p:nvSpPr>
        <p:spPr>
          <a:xfrm>
            <a:off x="694944" y="2157984"/>
            <a:ext cx="10789919" cy="411480"/>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40279"/>
            <a:ext cx="1783080" cy="301752"/>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モデル</a:t>
            </a:r>
          </a:p>
        </p:txBody>
      </p:sp>
      <p:sp>
        <p:nvSpPr>
          <p:cNvPr id="11" name="TextBox 10"/>
          <p:cNvSpPr txBox="1"/>
          <p:nvPr/>
        </p:nvSpPr>
        <p:spPr>
          <a:xfrm>
            <a:off x="2770632" y="2240279"/>
            <a:ext cx="2240279" cy="301752"/>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役割・出力</a:t>
            </a:r>
          </a:p>
        </p:txBody>
      </p:sp>
      <p:sp>
        <p:nvSpPr>
          <p:cNvPr id="12" name="TextBox 11"/>
          <p:cNvSpPr txBox="1"/>
          <p:nvPr/>
        </p:nvSpPr>
        <p:spPr>
          <a:xfrm>
            <a:off x="5193792" y="2240279"/>
            <a:ext cx="1325880" cy="301752"/>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入力</a:t>
            </a:r>
          </a:p>
        </p:txBody>
      </p:sp>
      <p:sp>
        <p:nvSpPr>
          <p:cNvPr id="13" name="TextBox 12"/>
          <p:cNvSpPr txBox="1"/>
          <p:nvPr/>
        </p:nvSpPr>
        <p:spPr>
          <a:xfrm>
            <a:off x="6702552" y="2240279"/>
            <a:ext cx="4709159" cy="301752"/>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今回の経路</a:t>
            </a:r>
          </a:p>
        </p:txBody>
      </p:sp>
      <p:sp>
        <p:nvSpPr>
          <p:cNvPr id="14" name="Rectangle 13"/>
          <p:cNvSpPr/>
          <p:nvPr/>
        </p:nvSpPr>
        <p:spPr>
          <a:xfrm>
            <a:off x="694944" y="2569464"/>
            <a:ext cx="10789919" cy="41148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65176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Kimodo</a:t>
            </a:r>
          </a:p>
        </p:txBody>
      </p:sp>
      <p:sp>
        <p:nvSpPr>
          <p:cNvPr id="16" name="TextBox 15"/>
          <p:cNvSpPr txBox="1"/>
          <p:nvPr/>
        </p:nvSpPr>
        <p:spPr>
          <a:xfrm>
            <a:off x="2770632" y="265176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17" name="TextBox 16"/>
          <p:cNvSpPr txBox="1"/>
          <p:nvPr/>
        </p:nvSpPr>
        <p:spPr>
          <a:xfrm>
            <a:off x="5193792" y="265176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18" name="TextBox 17"/>
          <p:cNvSpPr txBox="1"/>
          <p:nvPr/>
        </p:nvSpPr>
        <p:spPr>
          <a:xfrm>
            <a:off x="6702552" y="265176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公式オンライン／B300</a:t>
            </a:r>
          </a:p>
        </p:txBody>
      </p:sp>
      <p:sp>
        <p:nvSpPr>
          <p:cNvPr id="19" name="Rectangle 18"/>
          <p:cNvSpPr/>
          <p:nvPr/>
        </p:nvSpPr>
        <p:spPr>
          <a:xfrm>
            <a:off x="694944" y="2980944"/>
            <a:ext cx="10789919"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063239"/>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ARDY</a:t>
            </a:r>
          </a:p>
        </p:txBody>
      </p:sp>
      <p:sp>
        <p:nvSpPr>
          <p:cNvPr id="21" name="TextBox 20"/>
          <p:cNvSpPr txBox="1"/>
          <p:nvPr/>
        </p:nvSpPr>
        <p:spPr>
          <a:xfrm>
            <a:off x="2770632" y="3063239"/>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22" name="TextBox 21"/>
          <p:cNvSpPr txBox="1"/>
          <p:nvPr/>
        </p:nvSpPr>
        <p:spPr>
          <a:xfrm>
            <a:off x="5193792" y="3063239"/>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23" name="TextBox 22"/>
          <p:cNvSpPr txBox="1"/>
          <p:nvPr/>
        </p:nvSpPr>
        <p:spPr>
          <a:xfrm>
            <a:off x="6702552" y="3063239"/>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Core8／CPU特徴＋CUDA</a:t>
            </a:r>
          </a:p>
        </p:txBody>
      </p:sp>
      <p:sp>
        <p:nvSpPr>
          <p:cNvPr id="24" name="Rectangle 23"/>
          <p:cNvSpPr/>
          <p:nvPr/>
        </p:nvSpPr>
        <p:spPr>
          <a:xfrm>
            <a:off x="694944" y="3392424"/>
            <a:ext cx="10789919" cy="41148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47472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MotionLCM</a:t>
            </a:r>
          </a:p>
        </p:txBody>
      </p:sp>
      <p:sp>
        <p:nvSpPr>
          <p:cNvPr id="26" name="TextBox 25"/>
          <p:cNvSpPr txBox="1"/>
          <p:nvPr/>
        </p:nvSpPr>
        <p:spPr>
          <a:xfrm>
            <a:off x="2770632" y="347472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27" name="TextBox 26"/>
          <p:cNvSpPr txBox="1"/>
          <p:nvPr/>
        </p:nvSpPr>
        <p:spPr>
          <a:xfrm>
            <a:off x="5193792" y="347472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28" name="TextBox 27"/>
          <p:cNvSpPr txBox="1"/>
          <p:nvPr/>
        </p:nvSpPr>
        <p:spPr>
          <a:xfrm>
            <a:off x="6702552" y="347472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HumanML3D系</a:t>
            </a:r>
          </a:p>
        </p:txBody>
      </p:sp>
      <p:sp>
        <p:nvSpPr>
          <p:cNvPr id="29" name="Rectangle 28"/>
          <p:cNvSpPr/>
          <p:nvPr/>
        </p:nvSpPr>
        <p:spPr>
          <a:xfrm>
            <a:off x="694944" y="3803904"/>
            <a:ext cx="10789919"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388620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MoMask</a:t>
            </a:r>
          </a:p>
        </p:txBody>
      </p:sp>
      <p:sp>
        <p:nvSpPr>
          <p:cNvPr id="31" name="TextBox 30"/>
          <p:cNvSpPr txBox="1"/>
          <p:nvPr/>
        </p:nvSpPr>
        <p:spPr>
          <a:xfrm>
            <a:off x="2770632" y="388620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32" name="TextBox 31"/>
          <p:cNvSpPr txBox="1"/>
          <p:nvPr/>
        </p:nvSpPr>
        <p:spPr>
          <a:xfrm>
            <a:off x="5193792" y="388620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33" name="TextBox 32"/>
          <p:cNvSpPr txBox="1"/>
          <p:nvPr/>
        </p:nvSpPr>
        <p:spPr>
          <a:xfrm>
            <a:off x="6702552" y="388620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HumanML3D系</a:t>
            </a:r>
          </a:p>
        </p:txBody>
      </p:sp>
      <p:sp>
        <p:nvSpPr>
          <p:cNvPr id="34" name="Rectangle 33"/>
          <p:cNvSpPr/>
          <p:nvPr/>
        </p:nvSpPr>
        <p:spPr>
          <a:xfrm>
            <a:off x="694944" y="4215383"/>
            <a:ext cx="10789919" cy="41148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297679"/>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MMM</a:t>
            </a:r>
          </a:p>
        </p:txBody>
      </p:sp>
      <p:sp>
        <p:nvSpPr>
          <p:cNvPr id="36" name="TextBox 35"/>
          <p:cNvSpPr txBox="1"/>
          <p:nvPr/>
        </p:nvSpPr>
        <p:spPr>
          <a:xfrm>
            <a:off x="2770632" y="4297679"/>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37" name="TextBox 36"/>
          <p:cNvSpPr txBox="1"/>
          <p:nvPr/>
        </p:nvSpPr>
        <p:spPr>
          <a:xfrm>
            <a:off x="5193792" y="4297679"/>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38" name="TextBox 37"/>
          <p:cNvSpPr txBox="1"/>
          <p:nvPr/>
        </p:nvSpPr>
        <p:spPr>
          <a:xfrm>
            <a:off x="6702552" y="4297679"/>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HumanML3D系</a:t>
            </a:r>
          </a:p>
        </p:txBody>
      </p:sp>
      <p:sp>
        <p:nvSpPr>
          <p:cNvPr id="39" name="Rectangle 38"/>
          <p:cNvSpPr/>
          <p:nvPr/>
        </p:nvSpPr>
        <p:spPr>
          <a:xfrm>
            <a:off x="694944" y="4626864"/>
            <a:ext cx="10789919"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470916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ReactMotion</a:t>
            </a:r>
          </a:p>
        </p:txBody>
      </p:sp>
      <p:sp>
        <p:nvSpPr>
          <p:cNvPr id="41" name="TextBox 40"/>
          <p:cNvSpPr txBox="1"/>
          <p:nvPr/>
        </p:nvSpPr>
        <p:spPr>
          <a:xfrm>
            <a:off x="2770632" y="470916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聞き手・全身</a:t>
            </a:r>
          </a:p>
        </p:txBody>
      </p:sp>
      <p:sp>
        <p:nvSpPr>
          <p:cNvPr id="42" name="TextBox 41"/>
          <p:cNvSpPr txBox="1"/>
          <p:nvPr/>
        </p:nvSpPr>
        <p:spPr>
          <a:xfrm>
            <a:off x="5193792" y="470916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43" name="TextBox 42"/>
          <p:cNvSpPr txBox="1"/>
          <p:nvPr/>
        </p:nvSpPr>
        <p:spPr>
          <a:xfrm>
            <a:off x="6702552" y="470916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会話では生徒の認識文</a:t>
            </a:r>
          </a:p>
        </p:txBody>
      </p:sp>
      <p:sp>
        <p:nvSpPr>
          <p:cNvPr id="44" name="Rectangle 43"/>
          <p:cNvSpPr/>
          <p:nvPr/>
        </p:nvSpPr>
        <p:spPr>
          <a:xfrm>
            <a:off x="694944" y="5038344"/>
            <a:ext cx="10789919" cy="41148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512064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MaAI</a:t>
            </a:r>
          </a:p>
        </p:txBody>
      </p:sp>
      <p:sp>
        <p:nvSpPr>
          <p:cNvPr id="46" name="TextBox 45"/>
          <p:cNvSpPr txBox="1"/>
          <p:nvPr/>
        </p:nvSpPr>
        <p:spPr>
          <a:xfrm>
            <a:off x="2770632" y="512064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聞き手・頭部</a:t>
            </a:r>
          </a:p>
        </p:txBody>
      </p:sp>
      <p:sp>
        <p:nvSpPr>
          <p:cNvPr id="47" name="TextBox 46"/>
          <p:cNvSpPr txBox="1"/>
          <p:nvPr/>
        </p:nvSpPr>
        <p:spPr>
          <a:xfrm>
            <a:off x="5193792" y="512064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音声</a:t>
            </a:r>
          </a:p>
        </p:txBody>
      </p:sp>
      <p:sp>
        <p:nvSpPr>
          <p:cNvPr id="48" name="TextBox 47"/>
          <p:cNvSpPr txBox="1"/>
          <p:nvPr/>
        </p:nvSpPr>
        <p:spPr>
          <a:xfrm>
            <a:off x="6702552" y="512064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頭部パラメーター・うなずき</a:t>
            </a:r>
          </a:p>
        </p:txBody>
      </p:sp>
      <p:sp>
        <p:nvSpPr>
          <p:cNvPr id="49" name="TextBox 48"/>
          <p:cNvSpPr txBox="1"/>
          <p:nvPr/>
        </p:nvSpPr>
        <p:spPr>
          <a:xfrm>
            <a:off x="758952" y="5696712"/>
            <a:ext cx="10607040" cy="411480"/>
          </a:xfrm>
          <a:prstGeom prst="rect">
            <a:avLst/>
          </a:prstGeom>
          <a:noFill/>
        </p:spPr>
        <p:txBody>
          <a:bodyPr wrap="square" lIns="0" rIns="0" tIns="0" bIns="0" anchor="t">
            <a:spAutoFit/>
          </a:bodyPr>
          <a:lstStyle/>
          <a:p>
            <a:pPr algn="l">
              <a:lnSpc>
                <a:spcPct val="114000"/>
              </a:lnSpc>
              <a:spcAft>
                <a:spcPts val="500"/>
              </a:spcAft>
            </a:pPr>
            <a:r>
              <a:rPr sz="1500" b="0" lang="ja-JP">
                <a:solidFill>
                  <a:srgbClr val="5B707B"/>
                </a:solidFill>
                <a:latin typeface="Noto Sans CJK JP"/>
                <a:ea typeface="Noto Sans CJK JP"/>
              </a:rPr>
              <a:t>text-to-vrma：ARDYの出力をVRMAへ変換する別経路。統合済み・同条件の実生成時間は未測定。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研究室PCの制約を意識しつつ、GPU環境を段階的に拡張</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RTX 4090の制限実験とB300実験は、RTX 5070 / Windowsの実測ではない</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[R5] reproducibility/hardware.json  [R6] benchmark/hardware.json  docs/windows_lab.md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05</a:t>
            </a:r>
          </a:p>
        </p:txBody>
      </p:sp>
      <p:sp>
        <p:nvSpPr>
          <p:cNvPr id="9" name="Rectangle 8"/>
          <p:cNvSpPr/>
          <p:nvPr/>
        </p:nvSpPr>
        <p:spPr>
          <a:xfrm>
            <a:off x="694944" y="2194560"/>
            <a:ext cx="10789920" cy="429768"/>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76856"/>
            <a:ext cx="132588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項目</a:t>
            </a:r>
          </a:p>
        </p:txBody>
      </p:sp>
      <p:sp>
        <p:nvSpPr>
          <p:cNvPr id="11" name="TextBox 10"/>
          <p:cNvSpPr txBox="1"/>
          <p:nvPr/>
        </p:nvSpPr>
        <p:spPr>
          <a:xfrm>
            <a:off x="2313432" y="2276856"/>
            <a:ext cx="256032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研究室PC</a:t>
            </a:r>
          </a:p>
        </p:txBody>
      </p:sp>
      <p:sp>
        <p:nvSpPr>
          <p:cNvPr id="12" name="TextBox 11"/>
          <p:cNvSpPr txBox="1"/>
          <p:nvPr/>
        </p:nvSpPr>
        <p:spPr>
          <a:xfrm>
            <a:off x="5056632" y="2276856"/>
            <a:ext cx="301752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7モデル比較のローカルGPU</a:t>
            </a:r>
          </a:p>
        </p:txBody>
      </p:sp>
      <p:sp>
        <p:nvSpPr>
          <p:cNvPr id="13" name="TextBox 12"/>
          <p:cNvSpPr txBox="1"/>
          <p:nvPr/>
        </p:nvSpPr>
        <p:spPr>
          <a:xfrm>
            <a:off x="8257031" y="2276856"/>
            <a:ext cx="3154679"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Kimodo常駐検証</a:t>
            </a:r>
          </a:p>
        </p:txBody>
      </p:sp>
      <p:sp>
        <p:nvSpPr>
          <p:cNvPr id="14" name="Rectangle 13"/>
          <p:cNvSpPr/>
          <p:nvPr/>
        </p:nvSpPr>
        <p:spPr>
          <a:xfrm>
            <a:off x="694944" y="2624328"/>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706624"/>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GPU</a:t>
            </a:r>
          </a:p>
        </p:txBody>
      </p:sp>
      <p:sp>
        <p:nvSpPr>
          <p:cNvPr id="16" name="TextBox 15"/>
          <p:cNvSpPr txBox="1"/>
          <p:nvPr/>
        </p:nvSpPr>
        <p:spPr>
          <a:xfrm>
            <a:off x="2313432" y="2706624"/>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RTX 5070 ×1</a:t>
            </a:r>
          </a:p>
        </p:txBody>
      </p:sp>
      <p:sp>
        <p:nvSpPr>
          <p:cNvPr id="17" name="TextBox 16"/>
          <p:cNvSpPr txBox="1"/>
          <p:nvPr/>
        </p:nvSpPr>
        <p:spPr>
          <a:xfrm>
            <a:off x="5056632" y="2706624"/>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RTX 4090 ×1</a:t>
            </a:r>
          </a:p>
        </p:txBody>
      </p:sp>
      <p:sp>
        <p:nvSpPr>
          <p:cNvPr id="18" name="TextBox 17"/>
          <p:cNvSpPr txBox="1"/>
          <p:nvPr/>
        </p:nvSpPr>
        <p:spPr>
          <a:xfrm>
            <a:off x="8257031" y="2706624"/>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B300 SXM6 AC ×1</a:t>
            </a:r>
          </a:p>
        </p:txBody>
      </p:sp>
      <p:sp>
        <p:nvSpPr>
          <p:cNvPr id="19" name="Rectangle 18"/>
          <p:cNvSpPr/>
          <p:nvPr/>
        </p:nvSpPr>
        <p:spPr>
          <a:xfrm>
            <a:off x="694944" y="3054096"/>
            <a:ext cx="10789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136391"/>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VRAM</a:t>
            </a:r>
          </a:p>
        </p:txBody>
      </p:sp>
      <p:sp>
        <p:nvSpPr>
          <p:cNvPr id="21" name="TextBox 20"/>
          <p:cNvSpPr txBox="1"/>
          <p:nvPr/>
        </p:nvSpPr>
        <p:spPr>
          <a:xfrm>
            <a:off x="2313432" y="3136391"/>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12GB</a:t>
            </a:r>
          </a:p>
        </p:txBody>
      </p:sp>
      <p:sp>
        <p:nvSpPr>
          <p:cNvPr id="22" name="TextBox 21"/>
          <p:cNvSpPr txBox="1"/>
          <p:nvPr/>
        </p:nvSpPr>
        <p:spPr>
          <a:xfrm>
            <a:off x="5056632" y="3136391"/>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24GB／allocator制限</a:t>
            </a:r>
          </a:p>
        </p:txBody>
      </p:sp>
      <p:sp>
        <p:nvSpPr>
          <p:cNvPr id="23" name="TextBox 22"/>
          <p:cNvSpPr txBox="1"/>
          <p:nvPr/>
        </p:nvSpPr>
        <p:spPr>
          <a:xfrm>
            <a:off x="8257031" y="3136391"/>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公称288GB</a:t>
            </a:r>
          </a:p>
        </p:txBody>
      </p:sp>
      <p:sp>
        <p:nvSpPr>
          <p:cNvPr id="24" name="Rectangle 23"/>
          <p:cNvSpPr/>
          <p:nvPr/>
        </p:nvSpPr>
        <p:spPr>
          <a:xfrm>
            <a:off x="694944" y="3483863"/>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566159"/>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CPU</a:t>
            </a:r>
          </a:p>
        </p:txBody>
      </p:sp>
      <p:sp>
        <p:nvSpPr>
          <p:cNvPr id="26" name="TextBox 25"/>
          <p:cNvSpPr txBox="1"/>
          <p:nvPr/>
        </p:nvSpPr>
        <p:spPr>
          <a:xfrm>
            <a:off x="2313432" y="3566159"/>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Ryzen 7 5700X</a:t>
            </a:r>
          </a:p>
        </p:txBody>
      </p:sp>
      <p:sp>
        <p:nvSpPr>
          <p:cNvPr id="27" name="TextBox 26"/>
          <p:cNvSpPr txBox="1"/>
          <p:nvPr/>
        </p:nvSpPr>
        <p:spPr>
          <a:xfrm>
            <a:off x="5056632" y="3566159"/>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AMD EPYC 7K62</a:t>
            </a:r>
          </a:p>
        </p:txBody>
      </p:sp>
      <p:sp>
        <p:nvSpPr>
          <p:cNvPr id="28" name="TextBox 27"/>
          <p:cNvSpPr txBox="1"/>
          <p:nvPr/>
        </p:nvSpPr>
        <p:spPr>
          <a:xfrm>
            <a:off x="8257031" y="3566159"/>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Intel Xeon 6740E</a:t>
            </a:r>
          </a:p>
        </p:txBody>
      </p:sp>
      <p:sp>
        <p:nvSpPr>
          <p:cNvPr id="29" name="Rectangle 28"/>
          <p:cNvSpPr/>
          <p:nvPr/>
        </p:nvSpPr>
        <p:spPr>
          <a:xfrm>
            <a:off x="694944" y="3913631"/>
            <a:ext cx="10789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3995927"/>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CPU設定</a:t>
            </a:r>
          </a:p>
        </p:txBody>
      </p:sp>
      <p:sp>
        <p:nvSpPr>
          <p:cNvPr id="31" name="TextBox 30"/>
          <p:cNvSpPr txBox="1"/>
          <p:nvPr/>
        </p:nvSpPr>
        <p:spPr>
          <a:xfrm>
            <a:off x="2313432" y="3995927"/>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8コア16スレッド</a:t>
            </a:r>
          </a:p>
        </p:txBody>
      </p:sp>
      <p:sp>
        <p:nvSpPr>
          <p:cNvPr id="32" name="TextBox 31"/>
          <p:cNvSpPr txBox="1"/>
          <p:nvPr/>
        </p:nvSpPr>
        <p:spPr>
          <a:xfrm>
            <a:off x="5056632" y="3995927"/>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推論8スレッド・affinity 8</a:t>
            </a:r>
          </a:p>
        </p:txBody>
      </p:sp>
      <p:sp>
        <p:nvSpPr>
          <p:cNvPr id="33" name="TextBox 32"/>
          <p:cNvSpPr txBox="1"/>
          <p:nvPr/>
        </p:nvSpPr>
        <p:spPr>
          <a:xfrm>
            <a:off x="8257031" y="3995927"/>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割当24vCPU／推論8スレッド</a:t>
            </a:r>
          </a:p>
        </p:txBody>
      </p:sp>
      <p:sp>
        <p:nvSpPr>
          <p:cNvPr id="34" name="Rectangle 33"/>
          <p:cNvSpPr/>
          <p:nvPr/>
        </p:nvSpPr>
        <p:spPr>
          <a:xfrm>
            <a:off x="694944" y="4343400"/>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425696"/>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RAM</a:t>
            </a:r>
          </a:p>
        </p:txBody>
      </p:sp>
      <p:sp>
        <p:nvSpPr>
          <p:cNvPr id="36" name="TextBox 35"/>
          <p:cNvSpPr txBox="1"/>
          <p:nvPr/>
        </p:nvSpPr>
        <p:spPr>
          <a:xfrm>
            <a:off x="2313432" y="4425696"/>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32GB</a:t>
            </a:r>
          </a:p>
        </p:txBody>
      </p:sp>
      <p:sp>
        <p:nvSpPr>
          <p:cNvPr id="37" name="TextBox 36"/>
          <p:cNvSpPr txBox="1"/>
          <p:nvPr/>
        </p:nvSpPr>
        <p:spPr>
          <a:xfrm>
            <a:off x="5056632" y="4425696"/>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32GBのハード上限なし</a:t>
            </a:r>
          </a:p>
        </p:txBody>
      </p:sp>
      <p:sp>
        <p:nvSpPr>
          <p:cNvPr id="38" name="TextBox 37"/>
          <p:cNvSpPr txBox="1"/>
          <p:nvPr/>
        </p:nvSpPr>
        <p:spPr>
          <a:xfrm>
            <a:off x="8257031" y="4425696"/>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251GB（API表示）</a:t>
            </a:r>
          </a:p>
        </p:txBody>
      </p:sp>
      <p:sp>
        <p:nvSpPr>
          <p:cNvPr id="39" name="Rectangle 38"/>
          <p:cNvSpPr/>
          <p:nvPr/>
        </p:nvSpPr>
        <p:spPr>
          <a:xfrm>
            <a:off x="694944" y="4773168"/>
            <a:ext cx="10789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4855464"/>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保存領域</a:t>
            </a:r>
          </a:p>
        </p:txBody>
      </p:sp>
      <p:sp>
        <p:nvSpPr>
          <p:cNvPr id="41" name="TextBox 40"/>
          <p:cNvSpPr txBox="1"/>
          <p:nvPr/>
        </p:nvSpPr>
        <p:spPr>
          <a:xfrm>
            <a:off x="2313432" y="4855464"/>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SSD 1TB</a:t>
            </a:r>
          </a:p>
        </p:txBody>
      </p:sp>
      <p:sp>
        <p:nvSpPr>
          <p:cNvPr id="42" name="TextBox 41"/>
          <p:cNvSpPr txBox="1"/>
          <p:nvPr/>
        </p:nvSpPr>
        <p:spPr>
          <a:xfrm>
            <a:off x="5056632" y="4855464"/>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クラウド作業領域</a:t>
            </a:r>
          </a:p>
        </p:txBody>
      </p:sp>
      <p:sp>
        <p:nvSpPr>
          <p:cNvPr id="43" name="TextBox 42"/>
          <p:cNvSpPr txBox="1"/>
          <p:nvPr/>
        </p:nvSpPr>
        <p:spPr>
          <a:xfrm>
            <a:off x="8257031" y="4855464"/>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コンテナ40＋作業40GB</a:t>
            </a:r>
          </a:p>
        </p:txBody>
      </p:sp>
      <p:sp>
        <p:nvSpPr>
          <p:cNvPr id="44" name="Rectangle 43"/>
          <p:cNvSpPr/>
          <p:nvPr/>
        </p:nvSpPr>
        <p:spPr>
          <a:xfrm>
            <a:off x="694944" y="5202936"/>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5285231"/>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OS</a:t>
            </a:r>
          </a:p>
        </p:txBody>
      </p:sp>
      <p:sp>
        <p:nvSpPr>
          <p:cNvPr id="46" name="TextBox 45"/>
          <p:cNvSpPr txBox="1"/>
          <p:nvPr/>
        </p:nvSpPr>
        <p:spPr>
          <a:xfrm>
            <a:off x="2313432" y="5285231"/>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Windows</a:t>
            </a:r>
          </a:p>
        </p:txBody>
      </p:sp>
      <p:sp>
        <p:nvSpPr>
          <p:cNvPr id="47" name="TextBox 46"/>
          <p:cNvSpPr txBox="1"/>
          <p:nvPr/>
        </p:nvSpPr>
        <p:spPr>
          <a:xfrm>
            <a:off x="5056632" y="5285231"/>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Linux</a:t>
            </a:r>
          </a:p>
        </p:txBody>
      </p:sp>
      <p:sp>
        <p:nvSpPr>
          <p:cNvPr id="48" name="TextBox 47"/>
          <p:cNvSpPr txBox="1"/>
          <p:nvPr/>
        </p:nvSpPr>
        <p:spPr>
          <a:xfrm>
            <a:off x="8257031" y="5285231"/>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Ubuntu 24.04</a:t>
            </a:r>
          </a:p>
        </p:txBody>
      </p:sp>
      <p:sp>
        <p:nvSpPr>
          <p:cNvPr id="49" name="TextBox 48"/>
          <p:cNvSpPr txBox="1"/>
          <p:nvPr/>
        </p:nvSpPr>
        <p:spPr>
          <a:xfrm>
            <a:off x="749808" y="5852160"/>
            <a:ext cx="10698480" cy="329184"/>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Kimodoの旧比較：公式オンラインGPU（L40S表示）。動画の描画：クラウドCPU / SwiftShader。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共通の英語学習5区間と、生徒→先生の短い会話を使用</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日本語・英語を含む利用者指定文を、英訳や動作命令に置換せず入力</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common-input-times.csv  [R2] audio-input-dialogue/*/measurement.json</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06</a:t>
            </a:r>
          </a:p>
        </p:txBody>
      </p:sp>
      <p:sp>
        <p:nvSpPr>
          <p:cNvPr id="9" name="Rounded Rectangle 8"/>
          <p:cNvSpPr/>
          <p:nvPr/>
        </p:nvSpPr>
        <p:spPr>
          <a:xfrm>
            <a:off x="731520" y="2176272"/>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12848"/>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1</a:t>
            </a:r>
          </a:p>
        </p:txBody>
      </p:sp>
      <p:sp>
        <p:nvSpPr>
          <p:cNvPr id="11" name="TextBox 10"/>
          <p:cNvSpPr txBox="1"/>
          <p:nvPr/>
        </p:nvSpPr>
        <p:spPr>
          <a:xfrm>
            <a:off x="1298448" y="2157984"/>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こんにちは！</a:t>
            </a:r>
          </a:p>
        </p:txBody>
      </p:sp>
      <p:sp>
        <p:nvSpPr>
          <p:cNvPr id="12" name="Rounded Rectangle 11"/>
          <p:cNvSpPr/>
          <p:nvPr/>
        </p:nvSpPr>
        <p:spPr>
          <a:xfrm>
            <a:off x="731520" y="2734056"/>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70632"/>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2</a:t>
            </a:r>
          </a:p>
        </p:txBody>
      </p:sp>
      <p:sp>
        <p:nvSpPr>
          <p:cNvPr id="14" name="TextBox 13"/>
          <p:cNvSpPr txBox="1"/>
          <p:nvPr/>
        </p:nvSpPr>
        <p:spPr>
          <a:xfrm>
            <a:off x="1298448" y="2715768"/>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今日も一緒に楽しく英語を勉強しましょう！</a:t>
            </a:r>
          </a:p>
        </p:txBody>
      </p:sp>
      <p:sp>
        <p:nvSpPr>
          <p:cNvPr id="15" name="Rounded Rectangle 14"/>
          <p:cNvSpPr/>
          <p:nvPr/>
        </p:nvSpPr>
        <p:spPr>
          <a:xfrm>
            <a:off x="731520" y="3291839"/>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28415"/>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3</a:t>
            </a:r>
          </a:p>
        </p:txBody>
      </p:sp>
      <p:sp>
        <p:nvSpPr>
          <p:cNvPr id="17" name="TextBox 16"/>
          <p:cNvSpPr txBox="1"/>
          <p:nvPr/>
        </p:nvSpPr>
        <p:spPr>
          <a:xfrm>
            <a:off x="1298448" y="3273551"/>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まずは英語で挨拶してみよう。</a:t>
            </a:r>
          </a:p>
        </p:txBody>
      </p:sp>
      <p:sp>
        <p:nvSpPr>
          <p:cNvPr id="18" name="Rounded Rectangle 17"/>
          <p:cNvSpPr/>
          <p:nvPr/>
        </p:nvSpPr>
        <p:spPr>
          <a:xfrm>
            <a:off x="731520" y="3849624"/>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86200"/>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4</a:t>
            </a:r>
          </a:p>
        </p:txBody>
      </p:sp>
      <p:sp>
        <p:nvSpPr>
          <p:cNvPr id="20" name="TextBox 19"/>
          <p:cNvSpPr txBox="1"/>
          <p:nvPr/>
        </p:nvSpPr>
        <p:spPr>
          <a:xfrm>
            <a:off x="1298448" y="3831336"/>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Hello! How are you today?</a:t>
            </a:r>
          </a:p>
        </p:txBody>
      </p:sp>
      <p:sp>
        <p:nvSpPr>
          <p:cNvPr id="21" name="Rounded Rectangle 20"/>
          <p:cNvSpPr/>
          <p:nvPr/>
        </p:nvSpPr>
        <p:spPr>
          <a:xfrm>
            <a:off x="731520" y="4407408"/>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43984"/>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5</a:t>
            </a:r>
          </a:p>
        </p:txBody>
      </p:sp>
      <p:sp>
        <p:nvSpPr>
          <p:cNvPr id="23" name="TextBox 22"/>
          <p:cNvSpPr txBox="1"/>
          <p:nvPr/>
        </p:nvSpPr>
        <p:spPr>
          <a:xfrm>
            <a:off x="1298448" y="4389120"/>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元気なときは、I'm happy! って言ってみてね。</a:t>
            </a:r>
          </a:p>
        </p:txBody>
      </p:sp>
      <p:sp>
        <p:nvSpPr>
          <p:cNvPr id="24" name="Rounded Rectangle 23"/>
          <p:cNvSpPr/>
          <p:nvPr/>
        </p:nvSpPr>
        <p:spPr>
          <a:xfrm>
            <a:off x="7909560" y="2176272"/>
            <a:ext cx="3520440" cy="3291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09560" y="2176272"/>
            <a:ext cx="41148" cy="32918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92440" y="2340864"/>
            <a:ext cx="317296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会話の入力・返答</a:t>
            </a:r>
          </a:p>
        </p:txBody>
      </p:sp>
      <p:sp>
        <p:nvSpPr>
          <p:cNvPr id="27" name="TextBox 26"/>
          <p:cNvSpPr txBox="1"/>
          <p:nvPr/>
        </p:nvSpPr>
        <p:spPr>
          <a:xfrm>
            <a:off x="8092440" y="2889504"/>
            <a:ext cx="3154680" cy="2505456"/>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生徒（音声1.9秒）</a:t>
            </a:r>
          </a:p>
          <a:p>
            <a:pPr algn="l">
              <a:lnSpc>
                <a:spcPct val="114000"/>
              </a:lnSpc>
              <a:spcAft>
                <a:spcPts val="500"/>
              </a:spcAft>
            </a:pPr>
            <a:r>
              <a:rPr sz="1700" b="0" lang="ja-JP">
                <a:solidFill>
                  <a:srgbClr val="183440"/>
                </a:solidFill>
                <a:latin typeface="Noto Sans CJK JP"/>
                <a:ea typeface="Noto Sans CJK JP"/>
              </a:rPr>
              <a:t>「先生、こんにちは！」</a:t>
            </a:r>
          </a:p>
          <a:p>
            <a:pPr algn="l">
              <a:lnSpc>
                <a:spcPct val="114000"/>
              </a:lnSpc>
              <a:spcAft>
                <a:spcPts val="500"/>
              </a:spcAft>
            </a:pPr>
            <a:r>
              <a:rPr sz="1700" b="0" lang="ja-JP">
                <a:solidFill>
                  <a:srgbClr val="183440"/>
                </a:solidFill>
                <a:latin typeface="Noto Sans CJK JP"/>
                <a:ea typeface="Noto Sans CJK JP"/>
              </a:rPr>
              <a:t/>
            </a:r>
          </a:p>
          <a:p>
            <a:pPr algn="l">
              <a:lnSpc>
                <a:spcPct val="114000"/>
              </a:lnSpc>
              <a:spcAft>
                <a:spcPts val="500"/>
              </a:spcAft>
            </a:pPr>
            <a:r>
              <a:rPr sz="1700" b="0" lang="ja-JP">
                <a:solidFill>
                  <a:srgbClr val="183440"/>
                </a:solidFill>
                <a:latin typeface="Noto Sans CJK JP"/>
                <a:ea typeface="Noto Sans CJK JP"/>
              </a:rPr>
              <a:t>先生（固定返答）</a:t>
            </a:r>
          </a:p>
          <a:p>
            <a:pPr algn="l">
              <a:lnSpc>
                <a:spcPct val="114000"/>
              </a:lnSpc>
              <a:spcAft>
                <a:spcPts val="500"/>
              </a:spcAft>
            </a:pPr>
            <a:r>
              <a:rPr sz="1700" b="0" lang="ja-JP">
                <a:solidFill>
                  <a:srgbClr val="183440"/>
                </a:solidFill>
                <a:latin typeface="Noto Sans CJK JP"/>
                <a:ea typeface="Noto Sans CJK JP"/>
              </a:rPr>
              <a:t>「こんにちは！今日も元気そうだね！英会話の練習を始めましょう」</a:t>
            </a:r>
          </a:p>
        </p:txBody>
      </p:sp>
      <p:sp>
        <p:nvSpPr>
          <p:cNvPr id="28" name="TextBox 27"/>
          <p:cNvSpPr txBox="1"/>
          <p:nvPr/>
        </p:nvSpPr>
        <p:spPr>
          <a:xfrm>
            <a:off x="749808" y="5650992"/>
            <a:ext cx="10424160" cy="411480"/>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音声入力の会話では、実際に受信した先生の返答文から、新規の動作を生成した。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計測を3段階に分け、Realtimeとの差を明確に定義</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同じ「生成時間」でも、読み込み・通信・描画を含むかで値が変わる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[R1–R4] 計測CSV・measurement.json / docs/audio_input_comparison.md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07</a:t>
            </a:r>
          </a:p>
        </p:txBody>
      </p:sp>
      <p:sp>
        <p:nvSpPr>
          <p:cNvPr id="9" name="Rounded Rectangle 8"/>
          <p:cNvSpPr/>
          <p:nvPr/>
        </p:nvSpPr>
        <p:spPr>
          <a:xfrm>
            <a:off x="694944" y="2286000"/>
            <a:ext cx="3447288" cy="1956816"/>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2286000"/>
            <a:ext cx="41148" cy="1956816"/>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450592"/>
            <a:ext cx="309981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① 生成処理</a:t>
            </a:r>
          </a:p>
        </p:txBody>
      </p:sp>
      <p:sp>
        <p:nvSpPr>
          <p:cNvPr id="12" name="TextBox 11"/>
          <p:cNvSpPr txBox="1"/>
          <p:nvPr/>
        </p:nvSpPr>
        <p:spPr>
          <a:xfrm>
            <a:off x="877824" y="2999232"/>
            <a:ext cx="3081528" cy="117043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入力テキスト処理＋動作生成＋骨格変換。</a:t>
            </a:r>
          </a:p>
          <a:p>
            <a:pPr algn="l">
              <a:lnSpc>
                <a:spcPct val="114000"/>
              </a:lnSpc>
              <a:spcAft>
                <a:spcPts val="500"/>
              </a:spcAft>
            </a:pPr>
            <a:r>
              <a:rPr sz="1500" b="0" lang="ja-JP">
                <a:solidFill>
                  <a:srgbClr val="183440"/>
                </a:solidFill>
                <a:latin typeface="Noto Sans CJK JP"/>
                <a:ea typeface="Noto Sans CJK JP"/>
              </a:rPr>
              <a:t>モデル読み込み・通信は原則別記。</a:t>
            </a:r>
          </a:p>
        </p:txBody>
      </p:sp>
      <p:sp>
        <p:nvSpPr>
          <p:cNvPr id="13" name="Rounded Rectangle 12"/>
          <p:cNvSpPr/>
          <p:nvPr/>
        </p:nvSpPr>
        <p:spPr>
          <a:xfrm>
            <a:off x="4370832" y="2286000"/>
            <a:ext cx="3447288" cy="1956816"/>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2286000"/>
            <a:ext cx="41148" cy="1956816"/>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2450592"/>
            <a:ext cx="309981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② 会話の応答待ち</a:t>
            </a:r>
          </a:p>
        </p:txBody>
      </p:sp>
      <p:sp>
        <p:nvSpPr>
          <p:cNvPr id="16" name="TextBox 15"/>
          <p:cNvSpPr txBox="1"/>
          <p:nvPr/>
        </p:nvSpPr>
        <p:spPr>
          <a:xfrm>
            <a:off x="4553712" y="2999232"/>
            <a:ext cx="3081528" cy="117043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生徒の発話終了 → 骨格受信。</a:t>
            </a:r>
          </a:p>
          <a:p>
            <a:pPr algn="l">
              <a:lnSpc>
                <a:spcPct val="114000"/>
              </a:lnSpc>
              <a:spcAft>
                <a:spcPts val="500"/>
              </a:spcAft>
            </a:pPr>
            <a:r>
              <a:rPr sz="1500" b="0" lang="ja-JP">
                <a:solidFill>
                  <a:srgbClr val="183440"/>
                </a:solidFill>
                <a:latin typeface="Noto Sans CJK JP"/>
                <a:ea typeface="Noto Sans CJK JP"/>
              </a:rPr>
              <a:t>実際のAPI・通信・起動等を含む。</a:t>
            </a:r>
          </a:p>
        </p:txBody>
      </p:sp>
      <p:sp>
        <p:nvSpPr>
          <p:cNvPr id="17" name="Rounded Rectangle 16"/>
          <p:cNvSpPr/>
          <p:nvPr/>
        </p:nvSpPr>
        <p:spPr>
          <a:xfrm>
            <a:off x="8046720" y="2286000"/>
            <a:ext cx="3447288" cy="1956816"/>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2286000"/>
            <a:ext cx="41148" cy="1956816"/>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2450592"/>
            <a:ext cx="309981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③ MP4書き出し</a:t>
            </a:r>
          </a:p>
        </p:txBody>
      </p:sp>
      <p:sp>
        <p:nvSpPr>
          <p:cNvPr id="20" name="TextBox 19"/>
          <p:cNvSpPr txBox="1"/>
          <p:nvPr/>
        </p:nvSpPr>
        <p:spPr>
          <a:xfrm>
            <a:off x="8229600" y="2999232"/>
            <a:ext cx="3081528" cy="117043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VRM描画＋音声結合＋エンコード。</a:t>
            </a:r>
          </a:p>
          <a:p>
            <a:pPr algn="l">
              <a:lnSpc>
                <a:spcPct val="114000"/>
              </a:lnSpc>
              <a:spcAft>
                <a:spcPts val="500"/>
              </a:spcAft>
            </a:pPr>
            <a:r>
              <a:rPr sz="1500" b="0" lang="ja-JP">
                <a:solidFill>
                  <a:srgbClr val="183440"/>
                </a:solidFill>
                <a:latin typeface="Noto Sans CJK JP"/>
                <a:ea typeface="Noto Sans CJK JP"/>
              </a:rPr>
              <a:t>オフラインの成果物作成時間。</a:t>
            </a:r>
          </a:p>
        </p:txBody>
      </p:sp>
      <p:sp>
        <p:nvSpPr>
          <p:cNvPr id="21" name="Rounded Rectangle 20"/>
          <p:cNvSpPr/>
          <p:nvPr/>
        </p:nvSpPr>
        <p:spPr>
          <a:xfrm>
            <a:off x="694944" y="4599432"/>
            <a:ext cx="10799064" cy="1170432"/>
          </a:xfrm>
          <a:prstGeom prst="roundRect">
            <a:avLst>
              <a:gd name="adj" fmla="val 12000"/>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773168"/>
            <a:ext cx="10332720" cy="365760"/>
          </a:xfrm>
          <a:prstGeom prst="rect">
            <a:avLst/>
          </a:prstGeom>
          <a:noFill/>
        </p:spPr>
        <p:txBody>
          <a:bodyPr wrap="square" lIns="0" rIns="0" tIns="0" bIns="0" anchor="t">
            <a:spAutoFit/>
          </a:bodyPr>
          <a:lstStyle/>
          <a:p>
            <a:pPr algn="l">
              <a:lnSpc>
                <a:spcPct val="114000"/>
              </a:lnSpc>
              <a:spcAft>
                <a:spcPts val="500"/>
              </a:spcAft>
            </a:pPr>
            <a:r>
              <a:rPr sz="2300" b="1" lang="ja-JP">
                <a:solidFill>
                  <a:srgbClr val="FFFFFF"/>
                </a:solidFill>
                <a:latin typeface="Noto Sans CJK JP"/>
                <a:ea typeface="Noto Sans CJK JP"/>
              </a:rPr>
              <a:t>Realtimeとの差 ＝ 骨格が届いた時刻 − 最初の教師音声が届いた時刻</a:t>
            </a:r>
          </a:p>
        </p:txBody>
      </p:sp>
      <p:sp>
        <p:nvSpPr>
          <p:cNvPr id="23" name="TextBox 22"/>
          <p:cNvSpPr txBox="1"/>
          <p:nvPr/>
        </p:nvSpPr>
        <p:spPr>
          <a:xfrm>
            <a:off x="914400" y="5321808"/>
            <a:ext cx="1014984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C2D5DA"/>
                </a:solidFill>
                <a:latin typeface="Noto Sans CJK JP"/>
                <a:ea typeface="Noto Sans CJK JP"/>
              </a:rPr>
              <a:t>動画では骨格まで音声を待たせるため、発話・動作の開始は一致する。待ち時間そのものは残る。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共通5区間の記録：生成処理と動画化を別々に保存</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GPU・入力処理・役割が異なるため、この表だけでモデルの性能順位は決められない</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common-input-times.csv / 値は各5区間の合計</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08</a:t>
            </a:r>
          </a:p>
        </p:txBody>
      </p:sp>
      <p:sp>
        <p:nvSpPr>
          <p:cNvPr id="9" name="Rectangle 8"/>
          <p:cNvSpPr/>
          <p:nvPr/>
        </p:nvSpPr>
        <p:spPr>
          <a:xfrm>
            <a:off x="694944" y="2176272"/>
            <a:ext cx="10789920" cy="438912"/>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58568"/>
            <a:ext cx="1463040"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モデル</a:t>
            </a:r>
          </a:p>
        </p:txBody>
      </p:sp>
      <p:sp>
        <p:nvSpPr>
          <p:cNvPr id="11" name="TextBox 10"/>
          <p:cNvSpPr txBox="1"/>
          <p:nvPr/>
        </p:nvSpPr>
        <p:spPr>
          <a:xfrm>
            <a:off x="2450592" y="2258568"/>
            <a:ext cx="1645920"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役割</a:t>
            </a:r>
          </a:p>
        </p:txBody>
      </p:sp>
      <p:sp>
        <p:nvSpPr>
          <p:cNvPr id="12" name="TextBox 11"/>
          <p:cNvSpPr txBox="1"/>
          <p:nvPr/>
        </p:nvSpPr>
        <p:spPr>
          <a:xfrm>
            <a:off x="4279392" y="2258568"/>
            <a:ext cx="1828800"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生成処理・5区間</a:t>
            </a:r>
          </a:p>
        </p:txBody>
      </p:sp>
      <p:sp>
        <p:nvSpPr>
          <p:cNvPr id="13" name="TextBox 12"/>
          <p:cNvSpPr txBox="1"/>
          <p:nvPr/>
        </p:nvSpPr>
        <p:spPr>
          <a:xfrm>
            <a:off x="6291072" y="2258568"/>
            <a:ext cx="1645920"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MP4描画・CPU</a:t>
            </a:r>
          </a:p>
        </p:txBody>
      </p:sp>
      <p:sp>
        <p:nvSpPr>
          <p:cNvPr id="14" name="TextBox 13"/>
          <p:cNvSpPr txBox="1"/>
          <p:nvPr/>
        </p:nvSpPr>
        <p:spPr>
          <a:xfrm>
            <a:off x="8119872" y="2258568"/>
            <a:ext cx="3291839"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生成の計測経路</a:t>
            </a:r>
          </a:p>
        </p:txBody>
      </p:sp>
      <p:sp>
        <p:nvSpPr>
          <p:cNvPr id="15" name="Rectangle 14"/>
          <p:cNvSpPr/>
          <p:nvPr/>
        </p:nvSpPr>
        <p:spPr>
          <a:xfrm>
            <a:off x="694944" y="2615184"/>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2697479"/>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Kimodo</a:t>
            </a:r>
          </a:p>
        </p:txBody>
      </p:sp>
      <p:sp>
        <p:nvSpPr>
          <p:cNvPr id="17" name="TextBox 16"/>
          <p:cNvSpPr txBox="1"/>
          <p:nvPr/>
        </p:nvSpPr>
        <p:spPr>
          <a:xfrm>
            <a:off x="2450592" y="2697479"/>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18" name="TextBox 17"/>
          <p:cNvSpPr txBox="1"/>
          <p:nvPr/>
        </p:nvSpPr>
        <p:spPr>
          <a:xfrm>
            <a:off x="4279392" y="2697479"/>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51.409秒</a:t>
            </a:r>
          </a:p>
        </p:txBody>
      </p:sp>
      <p:sp>
        <p:nvSpPr>
          <p:cNvPr id="19" name="TextBox 18"/>
          <p:cNvSpPr txBox="1"/>
          <p:nvPr/>
        </p:nvSpPr>
        <p:spPr>
          <a:xfrm>
            <a:off x="6291072" y="2697479"/>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156.0秒</a:t>
            </a:r>
          </a:p>
        </p:txBody>
      </p:sp>
      <p:sp>
        <p:nvSpPr>
          <p:cNvPr id="20" name="TextBox 19"/>
          <p:cNvSpPr txBox="1"/>
          <p:nvPr/>
        </p:nvSpPr>
        <p:spPr>
          <a:xfrm>
            <a:off x="8119872" y="2697479"/>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公式オンライン・通信込み</a:t>
            </a:r>
          </a:p>
        </p:txBody>
      </p:sp>
      <p:sp>
        <p:nvSpPr>
          <p:cNvPr id="21" name="Rectangle 20"/>
          <p:cNvSpPr/>
          <p:nvPr/>
        </p:nvSpPr>
        <p:spPr>
          <a:xfrm>
            <a:off x="694944" y="3054096"/>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136391"/>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ARDY</a:t>
            </a:r>
          </a:p>
        </p:txBody>
      </p:sp>
      <p:sp>
        <p:nvSpPr>
          <p:cNvPr id="23" name="TextBox 22"/>
          <p:cNvSpPr txBox="1"/>
          <p:nvPr/>
        </p:nvSpPr>
        <p:spPr>
          <a:xfrm>
            <a:off x="2450592" y="3136391"/>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24" name="TextBox 23"/>
          <p:cNvSpPr txBox="1"/>
          <p:nvPr/>
        </p:nvSpPr>
        <p:spPr>
          <a:xfrm>
            <a:off x="4279392" y="3136391"/>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38.492秒</a:t>
            </a:r>
          </a:p>
        </p:txBody>
      </p:sp>
      <p:sp>
        <p:nvSpPr>
          <p:cNvPr id="25" name="TextBox 24"/>
          <p:cNvSpPr txBox="1"/>
          <p:nvPr/>
        </p:nvSpPr>
        <p:spPr>
          <a:xfrm>
            <a:off x="6291072" y="3136391"/>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160.2秒</a:t>
            </a:r>
          </a:p>
        </p:txBody>
      </p:sp>
      <p:sp>
        <p:nvSpPr>
          <p:cNvPr id="26" name="TextBox 25"/>
          <p:cNvSpPr txBox="1"/>
          <p:nvPr/>
        </p:nvSpPr>
        <p:spPr>
          <a:xfrm>
            <a:off x="8119872" y="3136391"/>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CPU特徴＋CUDA生成</a:t>
            </a:r>
          </a:p>
        </p:txBody>
      </p:sp>
      <p:sp>
        <p:nvSpPr>
          <p:cNvPr id="27" name="Rectangle 26"/>
          <p:cNvSpPr/>
          <p:nvPr/>
        </p:nvSpPr>
        <p:spPr>
          <a:xfrm>
            <a:off x="694944" y="3493008"/>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575303"/>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MotionLCM</a:t>
            </a:r>
          </a:p>
        </p:txBody>
      </p:sp>
      <p:sp>
        <p:nvSpPr>
          <p:cNvPr id="29" name="TextBox 28"/>
          <p:cNvSpPr txBox="1"/>
          <p:nvPr/>
        </p:nvSpPr>
        <p:spPr>
          <a:xfrm>
            <a:off x="2450592" y="3575303"/>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30" name="TextBox 29"/>
          <p:cNvSpPr txBox="1"/>
          <p:nvPr/>
        </p:nvSpPr>
        <p:spPr>
          <a:xfrm>
            <a:off x="4279392" y="3575303"/>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0.570秒</a:t>
            </a:r>
          </a:p>
        </p:txBody>
      </p:sp>
      <p:sp>
        <p:nvSpPr>
          <p:cNvPr id="31" name="TextBox 30"/>
          <p:cNvSpPr txBox="1"/>
          <p:nvPr/>
        </p:nvSpPr>
        <p:spPr>
          <a:xfrm>
            <a:off x="6291072" y="3575303"/>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154.4秒</a:t>
            </a:r>
          </a:p>
        </p:txBody>
      </p:sp>
      <p:sp>
        <p:nvSpPr>
          <p:cNvPr id="32" name="TextBox 31"/>
          <p:cNvSpPr txBox="1"/>
          <p:nvPr/>
        </p:nvSpPr>
        <p:spPr>
          <a:xfrm>
            <a:off x="8119872" y="3575303"/>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33" name="Rectangle 32"/>
          <p:cNvSpPr/>
          <p:nvPr/>
        </p:nvSpPr>
        <p:spPr>
          <a:xfrm>
            <a:off x="694944" y="3931920"/>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4014215"/>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MoMask</a:t>
            </a:r>
          </a:p>
        </p:txBody>
      </p:sp>
      <p:sp>
        <p:nvSpPr>
          <p:cNvPr id="35" name="TextBox 34"/>
          <p:cNvSpPr txBox="1"/>
          <p:nvPr/>
        </p:nvSpPr>
        <p:spPr>
          <a:xfrm>
            <a:off x="2450592" y="4014215"/>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36" name="TextBox 35"/>
          <p:cNvSpPr txBox="1"/>
          <p:nvPr/>
        </p:nvSpPr>
        <p:spPr>
          <a:xfrm>
            <a:off x="4279392" y="4014215"/>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1.512秒</a:t>
            </a:r>
          </a:p>
        </p:txBody>
      </p:sp>
      <p:sp>
        <p:nvSpPr>
          <p:cNvPr id="37" name="TextBox 36"/>
          <p:cNvSpPr txBox="1"/>
          <p:nvPr/>
        </p:nvSpPr>
        <p:spPr>
          <a:xfrm>
            <a:off x="6291072" y="4014215"/>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154.8秒</a:t>
            </a:r>
          </a:p>
        </p:txBody>
      </p:sp>
      <p:sp>
        <p:nvSpPr>
          <p:cNvPr id="38" name="TextBox 37"/>
          <p:cNvSpPr txBox="1"/>
          <p:nvPr/>
        </p:nvSpPr>
        <p:spPr>
          <a:xfrm>
            <a:off x="8119872" y="4014215"/>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39" name="Rectangle 38"/>
          <p:cNvSpPr/>
          <p:nvPr/>
        </p:nvSpPr>
        <p:spPr>
          <a:xfrm>
            <a:off x="694944" y="4370831"/>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4453127"/>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MMM</a:t>
            </a:r>
          </a:p>
        </p:txBody>
      </p:sp>
      <p:sp>
        <p:nvSpPr>
          <p:cNvPr id="41" name="TextBox 40"/>
          <p:cNvSpPr txBox="1"/>
          <p:nvPr/>
        </p:nvSpPr>
        <p:spPr>
          <a:xfrm>
            <a:off x="2450592" y="4453127"/>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42" name="TextBox 41"/>
          <p:cNvSpPr txBox="1"/>
          <p:nvPr/>
        </p:nvSpPr>
        <p:spPr>
          <a:xfrm>
            <a:off x="4279392" y="4453127"/>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0.757秒</a:t>
            </a:r>
          </a:p>
        </p:txBody>
      </p:sp>
      <p:sp>
        <p:nvSpPr>
          <p:cNvPr id="43" name="TextBox 42"/>
          <p:cNvSpPr txBox="1"/>
          <p:nvPr/>
        </p:nvSpPr>
        <p:spPr>
          <a:xfrm>
            <a:off x="6291072" y="4453127"/>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156.5秒</a:t>
            </a:r>
          </a:p>
        </p:txBody>
      </p:sp>
      <p:sp>
        <p:nvSpPr>
          <p:cNvPr id="44" name="TextBox 43"/>
          <p:cNvSpPr txBox="1"/>
          <p:nvPr/>
        </p:nvSpPr>
        <p:spPr>
          <a:xfrm>
            <a:off x="8119872" y="4453127"/>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45" name="Rectangle 44"/>
          <p:cNvSpPr/>
          <p:nvPr/>
        </p:nvSpPr>
        <p:spPr>
          <a:xfrm>
            <a:off x="694944" y="4809744"/>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4672" y="4892040"/>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ReactMotion</a:t>
            </a:r>
          </a:p>
        </p:txBody>
      </p:sp>
      <p:sp>
        <p:nvSpPr>
          <p:cNvPr id="47" name="TextBox 46"/>
          <p:cNvSpPr txBox="1"/>
          <p:nvPr/>
        </p:nvSpPr>
        <p:spPr>
          <a:xfrm>
            <a:off x="2450592" y="4892040"/>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聞き手・全身</a:t>
            </a:r>
          </a:p>
        </p:txBody>
      </p:sp>
      <p:sp>
        <p:nvSpPr>
          <p:cNvPr id="48" name="TextBox 47"/>
          <p:cNvSpPr txBox="1"/>
          <p:nvPr/>
        </p:nvSpPr>
        <p:spPr>
          <a:xfrm>
            <a:off x="4279392" y="4892040"/>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2.597秒</a:t>
            </a:r>
          </a:p>
        </p:txBody>
      </p:sp>
      <p:sp>
        <p:nvSpPr>
          <p:cNvPr id="49" name="TextBox 48"/>
          <p:cNvSpPr txBox="1"/>
          <p:nvPr/>
        </p:nvSpPr>
        <p:spPr>
          <a:xfrm>
            <a:off x="6291072" y="4892040"/>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238.6秒</a:t>
            </a:r>
          </a:p>
        </p:txBody>
      </p:sp>
      <p:sp>
        <p:nvSpPr>
          <p:cNvPr id="50" name="TextBox 49"/>
          <p:cNvSpPr txBox="1"/>
          <p:nvPr/>
        </p:nvSpPr>
        <p:spPr>
          <a:xfrm>
            <a:off x="8119872" y="4892040"/>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51" name="Rectangle 50"/>
          <p:cNvSpPr/>
          <p:nvPr/>
        </p:nvSpPr>
        <p:spPr>
          <a:xfrm>
            <a:off x="694944" y="5248656"/>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5330952"/>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MaAI</a:t>
            </a:r>
          </a:p>
        </p:txBody>
      </p:sp>
      <p:sp>
        <p:nvSpPr>
          <p:cNvPr id="53" name="TextBox 52"/>
          <p:cNvSpPr txBox="1"/>
          <p:nvPr/>
        </p:nvSpPr>
        <p:spPr>
          <a:xfrm>
            <a:off x="2450592" y="5330952"/>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聞き手・頭部</a:t>
            </a:r>
          </a:p>
        </p:txBody>
      </p:sp>
      <p:sp>
        <p:nvSpPr>
          <p:cNvPr id="54" name="TextBox 53"/>
          <p:cNvSpPr txBox="1"/>
          <p:nvPr/>
        </p:nvSpPr>
        <p:spPr>
          <a:xfrm>
            <a:off x="4279392" y="5330952"/>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8.063秒</a:t>
            </a:r>
          </a:p>
        </p:txBody>
      </p:sp>
      <p:sp>
        <p:nvSpPr>
          <p:cNvPr id="55" name="TextBox 54"/>
          <p:cNvSpPr txBox="1"/>
          <p:nvPr/>
        </p:nvSpPr>
        <p:spPr>
          <a:xfrm>
            <a:off x="6291072" y="5330952"/>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174.9秒</a:t>
            </a:r>
          </a:p>
        </p:txBody>
      </p:sp>
      <p:sp>
        <p:nvSpPr>
          <p:cNvPr id="56" name="TextBox 55"/>
          <p:cNvSpPr txBox="1"/>
          <p:nvPr/>
        </p:nvSpPr>
        <p:spPr>
          <a:xfrm>
            <a:off x="8119872" y="5330952"/>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57" name="TextBox 56"/>
          <p:cNvSpPr txBox="1"/>
          <p:nvPr/>
        </p:nvSpPr>
        <p:spPr>
          <a:xfrm>
            <a:off x="758952" y="5870448"/>
            <a:ext cx="10607040" cy="292608"/>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同じ発話音声を各モデルで共有。生成後の再生時間調整・姿勢補間と、元の骨格を区別して保持。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同じRTX 4090・入力5区間ではMotionLCMが最短</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初回を除く4区間の中央値。文と生成長は区間ごとに異なる（48〜72フレーム）</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common/{motionlcm,mmm,momask}/segments/*/motion-generation.json</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09</a:t>
            </a:r>
          </a:p>
        </p:txBody>
      </p:sp>
      <p:sp>
        <p:nvSpPr>
          <p:cNvPr id="9" name="TextBox 8"/>
          <p:cNvSpPr txBox="1"/>
          <p:nvPr/>
        </p:nvSpPr>
        <p:spPr>
          <a:xfrm>
            <a:off x="868680" y="2468880"/>
            <a:ext cx="2194560"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MotionLCM</a:t>
            </a:r>
          </a:p>
        </p:txBody>
      </p:sp>
      <p:sp>
        <p:nvSpPr>
          <p:cNvPr id="10" name="Rectangle 9"/>
          <p:cNvSpPr/>
          <p:nvPr/>
        </p:nvSpPr>
        <p:spPr>
          <a:xfrm>
            <a:off x="3246120" y="2496312"/>
            <a:ext cx="617220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46120" y="2496312"/>
            <a:ext cx="999220"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2912" y="2459736"/>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0.039秒</a:t>
            </a:r>
          </a:p>
        </p:txBody>
      </p:sp>
      <p:sp>
        <p:nvSpPr>
          <p:cNvPr id="13" name="TextBox 12"/>
          <p:cNvSpPr txBox="1"/>
          <p:nvPr/>
        </p:nvSpPr>
        <p:spPr>
          <a:xfrm>
            <a:off x="868680" y="3264408"/>
            <a:ext cx="2194560"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MMM</a:t>
            </a:r>
          </a:p>
        </p:txBody>
      </p:sp>
      <p:sp>
        <p:nvSpPr>
          <p:cNvPr id="14" name="Rectangle 13"/>
          <p:cNvSpPr/>
          <p:nvPr/>
        </p:nvSpPr>
        <p:spPr>
          <a:xfrm>
            <a:off x="3246120" y="3291840"/>
            <a:ext cx="617220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46120" y="3291840"/>
            <a:ext cx="1562930"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82912" y="3255264"/>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0.061秒</a:t>
            </a:r>
          </a:p>
        </p:txBody>
      </p:sp>
      <p:sp>
        <p:nvSpPr>
          <p:cNvPr id="17" name="TextBox 16"/>
          <p:cNvSpPr txBox="1"/>
          <p:nvPr/>
        </p:nvSpPr>
        <p:spPr>
          <a:xfrm>
            <a:off x="868680" y="4059936"/>
            <a:ext cx="2194560"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MoMask</a:t>
            </a:r>
          </a:p>
        </p:txBody>
      </p:sp>
      <p:sp>
        <p:nvSpPr>
          <p:cNvPr id="18" name="Rectangle 17"/>
          <p:cNvSpPr/>
          <p:nvPr/>
        </p:nvSpPr>
        <p:spPr>
          <a:xfrm>
            <a:off x="3246120" y="4087368"/>
            <a:ext cx="617220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6120" y="4087368"/>
            <a:ext cx="5204158"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82912" y="4050792"/>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0.202秒</a:t>
            </a:r>
          </a:p>
        </p:txBody>
      </p:sp>
      <p:sp>
        <p:nvSpPr>
          <p:cNvPr id="21" name="Rectangle 20"/>
          <p:cNvSpPr/>
          <p:nvPr/>
        </p:nvSpPr>
        <p:spPr>
          <a:xfrm>
            <a:off x="749808" y="4919472"/>
            <a:ext cx="10698480" cy="292608"/>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5001768"/>
            <a:ext cx="2103120" cy="18288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モデル</a:t>
            </a:r>
          </a:p>
        </p:txBody>
      </p:sp>
      <p:sp>
        <p:nvSpPr>
          <p:cNvPr id="23" name="TextBox 22"/>
          <p:cNvSpPr txBox="1"/>
          <p:nvPr/>
        </p:nvSpPr>
        <p:spPr>
          <a:xfrm>
            <a:off x="3145536" y="5001768"/>
            <a:ext cx="2194560" cy="18288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初回区間の生成</a:t>
            </a:r>
          </a:p>
        </p:txBody>
      </p:sp>
      <p:sp>
        <p:nvSpPr>
          <p:cNvPr id="24" name="TextBox 23"/>
          <p:cNvSpPr txBox="1"/>
          <p:nvPr/>
        </p:nvSpPr>
        <p:spPr>
          <a:xfrm>
            <a:off x="5522976" y="5001768"/>
            <a:ext cx="3108960" cy="18288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残り4区間の範囲</a:t>
            </a:r>
          </a:p>
        </p:txBody>
      </p:sp>
      <p:sp>
        <p:nvSpPr>
          <p:cNvPr id="25" name="TextBox 24"/>
          <p:cNvSpPr txBox="1"/>
          <p:nvPr/>
        </p:nvSpPr>
        <p:spPr>
          <a:xfrm>
            <a:off x="8814815" y="5001768"/>
            <a:ext cx="2560320" cy="18288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Torch最大割り当て</a:t>
            </a:r>
          </a:p>
        </p:txBody>
      </p:sp>
      <p:sp>
        <p:nvSpPr>
          <p:cNvPr id="26" name="Rectangle 25"/>
          <p:cNvSpPr/>
          <p:nvPr/>
        </p:nvSpPr>
        <p:spPr>
          <a:xfrm>
            <a:off x="749808" y="5212080"/>
            <a:ext cx="10698480" cy="29260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294376"/>
            <a:ext cx="2103120" cy="18288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MotionLCM</a:t>
            </a:r>
          </a:p>
        </p:txBody>
      </p:sp>
      <p:sp>
        <p:nvSpPr>
          <p:cNvPr id="28" name="TextBox 27"/>
          <p:cNvSpPr txBox="1"/>
          <p:nvPr/>
        </p:nvSpPr>
        <p:spPr>
          <a:xfrm>
            <a:off x="3145536" y="5294376"/>
            <a:ext cx="21945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0.414秒</a:t>
            </a:r>
          </a:p>
        </p:txBody>
      </p:sp>
      <p:sp>
        <p:nvSpPr>
          <p:cNvPr id="29" name="TextBox 28"/>
          <p:cNvSpPr txBox="1"/>
          <p:nvPr/>
        </p:nvSpPr>
        <p:spPr>
          <a:xfrm>
            <a:off x="5522976" y="5294376"/>
            <a:ext cx="31089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0.037〜0.041秒</a:t>
            </a:r>
          </a:p>
        </p:txBody>
      </p:sp>
      <p:sp>
        <p:nvSpPr>
          <p:cNvPr id="30" name="TextBox 29"/>
          <p:cNvSpPr txBox="1"/>
          <p:nvPr/>
        </p:nvSpPr>
        <p:spPr>
          <a:xfrm>
            <a:off x="8814815" y="5294376"/>
            <a:ext cx="256032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1.44GiB</a:t>
            </a:r>
          </a:p>
        </p:txBody>
      </p:sp>
      <p:sp>
        <p:nvSpPr>
          <p:cNvPr id="31" name="Rectangle 30"/>
          <p:cNvSpPr/>
          <p:nvPr/>
        </p:nvSpPr>
        <p:spPr>
          <a:xfrm>
            <a:off x="749808" y="5504688"/>
            <a:ext cx="106984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86983"/>
            <a:ext cx="2103120" cy="18288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MMM</a:t>
            </a:r>
          </a:p>
        </p:txBody>
      </p:sp>
      <p:sp>
        <p:nvSpPr>
          <p:cNvPr id="33" name="TextBox 32"/>
          <p:cNvSpPr txBox="1"/>
          <p:nvPr/>
        </p:nvSpPr>
        <p:spPr>
          <a:xfrm>
            <a:off x="3145536" y="5586983"/>
            <a:ext cx="21945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0.527秒</a:t>
            </a:r>
          </a:p>
        </p:txBody>
      </p:sp>
      <p:sp>
        <p:nvSpPr>
          <p:cNvPr id="34" name="TextBox 33"/>
          <p:cNvSpPr txBox="1"/>
          <p:nvPr/>
        </p:nvSpPr>
        <p:spPr>
          <a:xfrm>
            <a:off x="5522976" y="5586983"/>
            <a:ext cx="31089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0.038〜0.071秒</a:t>
            </a:r>
          </a:p>
        </p:txBody>
      </p:sp>
      <p:sp>
        <p:nvSpPr>
          <p:cNvPr id="35" name="TextBox 34"/>
          <p:cNvSpPr txBox="1"/>
          <p:nvPr/>
        </p:nvSpPr>
        <p:spPr>
          <a:xfrm>
            <a:off x="8814815" y="5586983"/>
            <a:ext cx="256032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1.30GiB</a:t>
            </a:r>
          </a:p>
        </p:txBody>
      </p:sp>
      <p:sp>
        <p:nvSpPr>
          <p:cNvPr id="36" name="Rectangle 35"/>
          <p:cNvSpPr/>
          <p:nvPr/>
        </p:nvSpPr>
        <p:spPr>
          <a:xfrm>
            <a:off x="749808" y="5797296"/>
            <a:ext cx="10698480" cy="29260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9536" y="5879592"/>
            <a:ext cx="2103120" cy="18288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MoMask</a:t>
            </a:r>
          </a:p>
        </p:txBody>
      </p:sp>
      <p:sp>
        <p:nvSpPr>
          <p:cNvPr id="38" name="TextBox 37"/>
          <p:cNvSpPr txBox="1"/>
          <p:nvPr/>
        </p:nvSpPr>
        <p:spPr>
          <a:xfrm>
            <a:off x="3145536" y="5879592"/>
            <a:ext cx="21945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0.705秒</a:t>
            </a:r>
          </a:p>
        </p:txBody>
      </p:sp>
      <p:sp>
        <p:nvSpPr>
          <p:cNvPr id="39" name="TextBox 38"/>
          <p:cNvSpPr txBox="1"/>
          <p:nvPr/>
        </p:nvSpPr>
        <p:spPr>
          <a:xfrm>
            <a:off x="5522976" y="5879592"/>
            <a:ext cx="31089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0.196〜0.207秒</a:t>
            </a:r>
          </a:p>
        </p:txBody>
      </p:sp>
      <p:sp>
        <p:nvSpPr>
          <p:cNvPr id="40" name="TextBox 39"/>
          <p:cNvSpPr txBox="1"/>
          <p:nvPr/>
        </p:nvSpPr>
        <p:spPr>
          <a:xfrm>
            <a:off x="8814815" y="5879592"/>
            <a:ext cx="256032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0.89GiB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従来の会話経路では、起動・中継の待ちが大きかった</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生徒の発話終了を0秒とする。各モデル1回、常駐化前の実測</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[R2] audio-response-times.csv / Kimodoは公式オンライン、他はRTX 4090</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10</a:t>
            </a:r>
          </a:p>
        </p:txBody>
      </p:sp>
      <p:sp>
        <p:nvSpPr>
          <p:cNvPr id="9" name="Rectangle 8"/>
          <p:cNvSpPr/>
          <p:nvPr/>
        </p:nvSpPr>
        <p:spPr>
          <a:xfrm>
            <a:off x="694944" y="2176272"/>
            <a:ext cx="10789920" cy="420624"/>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58568"/>
            <a:ext cx="1920239"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モデル</a:t>
            </a:r>
          </a:p>
        </p:txBody>
      </p:sp>
      <p:sp>
        <p:nvSpPr>
          <p:cNvPr id="11" name="TextBox 10"/>
          <p:cNvSpPr txBox="1"/>
          <p:nvPr/>
        </p:nvSpPr>
        <p:spPr>
          <a:xfrm>
            <a:off x="2907791" y="2258568"/>
            <a:ext cx="1874519"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音声初受信（秒）</a:t>
            </a:r>
          </a:p>
        </p:txBody>
      </p:sp>
      <p:sp>
        <p:nvSpPr>
          <p:cNvPr id="12" name="TextBox 11"/>
          <p:cNvSpPr txBox="1"/>
          <p:nvPr/>
        </p:nvSpPr>
        <p:spPr>
          <a:xfrm>
            <a:off x="4965192" y="2258568"/>
            <a:ext cx="2011679"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生成処理（秒）</a:t>
            </a:r>
          </a:p>
        </p:txBody>
      </p:sp>
      <p:sp>
        <p:nvSpPr>
          <p:cNvPr id="13" name="TextBox 12"/>
          <p:cNvSpPr txBox="1"/>
          <p:nvPr/>
        </p:nvSpPr>
        <p:spPr>
          <a:xfrm>
            <a:off x="7159751" y="2258568"/>
            <a:ext cx="2011679"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動作完了観測（秒）</a:t>
            </a:r>
          </a:p>
        </p:txBody>
      </p:sp>
      <p:sp>
        <p:nvSpPr>
          <p:cNvPr id="14" name="TextBox 13"/>
          <p:cNvSpPr txBox="1"/>
          <p:nvPr/>
        </p:nvSpPr>
        <p:spPr>
          <a:xfrm>
            <a:off x="9354311" y="2258568"/>
            <a:ext cx="2057400"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音声との差（秒）</a:t>
            </a:r>
          </a:p>
        </p:txBody>
      </p:sp>
      <p:sp>
        <p:nvSpPr>
          <p:cNvPr id="15" name="Rectangle 14"/>
          <p:cNvSpPr/>
          <p:nvPr/>
        </p:nvSpPr>
        <p:spPr>
          <a:xfrm>
            <a:off x="694944" y="2596896"/>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2679191"/>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Kimodo</a:t>
            </a:r>
          </a:p>
        </p:txBody>
      </p:sp>
      <p:sp>
        <p:nvSpPr>
          <p:cNvPr id="17" name="TextBox 16"/>
          <p:cNvSpPr txBox="1"/>
          <p:nvPr/>
        </p:nvSpPr>
        <p:spPr>
          <a:xfrm>
            <a:off x="2907791" y="2679191"/>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0.811</a:t>
            </a:r>
          </a:p>
        </p:txBody>
      </p:sp>
      <p:sp>
        <p:nvSpPr>
          <p:cNvPr id="18" name="TextBox 17"/>
          <p:cNvSpPr txBox="1"/>
          <p:nvPr/>
        </p:nvSpPr>
        <p:spPr>
          <a:xfrm>
            <a:off x="4965192" y="2679191"/>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10.561</a:t>
            </a:r>
          </a:p>
        </p:txBody>
      </p:sp>
      <p:sp>
        <p:nvSpPr>
          <p:cNvPr id="19" name="TextBox 18"/>
          <p:cNvSpPr txBox="1"/>
          <p:nvPr/>
        </p:nvSpPr>
        <p:spPr>
          <a:xfrm>
            <a:off x="7159751" y="2679191"/>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15.395</a:t>
            </a:r>
          </a:p>
        </p:txBody>
      </p:sp>
      <p:sp>
        <p:nvSpPr>
          <p:cNvPr id="20" name="TextBox 19"/>
          <p:cNvSpPr txBox="1"/>
          <p:nvPr/>
        </p:nvSpPr>
        <p:spPr>
          <a:xfrm>
            <a:off x="9354311" y="2679191"/>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14.584</a:t>
            </a:r>
          </a:p>
        </p:txBody>
      </p:sp>
      <p:sp>
        <p:nvSpPr>
          <p:cNvPr id="21" name="Rectangle 20"/>
          <p:cNvSpPr/>
          <p:nvPr/>
        </p:nvSpPr>
        <p:spPr>
          <a:xfrm>
            <a:off x="694944" y="3017520"/>
            <a:ext cx="107899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099815"/>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ARDY</a:t>
            </a:r>
          </a:p>
        </p:txBody>
      </p:sp>
      <p:sp>
        <p:nvSpPr>
          <p:cNvPr id="23" name="TextBox 22"/>
          <p:cNvSpPr txBox="1"/>
          <p:nvPr/>
        </p:nvSpPr>
        <p:spPr>
          <a:xfrm>
            <a:off x="2907791" y="3099815"/>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0.568</a:t>
            </a:r>
          </a:p>
        </p:txBody>
      </p:sp>
      <p:sp>
        <p:nvSpPr>
          <p:cNvPr id="24" name="TextBox 23"/>
          <p:cNvSpPr txBox="1"/>
          <p:nvPr/>
        </p:nvSpPr>
        <p:spPr>
          <a:xfrm>
            <a:off x="4965192" y="3099815"/>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19.323</a:t>
            </a:r>
          </a:p>
        </p:txBody>
      </p:sp>
      <p:sp>
        <p:nvSpPr>
          <p:cNvPr id="25" name="TextBox 24"/>
          <p:cNvSpPr txBox="1"/>
          <p:nvPr/>
        </p:nvSpPr>
        <p:spPr>
          <a:xfrm>
            <a:off x="7159751" y="3099815"/>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187.660</a:t>
            </a:r>
          </a:p>
        </p:txBody>
      </p:sp>
      <p:sp>
        <p:nvSpPr>
          <p:cNvPr id="26" name="TextBox 25"/>
          <p:cNvSpPr txBox="1"/>
          <p:nvPr/>
        </p:nvSpPr>
        <p:spPr>
          <a:xfrm>
            <a:off x="9354311" y="3099815"/>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187.092</a:t>
            </a:r>
          </a:p>
        </p:txBody>
      </p:sp>
      <p:sp>
        <p:nvSpPr>
          <p:cNvPr id="27" name="Rectangle 26"/>
          <p:cNvSpPr/>
          <p:nvPr/>
        </p:nvSpPr>
        <p:spPr>
          <a:xfrm>
            <a:off x="694944" y="3438144"/>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520439"/>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MotionLCM</a:t>
            </a:r>
          </a:p>
        </p:txBody>
      </p:sp>
      <p:sp>
        <p:nvSpPr>
          <p:cNvPr id="29" name="TextBox 28"/>
          <p:cNvSpPr txBox="1"/>
          <p:nvPr/>
        </p:nvSpPr>
        <p:spPr>
          <a:xfrm>
            <a:off x="2907791" y="3520439"/>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1.049</a:t>
            </a:r>
          </a:p>
        </p:txBody>
      </p:sp>
      <p:sp>
        <p:nvSpPr>
          <p:cNvPr id="30" name="TextBox 29"/>
          <p:cNvSpPr txBox="1"/>
          <p:nvPr/>
        </p:nvSpPr>
        <p:spPr>
          <a:xfrm>
            <a:off x="4965192" y="3520439"/>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0.421</a:t>
            </a:r>
          </a:p>
        </p:txBody>
      </p:sp>
      <p:sp>
        <p:nvSpPr>
          <p:cNvPr id="31" name="TextBox 30"/>
          <p:cNvSpPr txBox="1"/>
          <p:nvPr/>
        </p:nvSpPr>
        <p:spPr>
          <a:xfrm>
            <a:off x="7159751" y="3520439"/>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19.242</a:t>
            </a:r>
          </a:p>
        </p:txBody>
      </p:sp>
      <p:sp>
        <p:nvSpPr>
          <p:cNvPr id="32" name="TextBox 31"/>
          <p:cNvSpPr txBox="1"/>
          <p:nvPr/>
        </p:nvSpPr>
        <p:spPr>
          <a:xfrm>
            <a:off x="9354311" y="3520439"/>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18.193</a:t>
            </a:r>
          </a:p>
        </p:txBody>
      </p:sp>
      <p:sp>
        <p:nvSpPr>
          <p:cNvPr id="33" name="Rectangle 32"/>
          <p:cNvSpPr/>
          <p:nvPr/>
        </p:nvSpPr>
        <p:spPr>
          <a:xfrm>
            <a:off x="694944" y="3858768"/>
            <a:ext cx="107899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3941063"/>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MoMask</a:t>
            </a:r>
          </a:p>
        </p:txBody>
      </p:sp>
      <p:sp>
        <p:nvSpPr>
          <p:cNvPr id="35" name="TextBox 34"/>
          <p:cNvSpPr txBox="1"/>
          <p:nvPr/>
        </p:nvSpPr>
        <p:spPr>
          <a:xfrm>
            <a:off x="2907791" y="3941063"/>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0.824</a:t>
            </a:r>
          </a:p>
        </p:txBody>
      </p:sp>
      <p:sp>
        <p:nvSpPr>
          <p:cNvPr id="36" name="TextBox 35"/>
          <p:cNvSpPr txBox="1"/>
          <p:nvPr/>
        </p:nvSpPr>
        <p:spPr>
          <a:xfrm>
            <a:off x="4965192" y="3941063"/>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0.707</a:t>
            </a:r>
          </a:p>
        </p:txBody>
      </p:sp>
      <p:sp>
        <p:nvSpPr>
          <p:cNvPr id="37" name="TextBox 36"/>
          <p:cNvSpPr txBox="1"/>
          <p:nvPr/>
        </p:nvSpPr>
        <p:spPr>
          <a:xfrm>
            <a:off x="7159751" y="3941063"/>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24.082</a:t>
            </a:r>
          </a:p>
        </p:txBody>
      </p:sp>
      <p:sp>
        <p:nvSpPr>
          <p:cNvPr id="38" name="TextBox 37"/>
          <p:cNvSpPr txBox="1"/>
          <p:nvPr/>
        </p:nvSpPr>
        <p:spPr>
          <a:xfrm>
            <a:off x="9354311" y="3941063"/>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23.259</a:t>
            </a:r>
          </a:p>
        </p:txBody>
      </p:sp>
      <p:sp>
        <p:nvSpPr>
          <p:cNvPr id="39" name="Rectangle 38"/>
          <p:cNvSpPr/>
          <p:nvPr/>
        </p:nvSpPr>
        <p:spPr>
          <a:xfrm>
            <a:off x="694944" y="4279392"/>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4361688"/>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MMM</a:t>
            </a:r>
          </a:p>
        </p:txBody>
      </p:sp>
      <p:sp>
        <p:nvSpPr>
          <p:cNvPr id="41" name="TextBox 40"/>
          <p:cNvSpPr txBox="1"/>
          <p:nvPr/>
        </p:nvSpPr>
        <p:spPr>
          <a:xfrm>
            <a:off x="2907791" y="4361688"/>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0.880</a:t>
            </a:r>
          </a:p>
        </p:txBody>
      </p:sp>
      <p:sp>
        <p:nvSpPr>
          <p:cNvPr id="42" name="TextBox 41"/>
          <p:cNvSpPr txBox="1"/>
          <p:nvPr/>
        </p:nvSpPr>
        <p:spPr>
          <a:xfrm>
            <a:off x="4965192" y="4361688"/>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0.548</a:t>
            </a:r>
          </a:p>
        </p:txBody>
      </p:sp>
      <p:sp>
        <p:nvSpPr>
          <p:cNvPr id="43" name="TextBox 42"/>
          <p:cNvSpPr txBox="1"/>
          <p:nvPr/>
        </p:nvSpPr>
        <p:spPr>
          <a:xfrm>
            <a:off x="7159751" y="4361688"/>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23.828</a:t>
            </a:r>
          </a:p>
        </p:txBody>
      </p:sp>
      <p:sp>
        <p:nvSpPr>
          <p:cNvPr id="44" name="TextBox 43"/>
          <p:cNvSpPr txBox="1"/>
          <p:nvPr/>
        </p:nvSpPr>
        <p:spPr>
          <a:xfrm>
            <a:off x="9354311" y="4361688"/>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22.948</a:t>
            </a:r>
          </a:p>
        </p:txBody>
      </p:sp>
      <p:sp>
        <p:nvSpPr>
          <p:cNvPr id="45" name="Rectangle 44"/>
          <p:cNvSpPr/>
          <p:nvPr/>
        </p:nvSpPr>
        <p:spPr>
          <a:xfrm>
            <a:off x="694944" y="4700016"/>
            <a:ext cx="107899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4672" y="4782312"/>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ReactMotion</a:t>
            </a:r>
          </a:p>
        </p:txBody>
      </p:sp>
      <p:sp>
        <p:nvSpPr>
          <p:cNvPr id="47" name="TextBox 46"/>
          <p:cNvSpPr txBox="1"/>
          <p:nvPr/>
        </p:nvSpPr>
        <p:spPr>
          <a:xfrm>
            <a:off x="2907791" y="4782312"/>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1.218</a:t>
            </a:r>
          </a:p>
        </p:txBody>
      </p:sp>
      <p:sp>
        <p:nvSpPr>
          <p:cNvPr id="48" name="TextBox 47"/>
          <p:cNvSpPr txBox="1"/>
          <p:nvPr/>
        </p:nvSpPr>
        <p:spPr>
          <a:xfrm>
            <a:off x="4965192" y="4782312"/>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1.000</a:t>
            </a:r>
          </a:p>
        </p:txBody>
      </p:sp>
      <p:sp>
        <p:nvSpPr>
          <p:cNvPr id="49" name="TextBox 48"/>
          <p:cNvSpPr txBox="1"/>
          <p:nvPr/>
        </p:nvSpPr>
        <p:spPr>
          <a:xfrm>
            <a:off x="7159751" y="4782312"/>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18.998</a:t>
            </a:r>
          </a:p>
        </p:txBody>
      </p:sp>
      <p:sp>
        <p:nvSpPr>
          <p:cNvPr id="50" name="TextBox 49"/>
          <p:cNvSpPr txBox="1"/>
          <p:nvPr/>
        </p:nvSpPr>
        <p:spPr>
          <a:xfrm>
            <a:off x="9354311" y="4782312"/>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17.780</a:t>
            </a:r>
          </a:p>
        </p:txBody>
      </p:sp>
      <p:sp>
        <p:nvSpPr>
          <p:cNvPr id="51" name="Rectangle 50"/>
          <p:cNvSpPr/>
          <p:nvPr/>
        </p:nvSpPr>
        <p:spPr>
          <a:xfrm>
            <a:off x="694944" y="5120640"/>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5202936"/>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MaAI</a:t>
            </a:r>
          </a:p>
        </p:txBody>
      </p:sp>
      <p:sp>
        <p:nvSpPr>
          <p:cNvPr id="53" name="TextBox 52"/>
          <p:cNvSpPr txBox="1"/>
          <p:nvPr/>
        </p:nvSpPr>
        <p:spPr>
          <a:xfrm>
            <a:off x="2907791" y="5202936"/>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0.773</a:t>
            </a:r>
          </a:p>
        </p:txBody>
      </p:sp>
      <p:sp>
        <p:nvSpPr>
          <p:cNvPr id="54" name="TextBox 53"/>
          <p:cNvSpPr txBox="1"/>
          <p:nvPr/>
        </p:nvSpPr>
        <p:spPr>
          <a:xfrm>
            <a:off x="4965192" y="5202936"/>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1.604</a:t>
            </a:r>
          </a:p>
        </p:txBody>
      </p:sp>
      <p:sp>
        <p:nvSpPr>
          <p:cNvPr id="55" name="TextBox 54"/>
          <p:cNvSpPr txBox="1"/>
          <p:nvPr/>
        </p:nvSpPr>
        <p:spPr>
          <a:xfrm>
            <a:off x="7159751" y="5202936"/>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19.606</a:t>
            </a:r>
          </a:p>
        </p:txBody>
      </p:sp>
      <p:sp>
        <p:nvSpPr>
          <p:cNvPr id="56" name="TextBox 55"/>
          <p:cNvSpPr txBox="1"/>
          <p:nvPr/>
        </p:nvSpPr>
        <p:spPr>
          <a:xfrm>
            <a:off x="9354311" y="5202936"/>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18.833</a:t>
            </a:r>
          </a:p>
        </p:txBody>
      </p:sp>
      <p:sp>
        <p:nvSpPr>
          <p:cNvPr id="57" name="Rounded Rectangle 56"/>
          <p:cNvSpPr/>
          <p:nvPr/>
        </p:nvSpPr>
        <p:spPr>
          <a:xfrm>
            <a:off x="722376" y="5632704"/>
            <a:ext cx="10716768" cy="5486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22376" y="5632704"/>
            <a:ext cx="41148" cy="5486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05256" y="5797296"/>
            <a:ext cx="1036929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解釈：これは「モデルの純粋な速さ」の順位ではなく、当時の実装経路の応答待ちの記録。</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Kimodo / B300：20ステップでは生成単体が1秒未満</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同じ教師返答・149フレーム（約4.97秒）・batch=1・各設定3回の中央値</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[R3] benchmark/summary.json・hardware.json / Kimodo-SOMA-RP-v1</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11</a:t>
            </a:r>
          </a:p>
        </p:txBody>
      </p:sp>
      <p:sp>
        <p:nvSpPr>
          <p:cNvPr id="9" name="TextBox 8"/>
          <p:cNvSpPr txBox="1"/>
          <p:nvPr/>
        </p:nvSpPr>
        <p:spPr>
          <a:xfrm>
            <a:off x="868680" y="2423160"/>
            <a:ext cx="2999232"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FP32 / 100 steps</a:t>
            </a:r>
          </a:p>
        </p:txBody>
      </p:sp>
      <p:sp>
        <p:nvSpPr>
          <p:cNvPr id="10" name="Rectangle 9"/>
          <p:cNvSpPr/>
          <p:nvPr/>
        </p:nvSpPr>
        <p:spPr>
          <a:xfrm>
            <a:off x="4050791" y="2450591"/>
            <a:ext cx="521208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50791" y="2450591"/>
            <a:ext cx="4915658" cy="320040"/>
          </a:xfrm>
          <a:prstGeom prst="rect">
            <a:avLst/>
          </a:prstGeom>
          <a:solidFill>
            <a:srgbClr val="326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27463" y="2414016"/>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3269AC"/>
                </a:solidFill>
                <a:latin typeface="Noto Sans CJK JP"/>
                <a:ea typeface="Noto Sans CJK JP"/>
              </a:rPr>
              <a:t>1.886秒</a:t>
            </a:r>
          </a:p>
        </p:txBody>
      </p:sp>
      <p:sp>
        <p:nvSpPr>
          <p:cNvPr id="13" name="TextBox 12"/>
          <p:cNvSpPr txBox="1"/>
          <p:nvPr/>
        </p:nvSpPr>
        <p:spPr>
          <a:xfrm>
            <a:off x="868680" y="3200400"/>
            <a:ext cx="2999232"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TF32許可 / 100 steps</a:t>
            </a:r>
          </a:p>
        </p:txBody>
      </p:sp>
      <p:sp>
        <p:nvSpPr>
          <p:cNvPr id="14" name="Rectangle 13"/>
          <p:cNvSpPr/>
          <p:nvPr/>
        </p:nvSpPr>
        <p:spPr>
          <a:xfrm>
            <a:off x="4050791" y="3227832"/>
            <a:ext cx="521208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50791" y="3227832"/>
            <a:ext cx="4468973" cy="320040"/>
          </a:xfrm>
          <a:prstGeom prst="rect">
            <a:avLst/>
          </a:prstGeom>
          <a:solidFill>
            <a:srgbClr val="326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27463" y="3191256"/>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3269AC"/>
                </a:solidFill>
                <a:latin typeface="Noto Sans CJK JP"/>
                <a:ea typeface="Noto Sans CJK JP"/>
              </a:rPr>
              <a:t>1.715秒</a:t>
            </a:r>
          </a:p>
        </p:txBody>
      </p:sp>
      <p:sp>
        <p:nvSpPr>
          <p:cNvPr id="17" name="TextBox 16"/>
          <p:cNvSpPr txBox="1"/>
          <p:nvPr/>
        </p:nvSpPr>
        <p:spPr>
          <a:xfrm>
            <a:off x="868680" y="3977639"/>
            <a:ext cx="2999232"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TF32許可 / 20 steps</a:t>
            </a:r>
          </a:p>
        </p:txBody>
      </p:sp>
      <p:sp>
        <p:nvSpPr>
          <p:cNvPr id="18" name="Rectangle 17"/>
          <p:cNvSpPr/>
          <p:nvPr/>
        </p:nvSpPr>
        <p:spPr>
          <a:xfrm>
            <a:off x="4050791" y="4005072"/>
            <a:ext cx="521208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50791" y="4005072"/>
            <a:ext cx="1132525"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7463" y="3968496"/>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0.435秒</a:t>
            </a:r>
          </a:p>
        </p:txBody>
      </p:sp>
      <p:sp>
        <p:nvSpPr>
          <p:cNvPr id="21" name="TextBox 20"/>
          <p:cNvSpPr txBox="1"/>
          <p:nvPr/>
        </p:nvSpPr>
        <p:spPr>
          <a:xfrm>
            <a:off x="813816" y="4791456"/>
            <a:ext cx="5212080" cy="420624"/>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100→20 steps：処理時間は約77%短縮</a:t>
            </a:r>
          </a:p>
        </p:txBody>
      </p:sp>
      <p:sp>
        <p:nvSpPr>
          <p:cNvPr id="22" name="TextBox 21"/>
          <p:cNvSpPr txBox="1"/>
          <p:nvPr/>
        </p:nvSpPr>
        <p:spPr>
          <a:xfrm>
            <a:off x="813816" y="5404104"/>
            <a:ext cx="5212080" cy="621792"/>
          </a:xfrm>
          <a:prstGeom prst="rect">
            <a:avLst/>
          </a:prstGeom>
          <a:noFill/>
        </p:spPr>
        <p:txBody>
          <a:bodyPr wrap="square" lIns="0" rIns="0" tIns="0" bIns="0" anchor="t">
            <a:spAutoFit/>
          </a:bodyPr>
          <a:lstStyle/>
          <a:p>
            <a:pPr algn="l">
              <a:lnSpc>
                <a:spcPct val="114000"/>
              </a:lnSpc>
              <a:spcAft>
                <a:spcPts val="500"/>
              </a:spcAft>
            </a:pPr>
            <a:r>
              <a:rPr sz="1700" b="0" lang="ja-JP">
                <a:solidFill>
                  <a:srgbClr val="5B707B"/>
                </a:solidFill>
                <a:latin typeface="Noto Sans CJK JP"/>
                <a:ea typeface="Noto Sans CJK JP"/>
              </a:rPr>
              <a:t>20 stepsの画質・動作自然さが</a:t>
            </a:r>
          </a:p>
          <a:p>
            <a:pPr algn="l">
              <a:lnSpc>
                <a:spcPct val="114000"/>
              </a:lnSpc>
              <a:spcAft>
                <a:spcPts val="500"/>
              </a:spcAft>
            </a:pPr>
            <a:r>
              <a:rPr sz="1700" b="0" lang="ja-JP">
                <a:solidFill>
                  <a:srgbClr val="5B707B"/>
                </a:solidFill>
                <a:latin typeface="Noto Sans CJK JP"/>
                <a:ea typeface="Noto Sans CJK JP"/>
              </a:rPr>
              <a:t>100 stepsと同等かは未評価。</a:t>
            </a:r>
          </a:p>
        </p:txBody>
      </p:sp>
      <p:sp>
        <p:nvSpPr>
          <p:cNvPr id="23" name="Rounded Rectangle 22"/>
          <p:cNvSpPr/>
          <p:nvPr/>
        </p:nvSpPr>
        <p:spPr>
          <a:xfrm>
            <a:off x="6400800" y="4727448"/>
            <a:ext cx="4800600" cy="1335024"/>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1968" y="4882896"/>
            <a:ext cx="4389120" cy="36576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常駐化の前提</a:t>
            </a:r>
          </a:p>
        </p:txBody>
      </p:sp>
      <p:sp>
        <p:nvSpPr>
          <p:cNvPr id="25" name="TextBox 24"/>
          <p:cNvSpPr txBox="1"/>
          <p:nvPr/>
        </p:nvSpPr>
        <p:spPr>
          <a:xfrm>
            <a:off x="6601968" y="5385816"/>
            <a:ext cx="4389120" cy="475488"/>
          </a:xfrm>
          <a:prstGeom prst="rect">
            <a:avLst/>
          </a:prstGeom>
          <a:noFill/>
        </p:spPr>
        <p:txBody>
          <a:bodyPr wrap="square" lIns="0" rIns="0" tIns="0" bIns="0" anchor="t">
            <a:spAutoFit/>
          </a:bodyPr>
          <a:lstStyle/>
          <a:p>
            <a:pPr algn="l">
              <a:lnSpc>
                <a:spcPct val="114000"/>
              </a:lnSpc>
              <a:spcAft>
                <a:spcPts val="500"/>
              </a:spcAft>
            </a:pPr>
            <a:r>
              <a:rPr sz="1600" b="0" lang="ja-JP">
                <a:solidFill>
                  <a:srgbClr val="183440"/>
                </a:solidFill>
                <a:latin typeface="Noto Sans CJK JP"/>
                <a:ea typeface="Noto Sans CJK JP"/>
              </a:rPr>
              <a:t>キャッシュ済みモデル読込：約40.2秒</a:t>
            </a:r>
          </a:p>
          <a:p>
            <a:pPr algn="l">
              <a:lnSpc>
                <a:spcPct val="114000"/>
              </a:lnSpc>
              <a:spcAft>
                <a:spcPts val="500"/>
              </a:spcAft>
            </a:pPr>
            <a:r>
              <a:rPr sz="1600" b="0" lang="ja-JP">
                <a:solidFill>
                  <a:srgbClr val="183440"/>
                </a:solidFill>
                <a:latin typeface="Noto Sans CJK JP"/>
                <a:ea typeface="Noto Sans CJK JP"/>
              </a:rPr>
              <a:t>Torch最大割り当て：約15.3GiB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B300でも、骨格が届くまでの追加待ちは約3.25秒</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別途実施した音声入力の会話：先生の全文を受信してから動作生成を開始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[R4] dialogue-{fp32-100,tf32-20}/measurement.json / 各1回・同一クライアント時計</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12</a:t>
            </a:r>
          </a:p>
        </p:txBody>
      </p:sp>
      <p:sp>
        <p:nvSpPr>
          <p:cNvPr id="9" name="TextBox 8"/>
          <p:cNvSpPr txBox="1"/>
          <p:nvPr/>
        </p:nvSpPr>
        <p:spPr>
          <a:xfrm>
            <a:off x="905256" y="2423160"/>
            <a:ext cx="3200400" cy="365760"/>
          </a:xfrm>
          <a:prstGeom prst="rect">
            <a:avLst/>
          </a:prstGeom>
          <a:noFill/>
        </p:spPr>
        <p:txBody>
          <a:bodyPr wrap="square" lIns="0" rIns="0" tIns="0" bIns="0" anchor="t">
            <a:spAutoFit/>
          </a:bodyPr>
          <a:lstStyle/>
          <a:p>
            <a:pPr algn="l">
              <a:lnSpc>
                <a:spcPct val="114000"/>
              </a:lnSpc>
              <a:spcAft>
                <a:spcPts val="500"/>
              </a:spcAft>
            </a:pPr>
            <a:r>
              <a:rPr sz="1800" b="1" lang="ja-JP">
                <a:solidFill>
                  <a:srgbClr val="183440"/>
                </a:solidFill>
                <a:latin typeface="Noto Sans CJK JP"/>
                <a:ea typeface="Noto Sans CJK JP"/>
              </a:rPr>
              <a:t>通常100 steps</a:t>
            </a:r>
          </a:p>
        </p:txBody>
      </p:sp>
      <p:sp>
        <p:nvSpPr>
          <p:cNvPr id="10" name="Rectangle 9"/>
          <p:cNvSpPr/>
          <p:nvPr/>
        </p:nvSpPr>
        <p:spPr>
          <a:xfrm>
            <a:off x="905256" y="3282696"/>
            <a:ext cx="10104120" cy="32004"/>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05256"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11693"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8131"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24569"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31006"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437444"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03775" y="3246120"/>
            <a:ext cx="100584" cy="100584"/>
          </a:xfrm>
          <a:prstGeom prst="ellipse">
            <a:avLst/>
          </a:prstGeom>
          <a:solidFill>
            <a:srgbClr val="3269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60875" y="2798063"/>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3269AC"/>
                </a:solidFill>
                <a:latin typeface="Noto Sans CJK JP"/>
                <a:ea typeface="Noto Sans CJK JP"/>
              </a:rPr>
              <a:t>音声 0.603</a:t>
            </a:r>
          </a:p>
        </p:txBody>
      </p:sp>
      <p:sp>
        <p:nvSpPr>
          <p:cNvPr id="19" name="Oval 18"/>
          <p:cNvSpPr/>
          <p:nvPr/>
        </p:nvSpPr>
        <p:spPr>
          <a:xfrm>
            <a:off x="3525845" y="3246120"/>
            <a:ext cx="100584" cy="100584"/>
          </a:xfrm>
          <a:prstGeom prst="ellipse">
            <a:avLst/>
          </a:prstGeom>
          <a:solidFill>
            <a:srgbClr val="5B70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82945" y="2798063"/>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5B707B"/>
                </a:solidFill>
                <a:latin typeface="Noto Sans CJK JP"/>
                <a:ea typeface="Noto Sans CJK JP"/>
              </a:rPr>
              <a:t>全文 1.401</a:t>
            </a:r>
          </a:p>
        </p:txBody>
      </p:sp>
      <p:sp>
        <p:nvSpPr>
          <p:cNvPr id="21" name="Oval 20"/>
          <p:cNvSpPr/>
          <p:nvPr/>
        </p:nvSpPr>
        <p:spPr>
          <a:xfrm>
            <a:off x="10334655" y="3246120"/>
            <a:ext cx="100584" cy="10058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91755" y="2798063"/>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007F80"/>
                </a:solidFill>
                <a:latin typeface="Noto Sans CJK JP"/>
                <a:ea typeface="Noto Sans CJK JP"/>
              </a:rPr>
              <a:t>骨格 4.972</a:t>
            </a:r>
          </a:p>
        </p:txBody>
      </p:sp>
      <p:sp>
        <p:nvSpPr>
          <p:cNvPr id="23" name="TextBox 22"/>
          <p:cNvSpPr txBox="1"/>
          <p:nvPr/>
        </p:nvSpPr>
        <p:spPr>
          <a:xfrm>
            <a:off x="7452360" y="2395728"/>
            <a:ext cx="3703320" cy="365760"/>
          </a:xfrm>
          <a:prstGeom prst="rect">
            <a:avLst/>
          </a:prstGeom>
          <a:noFill/>
        </p:spPr>
        <p:txBody>
          <a:bodyPr wrap="square" lIns="0" rIns="0" tIns="0" bIns="0" anchor="t">
            <a:spAutoFit/>
          </a:bodyPr>
          <a:lstStyle/>
          <a:p>
            <a:pPr algn="r">
              <a:lnSpc>
                <a:spcPct val="114000"/>
              </a:lnSpc>
              <a:spcAft>
                <a:spcPts val="500"/>
              </a:spcAft>
            </a:pPr>
            <a:r>
              <a:rPr sz="2000" b="1" lang="ja-JP">
                <a:solidFill>
                  <a:srgbClr val="B56B13"/>
                </a:solidFill>
                <a:latin typeface="Noto Sans CJK JP"/>
                <a:ea typeface="Noto Sans CJK JP"/>
              </a:rPr>
              <a:t>Realtimeとの差  4.370秒</a:t>
            </a:r>
          </a:p>
        </p:txBody>
      </p:sp>
      <p:sp>
        <p:nvSpPr>
          <p:cNvPr id="24" name="TextBox 23"/>
          <p:cNvSpPr txBox="1"/>
          <p:nvPr/>
        </p:nvSpPr>
        <p:spPr>
          <a:xfrm>
            <a:off x="905256" y="3685031"/>
            <a:ext cx="3200400" cy="365760"/>
          </a:xfrm>
          <a:prstGeom prst="rect">
            <a:avLst/>
          </a:prstGeom>
          <a:noFill/>
        </p:spPr>
        <p:txBody>
          <a:bodyPr wrap="square" lIns="0" rIns="0" tIns="0" bIns="0" anchor="t">
            <a:spAutoFit/>
          </a:bodyPr>
          <a:lstStyle/>
          <a:p>
            <a:pPr algn="l">
              <a:lnSpc>
                <a:spcPct val="114000"/>
              </a:lnSpc>
              <a:spcAft>
                <a:spcPts val="500"/>
              </a:spcAft>
            </a:pPr>
            <a:r>
              <a:rPr sz="1800" b="1" lang="ja-JP">
                <a:solidFill>
                  <a:srgbClr val="183440"/>
                </a:solidFill>
                <a:latin typeface="Noto Sans CJK JP"/>
                <a:ea typeface="Noto Sans CJK JP"/>
              </a:rPr>
              <a:t>高速20 steps</a:t>
            </a:r>
          </a:p>
        </p:txBody>
      </p:sp>
      <p:sp>
        <p:nvSpPr>
          <p:cNvPr id="25" name="Rectangle 24"/>
          <p:cNvSpPr/>
          <p:nvPr/>
        </p:nvSpPr>
        <p:spPr>
          <a:xfrm>
            <a:off x="905256" y="4544567"/>
            <a:ext cx="10104120" cy="32004"/>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0秒</a:t>
            </a:r>
          </a:p>
        </p:txBody>
      </p:sp>
      <p:sp>
        <p:nvSpPr>
          <p:cNvPr id="28" name="Rectangle 27"/>
          <p:cNvSpPr/>
          <p:nvPr/>
        </p:nvSpPr>
        <p:spPr>
          <a:xfrm>
            <a:off x="2811693"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74533"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1秒</a:t>
            </a:r>
          </a:p>
        </p:txBody>
      </p:sp>
      <p:sp>
        <p:nvSpPr>
          <p:cNvPr id="30" name="Rectangle 29"/>
          <p:cNvSpPr/>
          <p:nvPr/>
        </p:nvSpPr>
        <p:spPr>
          <a:xfrm>
            <a:off x="4718131"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80971"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2秒</a:t>
            </a:r>
          </a:p>
        </p:txBody>
      </p:sp>
      <p:sp>
        <p:nvSpPr>
          <p:cNvPr id="32" name="Rectangle 31"/>
          <p:cNvSpPr/>
          <p:nvPr/>
        </p:nvSpPr>
        <p:spPr>
          <a:xfrm>
            <a:off x="6624569"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87409"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3秒</a:t>
            </a:r>
          </a:p>
        </p:txBody>
      </p:sp>
      <p:sp>
        <p:nvSpPr>
          <p:cNvPr id="34" name="Rectangle 33"/>
          <p:cNvSpPr/>
          <p:nvPr/>
        </p:nvSpPr>
        <p:spPr>
          <a:xfrm>
            <a:off x="8531006"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93846"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4秒</a:t>
            </a:r>
          </a:p>
        </p:txBody>
      </p:sp>
      <p:sp>
        <p:nvSpPr>
          <p:cNvPr id="36" name="Rectangle 35"/>
          <p:cNvSpPr/>
          <p:nvPr/>
        </p:nvSpPr>
        <p:spPr>
          <a:xfrm>
            <a:off x="10437444"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00284"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5秒</a:t>
            </a:r>
          </a:p>
        </p:txBody>
      </p:sp>
      <p:sp>
        <p:nvSpPr>
          <p:cNvPr id="38" name="Oval 37"/>
          <p:cNvSpPr/>
          <p:nvPr/>
        </p:nvSpPr>
        <p:spPr>
          <a:xfrm>
            <a:off x="2161609" y="4507991"/>
            <a:ext cx="100584" cy="100584"/>
          </a:xfrm>
          <a:prstGeom prst="ellipse">
            <a:avLst/>
          </a:prstGeom>
          <a:solidFill>
            <a:srgbClr val="3269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18709" y="4059935"/>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3269AC"/>
                </a:solidFill>
                <a:latin typeface="Noto Sans CJK JP"/>
                <a:ea typeface="Noto Sans CJK JP"/>
              </a:rPr>
              <a:t>音声 0.685</a:t>
            </a:r>
          </a:p>
        </p:txBody>
      </p:sp>
      <p:sp>
        <p:nvSpPr>
          <p:cNvPr id="40" name="Oval 39"/>
          <p:cNvSpPr/>
          <p:nvPr/>
        </p:nvSpPr>
        <p:spPr>
          <a:xfrm>
            <a:off x="4045151" y="4507991"/>
            <a:ext cx="100584" cy="100584"/>
          </a:xfrm>
          <a:prstGeom prst="ellipse">
            <a:avLst/>
          </a:prstGeom>
          <a:solidFill>
            <a:srgbClr val="5B70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02251" y="4059935"/>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5B707B"/>
                </a:solidFill>
                <a:latin typeface="Noto Sans CJK JP"/>
                <a:ea typeface="Noto Sans CJK JP"/>
              </a:rPr>
              <a:t>全文 1.673</a:t>
            </a:r>
          </a:p>
        </p:txBody>
      </p:sp>
      <p:sp>
        <p:nvSpPr>
          <p:cNvPr id="42" name="Oval 41"/>
          <p:cNvSpPr/>
          <p:nvPr/>
        </p:nvSpPr>
        <p:spPr>
          <a:xfrm>
            <a:off x="8360602" y="4507991"/>
            <a:ext cx="100584" cy="10058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17702" y="4059935"/>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007F80"/>
                </a:solidFill>
                <a:latin typeface="Noto Sans CJK JP"/>
                <a:ea typeface="Noto Sans CJK JP"/>
              </a:rPr>
              <a:t>骨格 3.937</a:t>
            </a:r>
          </a:p>
        </p:txBody>
      </p:sp>
      <p:sp>
        <p:nvSpPr>
          <p:cNvPr id="44" name="TextBox 43"/>
          <p:cNvSpPr txBox="1"/>
          <p:nvPr/>
        </p:nvSpPr>
        <p:spPr>
          <a:xfrm>
            <a:off x="7452360" y="3657599"/>
            <a:ext cx="3703320" cy="365760"/>
          </a:xfrm>
          <a:prstGeom prst="rect">
            <a:avLst/>
          </a:prstGeom>
          <a:noFill/>
        </p:spPr>
        <p:txBody>
          <a:bodyPr wrap="square" lIns="0" rIns="0" tIns="0" bIns="0" anchor="t">
            <a:spAutoFit/>
          </a:bodyPr>
          <a:lstStyle/>
          <a:p>
            <a:pPr algn="r">
              <a:lnSpc>
                <a:spcPct val="114000"/>
              </a:lnSpc>
              <a:spcAft>
                <a:spcPts val="500"/>
              </a:spcAft>
            </a:pPr>
            <a:r>
              <a:rPr sz="2000" b="1" lang="ja-JP">
                <a:solidFill>
                  <a:srgbClr val="B56B13"/>
                </a:solidFill>
                <a:latin typeface="Noto Sans CJK JP"/>
                <a:ea typeface="Noto Sans CJK JP"/>
              </a:rPr>
              <a:t>Realtimeとの差  3.252秒</a:t>
            </a:r>
          </a:p>
        </p:txBody>
      </p:sp>
      <p:sp>
        <p:nvSpPr>
          <p:cNvPr id="45" name="TextBox 44"/>
          <p:cNvSpPr txBox="1"/>
          <p:nvPr/>
        </p:nvSpPr>
        <p:spPr>
          <a:xfrm>
            <a:off x="832104" y="5065776"/>
            <a:ext cx="10515600" cy="347472"/>
          </a:xfrm>
          <a:prstGeom prst="rect">
            <a:avLst/>
          </a:prstGeom>
          <a:noFill/>
        </p:spPr>
        <p:txBody>
          <a:bodyPr wrap="square" lIns="0" rIns="0" tIns="0" bIns="0" anchor="t">
            <a:spAutoFit/>
          </a:bodyPr>
          <a:lstStyle/>
          <a:p>
            <a:pPr algn="l">
              <a:lnSpc>
                <a:spcPct val="114000"/>
              </a:lnSpc>
              <a:spcAft>
                <a:spcPts val="500"/>
              </a:spcAft>
            </a:pPr>
            <a:r>
              <a:rPr sz="1800" b="1" lang="ja-JP">
                <a:solidFill>
                  <a:srgbClr val="183440"/>
                </a:solidFill>
                <a:latin typeface="Noto Sans CJK JP"/>
                <a:ea typeface="Noto Sans CJK JP"/>
              </a:rPr>
              <a:t>高速設定の追加待ち 3.252秒 の内訳（残差による整理）</a:t>
            </a:r>
          </a:p>
        </p:txBody>
      </p:sp>
      <p:sp>
        <p:nvSpPr>
          <p:cNvPr id="46" name="Rounded Rectangle 45"/>
          <p:cNvSpPr/>
          <p:nvPr/>
        </p:nvSpPr>
        <p:spPr>
          <a:xfrm>
            <a:off x="832104" y="5532120"/>
            <a:ext cx="2532888" cy="502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3544" y="5623560"/>
            <a:ext cx="2350008"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全文待ち  0.988秒</a:t>
            </a:r>
          </a:p>
        </p:txBody>
      </p:sp>
      <p:sp>
        <p:nvSpPr>
          <p:cNvPr id="48" name="Rounded Rectangle 47"/>
          <p:cNvSpPr/>
          <p:nvPr/>
        </p:nvSpPr>
        <p:spPr>
          <a:xfrm>
            <a:off x="3529584" y="5532120"/>
            <a:ext cx="2532888" cy="502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21024" y="5623560"/>
            <a:ext cx="2350008"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送信まで  0.110秒</a:t>
            </a:r>
          </a:p>
        </p:txBody>
      </p:sp>
      <p:sp>
        <p:nvSpPr>
          <p:cNvPr id="50" name="Rounded Rectangle 49"/>
          <p:cNvSpPr/>
          <p:nvPr/>
        </p:nvSpPr>
        <p:spPr>
          <a:xfrm>
            <a:off x="6227064" y="5532120"/>
            <a:ext cx="2532888" cy="502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18504" y="5623560"/>
            <a:ext cx="2350008"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007F80"/>
                </a:solidFill>
                <a:latin typeface="Noto Sans CJK JP"/>
                <a:ea typeface="Noto Sans CJK JP"/>
              </a:rPr>
              <a:t>骨格生成  0.496秒</a:t>
            </a:r>
          </a:p>
        </p:txBody>
      </p:sp>
      <p:sp>
        <p:nvSpPr>
          <p:cNvPr id="52" name="Rounded Rectangle 51"/>
          <p:cNvSpPr/>
          <p:nvPr/>
        </p:nvSpPr>
        <p:spPr>
          <a:xfrm>
            <a:off x="8924544" y="5532120"/>
            <a:ext cx="2532888" cy="502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15984" y="5623560"/>
            <a:ext cx="2350008"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中継・結果受信等  1.658秒</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上半身・正面1080pのデモで、実測した待ち時間を確認</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PowerPoint：画像をクリックして動画再生 ／ PDF：同梱mediaフォルダーのMP4を再生</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[R4] video-{fp32-100,tf32-20}/demo.mp4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13</a:t>
            </a:r>
          </a:p>
        </p:txBody>
      </p:sp>
      <p:pic>
        <p:nvPicPr>
          <p:cNvPr id="9" name="Picture 8" descr="b300-fp32-100.png"/>
          <p:cNvPicPr>
            <a:picLocks noChangeAspect="1"/>
          </p:cNvPicPr>
          <p:nvPr/>
        </p:nvPicPr>
        <p:blipFill>
          <a:blip r:embed="rId3"/>
          <a:srcRect t="2" b="2"/>
          <a:stretch>
            <a:fillRect/>
          </a:stretch>
        </p:blipFill>
        <p:spPr>
          <a:xfrm>
            <a:off x="694944" y="2240280"/>
            <a:ext cx="5239512" cy="2947111"/>
          </a:xfrm>
          <a:prstGeom prst="rect">
            <a:avLst/>
          </a:prstGeom>
        </p:spPr>
      </p:pic>
      <p:pic>
        <p:nvPicPr>
          <p:cNvPr id="10" name="b300-fp32-100.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240280"/>
            <a:ext cx="5239512" cy="2947111"/>
          </a:xfrm>
          <a:prstGeom prst="rect">
            <a:avLst/>
          </a:prstGeom>
        </p:spPr>
      </p:pic>
      <p:sp>
        <p:nvSpPr>
          <p:cNvPr id="11" name="TextBox 10"/>
          <p:cNvSpPr txBox="1"/>
          <p:nvPr/>
        </p:nvSpPr>
        <p:spPr>
          <a:xfrm>
            <a:off x="694944" y="5385816"/>
            <a:ext cx="5239512" cy="365760"/>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通常 / FP32・100 steps</a:t>
            </a:r>
          </a:p>
        </p:txBody>
      </p:sp>
      <p:sp>
        <p:nvSpPr>
          <p:cNvPr id="12" name="TextBox 11"/>
          <p:cNvSpPr txBox="1"/>
          <p:nvPr/>
        </p:nvSpPr>
        <p:spPr>
          <a:xfrm>
            <a:off x="694944" y="5824728"/>
            <a:ext cx="5239512" cy="292608"/>
          </a:xfrm>
          <a:prstGeom prst="rect">
            <a:avLst/>
          </a:prstGeom>
          <a:noFill/>
        </p:spPr>
        <p:txBody>
          <a:bodyPr wrap="square" lIns="0" rIns="0" tIns="0" bIns="0" anchor="t">
            <a:spAutoFit/>
          </a:bodyPr>
          <a:lstStyle/>
          <a:p>
            <a:pPr algn="l">
              <a:lnSpc>
                <a:spcPct val="114000"/>
              </a:lnSpc>
              <a:spcAft>
                <a:spcPts val="500"/>
              </a:spcAft>
            </a:pPr>
            <a:r>
              <a:rPr sz="1400" b="0" lang="ja-JP">
                <a:solidFill>
                  <a:srgbClr val="3269AC"/>
                </a:solidFill>
                <a:latin typeface="Noto Sans CJK JP"/>
                <a:ea typeface="Noto Sans CJK JP"/>
                <a:hlinkClick r:id="rId6"/>
              </a:rPr>
              <a:t>▶ 同梱MP4を開く</a:t>
            </a:r>
          </a:p>
        </p:txBody>
      </p:sp>
      <p:pic>
        <p:nvPicPr>
          <p:cNvPr id="13" name="Picture 12" descr="b300-tf32-20.png"/>
          <p:cNvPicPr>
            <a:picLocks noChangeAspect="1"/>
          </p:cNvPicPr>
          <p:nvPr/>
        </p:nvPicPr>
        <p:blipFill>
          <a:blip r:embed="rId7"/>
          <a:srcRect t="2" b="2"/>
          <a:stretch>
            <a:fillRect/>
          </a:stretch>
        </p:blipFill>
        <p:spPr>
          <a:xfrm>
            <a:off x="6254496" y="2240280"/>
            <a:ext cx="5239512" cy="2947111"/>
          </a:xfrm>
          <a:prstGeom prst="rect">
            <a:avLst/>
          </a:prstGeom>
        </p:spPr>
      </p:pic>
      <p:pic>
        <p:nvPicPr>
          <p:cNvPr id="14" name="b300-tf32-20.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240280"/>
            <a:ext cx="5239512" cy="2947111"/>
          </a:xfrm>
          <a:prstGeom prst="rect">
            <a:avLst/>
          </a:prstGeom>
        </p:spPr>
      </p:pic>
      <p:sp>
        <p:nvSpPr>
          <p:cNvPr id="15" name="TextBox 14"/>
          <p:cNvSpPr txBox="1"/>
          <p:nvPr/>
        </p:nvSpPr>
        <p:spPr>
          <a:xfrm>
            <a:off x="6254496" y="5385816"/>
            <a:ext cx="5239512" cy="365760"/>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高速 / TF32許可・20 steps</a:t>
            </a:r>
          </a:p>
        </p:txBody>
      </p:sp>
      <p:sp>
        <p:nvSpPr>
          <p:cNvPr id="16" name="TextBox 15"/>
          <p:cNvSpPr txBox="1"/>
          <p:nvPr/>
        </p:nvSpPr>
        <p:spPr>
          <a:xfrm>
            <a:off x="6254496" y="5824728"/>
            <a:ext cx="5239512" cy="292608"/>
          </a:xfrm>
          <a:prstGeom prst="rect">
            <a:avLst/>
          </a:prstGeom>
          <a:noFill/>
        </p:spPr>
        <p:txBody>
          <a:bodyPr wrap="square" lIns="0" rIns="0" tIns="0" bIns="0" anchor="t">
            <a:spAutoFit/>
          </a:bodyPr>
          <a:lstStyle/>
          <a:p>
            <a:pPr algn="l">
              <a:lnSpc>
                <a:spcPct val="114000"/>
              </a:lnSpc>
              <a:spcAft>
                <a:spcPts val="500"/>
              </a:spcAft>
            </a:pPr>
            <a:r>
              <a:rPr sz="1400" b="0" lang="ja-JP">
                <a:solidFill>
                  <a:srgbClr val="3269AC"/>
                </a:solidFill>
                <a:latin typeface="Noto Sans CJK JP"/>
                <a:ea typeface="Noto Sans CJK JP"/>
                <a:hlinkClick r:id="rId10"/>
              </a:rPr>
              <a:t>▶ 同梱MP4を開く</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4"/>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文ごとに発話・動作を同期し、連結する経路を実装</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一括生成の既存コードは保持。文分割版・ARDY版・上半身版は独立した経路</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[R7] segmented/english-lesson*/README.md  [R4] B300 README.md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14</a:t>
            </a:r>
          </a:p>
        </p:txBody>
      </p:sp>
      <p:sp>
        <p:nvSpPr>
          <p:cNvPr id="9" name="Rounded Rectangle 8"/>
          <p:cNvSpPr/>
          <p:nvPr/>
        </p:nvSpPr>
        <p:spPr>
          <a:xfrm>
            <a:off x="777240"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1</a:t>
            </a:r>
          </a:p>
        </p:txBody>
      </p:sp>
      <p:sp>
        <p:nvSpPr>
          <p:cNvPr id="11" name="TextBox 10"/>
          <p:cNvSpPr txBox="1"/>
          <p:nvPr/>
        </p:nvSpPr>
        <p:spPr>
          <a:xfrm>
            <a:off x="905256"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12" name="TextBox 11"/>
          <p:cNvSpPr txBox="1"/>
          <p:nvPr/>
        </p:nvSpPr>
        <p:spPr>
          <a:xfrm>
            <a:off x="2798064" y="2752344"/>
            <a:ext cx="201168" cy="365760"/>
          </a:xfrm>
          <a:prstGeom prst="rect">
            <a:avLst/>
          </a:prstGeom>
          <a:noFill/>
        </p:spPr>
        <p:txBody>
          <a:bodyPr wrap="square" lIns="0" rIns="0" tIns="0" bIns="0" anchor="t">
            <a:spAutoFit/>
          </a:bodyPr>
          <a:lstStyle/>
          <a:p>
            <a:pPr algn="l">
              <a:lnSpc>
                <a:spcPct val="114000"/>
              </a:lnSpc>
              <a:spcAft>
                <a:spcPts val="500"/>
              </a:spcAft>
            </a:pPr>
            <a:r>
              <a:rPr sz="1900" b="0" lang="ja-JP">
                <a:solidFill>
                  <a:srgbClr val="5B707B"/>
                </a:solidFill>
                <a:latin typeface="Noto Sans CJK JP"/>
                <a:ea typeface="Noto Sans CJK JP"/>
              </a:rPr>
              <a:t>→</a:t>
            </a:r>
          </a:p>
        </p:txBody>
      </p:sp>
      <p:sp>
        <p:nvSpPr>
          <p:cNvPr id="13" name="Rounded Rectangle 12"/>
          <p:cNvSpPr/>
          <p:nvPr/>
        </p:nvSpPr>
        <p:spPr>
          <a:xfrm>
            <a:off x="3026664"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54680"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2</a:t>
            </a:r>
          </a:p>
        </p:txBody>
      </p:sp>
      <p:sp>
        <p:nvSpPr>
          <p:cNvPr id="15" name="TextBox 14"/>
          <p:cNvSpPr txBox="1"/>
          <p:nvPr/>
        </p:nvSpPr>
        <p:spPr>
          <a:xfrm>
            <a:off x="3154680"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16" name="TextBox 15"/>
          <p:cNvSpPr txBox="1"/>
          <p:nvPr/>
        </p:nvSpPr>
        <p:spPr>
          <a:xfrm>
            <a:off x="5047488" y="2752344"/>
            <a:ext cx="201168" cy="365760"/>
          </a:xfrm>
          <a:prstGeom prst="rect">
            <a:avLst/>
          </a:prstGeom>
          <a:noFill/>
        </p:spPr>
        <p:txBody>
          <a:bodyPr wrap="square" lIns="0" rIns="0" tIns="0" bIns="0" anchor="t">
            <a:spAutoFit/>
          </a:bodyPr>
          <a:lstStyle/>
          <a:p>
            <a:pPr algn="l">
              <a:lnSpc>
                <a:spcPct val="114000"/>
              </a:lnSpc>
              <a:spcAft>
                <a:spcPts val="500"/>
              </a:spcAft>
            </a:pPr>
            <a:r>
              <a:rPr sz="1900" b="0" lang="ja-JP">
                <a:solidFill>
                  <a:srgbClr val="5B707B"/>
                </a:solidFill>
                <a:latin typeface="Noto Sans CJK JP"/>
                <a:ea typeface="Noto Sans CJK JP"/>
              </a:rPr>
              <a:t>→</a:t>
            </a:r>
          </a:p>
        </p:txBody>
      </p:sp>
      <p:sp>
        <p:nvSpPr>
          <p:cNvPr id="17" name="Rounded Rectangle 16"/>
          <p:cNvSpPr/>
          <p:nvPr/>
        </p:nvSpPr>
        <p:spPr>
          <a:xfrm>
            <a:off x="5276088"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04103"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3</a:t>
            </a:r>
          </a:p>
        </p:txBody>
      </p:sp>
      <p:sp>
        <p:nvSpPr>
          <p:cNvPr id="19" name="TextBox 18"/>
          <p:cNvSpPr txBox="1"/>
          <p:nvPr/>
        </p:nvSpPr>
        <p:spPr>
          <a:xfrm>
            <a:off x="5404103"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20" name="TextBox 19"/>
          <p:cNvSpPr txBox="1"/>
          <p:nvPr/>
        </p:nvSpPr>
        <p:spPr>
          <a:xfrm>
            <a:off x="7296912" y="2752344"/>
            <a:ext cx="201168" cy="365760"/>
          </a:xfrm>
          <a:prstGeom prst="rect">
            <a:avLst/>
          </a:prstGeom>
          <a:noFill/>
        </p:spPr>
        <p:txBody>
          <a:bodyPr wrap="square" lIns="0" rIns="0" tIns="0" bIns="0" anchor="t">
            <a:spAutoFit/>
          </a:bodyPr>
          <a:lstStyle/>
          <a:p>
            <a:pPr algn="l">
              <a:lnSpc>
                <a:spcPct val="114000"/>
              </a:lnSpc>
              <a:spcAft>
                <a:spcPts val="500"/>
              </a:spcAft>
            </a:pPr>
            <a:r>
              <a:rPr sz="1900" b="0" lang="ja-JP">
                <a:solidFill>
                  <a:srgbClr val="5B707B"/>
                </a:solidFill>
                <a:latin typeface="Noto Sans CJK JP"/>
                <a:ea typeface="Noto Sans CJK JP"/>
              </a:rPr>
              <a:t>→</a:t>
            </a:r>
          </a:p>
        </p:txBody>
      </p:sp>
      <p:sp>
        <p:nvSpPr>
          <p:cNvPr id="21" name="Rounded Rectangle 20"/>
          <p:cNvSpPr/>
          <p:nvPr/>
        </p:nvSpPr>
        <p:spPr>
          <a:xfrm>
            <a:off x="7525512"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528"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4</a:t>
            </a:r>
          </a:p>
        </p:txBody>
      </p:sp>
      <p:sp>
        <p:nvSpPr>
          <p:cNvPr id="23" name="TextBox 22"/>
          <p:cNvSpPr txBox="1"/>
          <p:nvPr/>
        </p:nvSpPr>
        <p:spPr>
          <a:xfrm>
            <a:off x="7653528"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24" name="TextBox 23"/>
          <p:cNvSpPr txBox="1"/>
          <p:nvPr/>
        </p:nvSpPr>
        <p:spPr>
          <a:xfrm>
            <a:off x="9546336" y="2752344"/>
            <a:ext cx="201168" cy="365760"/>
          </a:xfrm>
          <a:prstGeom prst="rect">
            <a:avLst/>
          </a:prstGeom>
          <a:noFill/>
        </p:spPr>
        <p:txBody>
          <a:bodyPr wrap="square" lIns="0" rIns="0" tIns="0" bIns="0" anchor="t">
            <a:spAutoFit/>
          </a:bodyPr>
          <a:lstStyle/>
          <a:p>
            <a:pPr algn="l">
              <a:lnSpc>
                <a:spcPct val="114000"/>
              </a:lnSpc>
              <a:spcAft>
                <a:spcPts val="500"/>
              </a:spcAft>
            </a:pPr>
            <a:r>
              <a:rPr sz="1900" b="0" lang="ja-JP">
                <a:solidFill>
                  <a:srgbClr val="5B707B"/>
                </a:solidFill>
                <a:latin typeface="Noto Sans CJK JP"/>
                <a:ea typeface="Noto Sans CJK JP"/>
              </a:rPr>
              <a:t>→</a:t>
            </a:r>
          </a:p>
        </p:txBody>
      </p:sp>
      <p:sp>
        <p:nvSpPr>
          <p:cNvPr id="25" name="Rounded Rectangle 24"/>
          <p:cNvSpPr/>
          <p:nvPr/>
        </p:nvSpPr>
        <p:spPr>
          <a:xfrm>
            <a:off x="9774936"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02952"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5</a:t>
            </a:r>
          </a:p>
        </p:txBody>
      </p:sp>
      <p:sp>
        <p:nvSpPr>
          <p:cNvPr id="27" name="TextBox 26"/>
          <p:cNvSpPr txBox="1"/>
          <p:nvPr/>
        </p:nvSpPr>
        <p:spPr>
          <a:xfrm>
            <a:off x="9902952"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28" name="Rounded Rectangle 27"/>
          <p:cNvSpPr/>
          <p:nvPr/>
        </p:nvSpPr>
        <p:spPr>
          <a:xfrm>
            <a:off x="749808" y="3968496"/>
            <a:ext cx="5212080" cy="202996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9808" y="3968496"/>
            <a:ext cx="41148" cy="202996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4133087"/>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同期・連結</a:t>
            </a:r>
          </a:p>
        </p:txBody>
      </p:sp>
      <p:sp>
        <p:nvSpPr>
          <p:cNvPr id="31" name="TextBox 30"/>
          <p:cNvSpPr txBox="1"/>
          <p:nvPr/>
        </p:nvSpPr>
        <p:spPr>
          <a:xfrm>
            <a:off x="932688" y="4681728"/>
            <a:ext cx="4846320" cy="124358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区間の開始を同じフレームへそろえる。</a:t>
            </a:r>
          </a:p>
          <a:p>
            <a:pPr algn="l">
              <a:lnSpc>
                <a:spcPct val="114000"/>
              </a:lnSpc>
              <a:spcAft>
                <a:spcPts val="500"/>
              </a:spcAft>
            </a:pPr>
            <a:r>
              <a:rPr sz="1800" b="0" lang="ja-JP">
                <a:solidFill>
                  <a:srgbClr val="183440"/>
                </a:solidFill>
                <a:latin typeface="Noto Sans CJK JP"/>
                <a:ea typeface="Noto Sans CJK JP"/>
              </a:rPr>
              <a:t>境目の姿勢は最大250ms補間。</a:t>
            </a:r>
          </a:p>
          <a:p>
            <a:pPr algn="l">
              <a:lnSpc>
                <a:spcPct val="114000"/>
              </a:lnSpc>
              <a:spcAft>
                <a:spcPts val="500"/>
              </a:spcAft>
            </a:pPr>
            <a:r>
              <a:rPr sz="1800" b="0" lang="ja-JP">
                <a:solidFill>
                  <a:srgbClr val="183440"/>
                </a:solidFill>
                <a:latin typeface="Noto Sans CJK JP"/>
                <a:ea typeface="Noto Sans CJK JP"/>
              </a:rPr>
              <a:t>元の骨格・音声・時間記録を保持。</a:t>
            </a:r>
          </a:p>
        </p:txBody>
      </p:sp>
      <p:sp>
        <p:nvSpPr>
          <p:cNvPr id="32" name="Rounded Rectangle 31"/>
          <p:cNvSpPr/>
          <p:nvPr/>
        </p:nvSpPr>
        <p:spPr>
          <a:xfrm>
            <a:off x="6208776" y="3968496"/>
            <a:ext cx="5212080" cy="202996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3968496"/>
            <a:ext cx="41148" cy="202996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91656" y="4133087"/>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上半身表示の扱い</a:t>
            </a:r>
          </a:p>
        </p:txBody>
      </p:sp>
      <p:sp>
        <p:nvSpPr>
          <p:cNvPr id="35" name="TextBox 34"/>
          <p:cNvSpPr txBox="1"/>
          <p:nvPr/>
        </p:nvSpPr>
        <p:spPr>
          <a:xfrm>
            <a:off x="6391656" y="4681728"/>
            <a:ext cx="4846320" cy="124358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Kimodoは全身77関節を生成し、</a:t>
            </a:r>
          </a:p>
          <a:p>
            <a:pPr algn="l">
              <a:lnSpc>
                <a:spcPct val="114000"/>
              </a:lnSpc>
              <a:spcAft>
                <a:spcPts val="500"/>
              </a:spcAft>
            </a:pPr>
            <a:r>
              <a:rPr sz="1800" b="0" lang="ja-JP">
                <a:solidFill>
                  <a:srgbClr val="183440"/>
                </a:solidFill>
                <a:latin typeface="Noto Sans CJK JP"/>
                <a:ea typeface="Noto Sans CJK JP"/>
              </a:rPr>
              <a:t>上半身67関節を抽出。腰・脚を固定。</a:t>
            </a:r>
          </a:p>
          <a:p>
            <a:pPr algn="l">
              <a:lnSpc>
                <a:spcPct val="114000"/>
              </a:lnSpc>
              <a:spcAft>
                <a:spcPts val="500"/>
              </a:spcAft>
            </a:pPr>
            <a:r>
              <a:rPr sz="1800" b="0" lang="ja-JP">
                <a:solidFill>
                  <a:srgbClr val="183440"/>
                </a:solidFill>
                <a:latin typeface="Noto Sans CJK JP"/>
                <a:ea typeface="Noto Sans CJK JP"/>
              </a:rPr>
              <a:t>上半身のみを生成するモデルではない。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B300の1会話は約5円相当。ただし借りている間は連続課金</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$8.99 / 時、1ドル200円で換算。モデル常駐済み・起動と待機の費用は別</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[R4] usage・入力開始〜骨格受信  [R9] trial-cleanup.json  [P1] OpenAI公式モデル料金</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15</a:t>
            </a:r>
          </a:p>
        </p:txBody>
      </p:sp>
      <p:sp>
        <p:nvSpPr>
          <p:cNvPr id="9" name="Rectangle 8"/>
          <p:cNvSpPr/>
          <p:nvPr/>
        </p:nvSpPr>
        <p:spPr>
          <a:xfrm>
            <a:off x="758952" y="2194560"/>
            <a:ext cx="10698480" cy="521207"/>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276856"/>
            <a:ext cx="4663440" cy="411479"/>
          </a:xfrm>
          <a:prstGeom prst="rect">
            <a:avLst/>
          </a:prstGeom>
          <a:noFill/>
        </p:spPr>
        <p:txBody>
          <a:bodyPr wrap="square" lIns="0" rIns="0" tIns="0" bIns="0" anchor="t">
            <a:spAutoFit/>
          </a:bodyPr>
          <a:lstStyle/>
          <a:p>
            <a:pPr algn="l">
              <a:lnSpc>
                <a:spcPct val="114000"/>
              </a:lnSpc>
              <a:spcAft>
                <a:spcPts val="500"/>
              </a:spcAft>
            </a:pPr>
            <a:r>
              <a:rPr sz="1600" b="1" lang="ja-JP">
                <a:solidFill>
                  <a:srgbClr val="FFFFFF"/>
                </a:solidFill>
                <a:latin typeface="Noto Sans CJK JP"/>
                <a:ea typeface="Noto Sans CJK JP"/>
              </a:rPr>
              <a:t>料金の対象</a:t>
            </a:r>
          </a:p>
        </p:txBody>
      </p:sp>
      <p:sp>
        <p:nvSpPr>
          <p:cNvPr id="11" name="TextBox 10"/>
          <p:cNvSpPr txBox="1"/>
          <p:nvPr/>
        </p:nvSpPr>
        <p:spPr>
          <a:xfrm>
            <a:off x="5715000" y="2276856"/>
            <a:ext cx="2743200" cy="411479"/>
          </a:xfrm>
          <a:prstGeom prst="rect">
            <a:avLst/>
          </a:prstGeom>
          <a:noFill/>
        </p:spPr>
        <p:txBody>
          <a:bodyPr wrap="square" lIns="0" rIns="0" tIns="0" bIns="0" anchor="t">
            <a:spAutoFit/>
          </a:bodyPr>
          <a:lstStyle/>
          <a:p>
            <a:pPr algn="l">
              <a:lnSpc>
                <a:spcPct val="114000"/>
              </a:lnSpc>
              <a:spcAft>
                <a:spcPts val="500"/>
              </a:spcAft>
            </a:pPr>
            <a:r>
              <a:rPr sz="1600" b="1" lang="ja-JP">
                <a:solidFill>
                  <a:srgbClr val="FFFFFF"/>
                </a:solidFill>
                <a:latin typeface="Noto Sans CJK JP"/>
                <a:ea typeface="Noto Sans CJK JP"/>
              </a:rPr>
              <a:t>通常100 steps</a:t>
            </a:r>
          </a:p>
        </p:txBody>
      </p:sp>
      <p:sp>
        <p:nvSpPr>
          <p:cNvPr id="12" name="TextBox 11"/>
          <p:cNvSpPr txBox="1"/>
          <p:nvPr/>
        </p:nvSpPr>
        <p:spPr>
          <a:xfrm>
            <a:off x="8641080" y="2276856"/>
            <a:ext cx="2743200" cy="411479"/>
          </a:xfrm>
          <a:prstGeom prst="rect">
            <a:avLst/>
          </a:prstGeom>
          <a:noFill/>
        </p:spPr>
        <p:txBody>
          <a:bodyPr wrap="square" lIns="0" rIns="0" tIns="0" bIns="0" anchor="t">
            <a:spAutoFit/>
          </a:bodyPr>
          <a:lstStyle/>
          <a:p>
            <a:pPr algn="l">
              <a:lnSpc>
                <a:spcPct val="114000"/>
              </a:lnSpc>
              <a:spcAft>
                <a:spcPts val="500"/>
              </a:spcAft>
            </a:pPr>
            <a:r>
              <a:rPr sz="1600" b="1" lang="ja-JP">
                <a:solidFill>
                  <a:srgbClr val="FFFFFF"/>
                </a:solidFill>
                <a:latin typeface="Noto Sans CJK JP"/>
                <a:ea typeface="Noto Sans CJK JP"/>
              </a:rPr>
              <a:t>高速20 steps</a:t>
            </a:r>
          </a:p>
        </p:txBody>
      </p:sp>
      <p:sp>
        <p:nvSpPr>
          <p:cNvPr id="13" name="Rectangle 12"/>
          <p:cNvSpPr/>
          <p:nvPr/>
        </p:nvSpPr>
        <p:spPr>
          <a:xfrm>
            <a:off x="758952" y="2715768"/>
            <a:ext cx="10698480" cy="521207"/>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798063"/>
            <a:ext cx="466344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183440"/>
                </a:solidFill>
                <a:latin typeface="Noto Sans CJK JP"/>
                <a:ea typeface="Noto Sans CJK JP"/>
              </a:rPr>
              <a:t>入力音声開始→骨格受信</a:t>
            </a:r>
          </a:p>
        </p:txBody>
      </p:sp>
      <p:sp>
        <p:nvSpPr>
          <p:cNvPr id="15" name="TextBox 14"/>
          <p:cNvSpPr txBox="1"/>
          <p:nvPr/>
        </p:nvSpPr>
        <p:spPr>
          <a:xfrm>
            <a:off x="5715000" y="2798063"/>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6.873秒</a:t>
            </a:r>
          </a:p>
        </p:txBody>
      </p:sp>
      <p:sp>
        <p:nvSpPr>
          <p:cNvPr id="16" name="TextBox 15"/>
          <p:cNvSpPr txBox="1"/>
          <p:nvPr/>
        </p:nvSpPr>
        <p:spPr>
          <a:xfrm>
            <a:off x="8641080" y="2798063"/>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5.837秒</a:t>
            </a:r>
          </a:p>
        </p:txBody>
      </p:sp>
      <p:sp>
        <p:nvSpPr>
          <p:cNvPr id="17" name="Rectangle 16"/>
          <p:cNvSpPr/>
          <p:nvPr/>
        </p:nvSpPr>
        <p:spPr>
          <a:xfrm>
            <a:off x="758952" y="3236976"/>
            <a:ext cx="10698480"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319272"/>
            <a:ext cx="466344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183440"/>
                </a:solidFill>
                <a:latin typeface="Noto Sans CJK JP"/>
                <a:ea typeface="Noto Sans CJK JP"/>
              </a:rPr>
              <a:t>上記時間のGPU料金</a:t>
            </a:r>
          </a:p>
        </p:txBody>
      </p:sp>
      <p:sp>
        <p:nvSpPr>
          <p:cNvPr id="19" name="TextBox 18"/>
          <p:cNvSpPr txBox="1"/>
          <p:nvPr/>
        </p:nvSpPr>
        <p:spPr>
          <a:xfrm>
            <a:off x="5715000" y="3319272"/>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約3.43円</a:t>
            </a:r>
          </a:p>
        </p:txBody>
      </p:sp>
      <p:sp>
        <p:nvSpPr>
          <p:cNvPr id="20" name="TextBox 19"/>
          <p:cNvSpPr txBox="1"/>
          <p:nvPr/>
        </p:nvSpPr>
        <p:spPr>
          <a:xfrm>
            <a:off x="8641080" y="3319272"/>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約2.92円</a:t>
            </a:r>
          </a:p>
        </p:txBody>
      </p:sp>
      <p:sp>
        <p:nvSpPr>
          <p:cNvPr id="21" name="Rectangle 20"/>
          <p:cNvSpPr/>
          <p:nvPr/>
        </p:nvSpPr>
        <p:spPr>
          <a:xfrm>
            <a:off x="758952" y="3758183"/>
            <a:ext cx="10698480" cy="521207"/>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840479"/>
            <a:ext cx="466344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183440"/>
                </a:solidFill>
                <a:latin typeface="Noto Sans CJK JP"/>
                <a:ea typeface="Noto Sans CJK JP"/>
              </a:rPr>
              <a:t>Realtime API・usageから算出</a:t>
            </a:r>
          </a:p>
        </p:txBody>
      </p:sp>
      <p:sp>
        <p:nvSpPr>
          <p:cNvPr id="23" name="TextBox 22"/>
          <p:cNvSpPr txBox="1"/>
          <p:nvPr/>
        </p:nvSpPr>
        <p:spPr>
          <a:xfrm>
            <a:off x="5715000" y="3840479"/>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約1.60円</a:t>
            </a:r>
          </a:p>
        </p:txBody>
      </p:sp>
      <p:sp>
        <p:nvSpPr>
          <p:cNvPr id="24" name="TextBox 23"/>
          <p:cNvSpPr txBox="1"/>
          <p:nvPr/>
        </p:nvSpPr>
        <p:spPr>
          <a:xfrm>
            <a:off x="8641080" y="3840479"/>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約1.87円</a:t>
            </a:r>
          </a:p>
        </p:txBody>
      </p:sp>
      <p:sp>
        <p:nvSpPr>
          <p:cNvPr id="25" name="Rectangle 24"/>
          <p:cNvSpPr/>
          <p:nvPr/>
        </p:nvSpPr>
        <p:spPr>
          <a:xfrm>
            <a:off x="758952" y="4279392"/>
            <a:ext cx="10698480" cy="5212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361688"/>
            <a:ext cx="466344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小計／会話（ASR等は別）</a:t>
            </a:r>
          </a:p>
        </p:txBody>
      </p:sp>
      <p:sp>
        <p:nvSpPr>
          <p:cNvPr id="27" name="TextBox 26"/>
          <p:cNvSpPr txBox="1"/>
          <p:nvPr/>
        </p:nvSpPr>
        <p:spPr>
          <a:xfrm>
            <a:off x="5715000" y="4361688"/>
            <a:ext cx="274320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約5.04円</a:t>
            </a:r>
          </a:p>
        </p:txBody>
      </p:sp>
      <p:sp>
        <p:nvSpPr>
          <p:cNvPr id="28" name="TextBox 27"/>
          <p:cNvSpPr txBox="1"/>
          <p:nvPr/>
        </p:nvSpPr>
        <p:spPr>
          <a:xfrm>
            <a:off x="8641080" y="4361688"/>
            <a:ext cx="274320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約4.78円</a:t>
            </a:r>
          </a:p>
        </p:txBody>
      </p:sp>
      <p:sp>
        <p:nvSpPr>
          <p:cNvPr id="29" name="TextBox 28"/>
          <p:cNvSpPr txBox="1"/>
          <p:nvPr/>
        </p:nvSpPr>
        <p:spPr>
          <a:xfrm>
            <a:off x="795528" y="4937760"/>
            <a:ext cx="10561320" cy="393192"/>
          </a:xfrm>
          <a:prstGeom prst="rect">
            <a:avLst/>
          </a:prstGeom>
          <a:noFill/>
        </p:spPr>
        <p:txBody>
          <a:bodyPr wrap="square" lIns="0" rIns="0" tIns="0" bIns="0" anchor="t">
            <a:spAutoFit/>
          </a:bodyPr>
          <a:lstStyle/>
          <a:p>
            <a:pPr algn="l">
              <a:lnSpc>
                <a:spcPct val="114000"/>
              </a:lnSpc>
              <a:spcAft>
                <a:spcPts val="500"/>
              </a:spcAft>
            </a:pPr>
            <a:r>
              <a:rPr sz="2000" b="1" lang="ja-JP">
                <a:solidFill>
                  <a:srgbClr val="B56B13"/>
                </a:solidFill>
                <a:latin typeface="Noto Sans CJK JP"/>
                <a:ea typeface="Noto Sans CJK JP"/>
              </a:rPr>
              <a:t>実運用：1時間100リクエストなら、GPU代だけで約18円／回 ＋ API料金等。</a:t>
            </a:r>
          </a:p>
        </p:txBody>
      </p:sp>
      <p:sp>
        <p:nvSpPr>
          <p:cNvPr id="30" name="TextBox 29"/>
          <p:cNvSpPr txBox="1"/>
          <p:nvPr/>
        </p:nvSpPr>
        <p:spPr>
          <a:xfrm>
            <a:off x="795528" y="5596128"/>
            <a:ext cx="10561320" cy="548640"/>
          </a:xfrm>
          <a:prstGeom prst="rect">
            <a:avLst/>
          </a:prstGeom>
          <a:noFill/>
        </p:spPr>
        <p:txBody>
          <a:bodyPr wrap="square" lIns="0" rIns="0" tIns="0" bIns="0" anchor="t">
            <a:spAutoFit/>
          </a:bodyPr>
          <a:lstStyle/>
          <a:p>
            <a:pPr algn="l">
              <a:lnSpc>
                <a:spcPct val="114000"/>
              </a:lnSpc>
              <a:spcAft>
                <a:spcPts val="500"/>
              </a:spcAft>
            </a:pPr>
            <a:r>
              <a:rPr sz="1500" b="0" lang="ja-JP">
                <a:solidFill>
                  <a:srgbClr val="5B707B"/>
                </a:solidFill>
                <a:latin typeface="Noto Sans CJK JP"/>
                <a:ea typeface="Noto Sans CJK JP"/>
              </a:rPr>
              <a:t>検証一式のGPU＋ストレージ概算：RTX 4090 約500円 ／ B300 約925円（API料金別）。</a:t>
            </a:r>
          </a:p>
          <a:p>
            <a:pPr algn="l">
              <a:lnSpc>
                <a:spcPct val="114000"/>
              </a:lnSpc>
              <a:spcAft>
                <a:spcPts val="500"/>
              </a:spcAft>
            </a:pPr>
            <a:r>
              <a:rPr sz="1500" b="0" lang="ja-JP">
                <a:solidFill>
                  <a:srgbClr val="5B707B"/>
                </a:solidFill>
                <a:latin typeface="Noto Sans CJK JP"/>
                <a:ea typeface="Noto Sans CJK JP"/>
              </a:rPr>
              <a:t>両Podとも終了・削除を確認済み。料金は確定請求額ではない。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研究室PCでは、小型モデルから常駐実行を検証する</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Windows / RTX 5070 12GB / RAM32GB。セットアップ用スクリプトと専用仮想環境を用意</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docs/windows_lab.md / configs/lab-windows.json / [R1][R3] VRAM記録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16</a:t>
            </a:r>
          </a:p>
        </p:txBody>
      </p:sp>
      <p:sp>
        <p:nvSpPr>
          <p:cNvPr id="9" name="Rounded Rectangle 8"/>
          <p:cNvSpPr/>
          <p:nvPr/>
        </p:nvSpPr>
        <p:spPr>
          <a:xfrm>
            <a:off x="740664" y="2221992"/>
            <a:ext cx="5212080" cy="1517904"/>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 y="2221992"/>
            <a:ext cx="41148" cy="1517904"/>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2386584"/>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まず試す：MotionLCM / MMM / MoMask</a:t>
            </a:r>
          </a:p>
        </p:txBody>
      </p:sp>
      <p:sp>
        <p:nvSpPr>
          <p:cNvPr id="12" name="TextBox 11"/>
          <p:cNvSpPr txBox="1"/>
          <p:nvPr/>
        </p:nvSpPr>
        <p:spPr>
          <a:xfrm>
            <a:off x="923544" y="2935224"/>
            <a:ext cx="4846320" cy="73151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4090ではTorch最大割り当て約0.9〜1.5GiB。</a:t>
            </a:r>
          </a:p>
          <a:p>
            <a:pPr algn="l">
              <a:lnSpc>
                <a:spcPct val="114000"/>
              </a:lnSpc>
              <a:spcAft>
                <a:spcPts val="500"/>
              </a:spcAft>
            </a:pPr>
            <a:r>
              <a:rPr sz="1700" b="0" lang="ja-JP">
                <a:solidFill>
                  <a:srgbClr val="183440"/>
                </a:solidFill>
                <a:latin typeface="Noto Sans CJK JP"/>
                <a:ea typeface="Noto Sans CJK JP"/>
              </a:rPr>
              <a:t>Windows実機でGPU演算と生成時間を確認。</a:t>
            </a:r>
          </a:p>
        </p:txBody>
      </p:sp>
      <p:sp>
        <p:nvSpPr>
          <p:cNvPr id="13" name="Rounded Rectangle 12"/>
          <p:cNvSpPr/>
          <p:nvPr/>
        </p:nvSpPr>
        <p:spPr>
          <a:xfrm>
            <a:off x="6227064" y="2221992"/>
            <a:ext cx="5212080" cy="1517904"/>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27064" y="2221992"/>
            <a:ext cx="41148" cy="1517904"/>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2386584"/>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Kimodo：CPU側へテキスト処理を分離</a:t>
            </a:r>
          </a:p>
        </p:txBody>
      </p:sp>
      <p:sp>
        <p:nvSpPr>
          <p:cNvPr id="16" name="TextBox 15"/>
          <p:cNvSpPr txBox="1"/>
          <p:nvPr/>
        </p:nvSpPr>
        <p:spPr>
          <a:xfrm>
            <a:off x="6409944" y="2935224"/>
            <a:ext cx="4846320" cy="73151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今回の全GPU常駐は約15.3GiB。</a:t>
            </a:r>
          </a:p>
          <a:p>
            <a:pPr algn="l">
              <a:lnSpc>
                <a:spcPct val="114000"/>
              </a:lnSpc>
              <a:spcAft>
                <a:spcPts val="500"/>
              </a:spcAft>
            </a:pPr>
            <a:r>
              <a:rPr sz="1700" b="0" lang="ja-JP">
                <a:solidFill>
                  <a:srgbClr val="183440"/>
                </a:solidFill>
                <a:latin typeface="Noto Sans CJK JP"/>
                <a:ea typeface="Noto Sans CJK JP"/>
              </a:rPr>
              <a:t>12GBでは同じ構成を使えない。</a:t>
            </a:r>
          </a:p>
        </p:txBody>
      </p:sp>
      <p:sp>
        <p:nvSpPr>
          <p:cNvPr id="17" name="TextBox 16"/>
          <p:cNvSpPr txBox="1"/>
          <p:nvPr/>
        </p:nvSpPr>
        <p:spPr>
          <a:xfrm>
            <a:off x="749808" y="4343400"/>
            <a:ext cx="457200" cy="594360"/>
          </a:xfrm>
          <a:prstGeom prst="rect">
            <a:avLst/>
          </a:prstGeom>
          <a:noFill/>
        </p:spPr>
        <p:txBody>
          <a:bodyPr wrap="square" lIns="0" rIns="0" tIns="0" bIns="0" anchor="t">
            <a:spAutoFit/>
          </a:bodyPr>
          <a:lstStyle/>
          <a:p>
            <a:pPr algn="l">
              <a:lnSpc>
                <a:spcPct val="114000"/>
              </a:lnSpc>
              <a:spcAft>
                <a:spcPts val="500"/>
              </a:spcAft>
            </a:pPr>
            <a:r>
              <a:rPr sz="3200" b="1" lang="ja-JP">
                <a:solidFill>
                  <a:srgbClr val="007F80"/>
                </a:solidFill>
                <a:latin typeface="Noto Sans CJK JP"/>
                <a:ea typeface="Noto Sans CJK JP"/>
              </a:rPr>
              <a:t>1</a:t>
            </a:r>
          </a:p>
        </p:txBody>
      </p:sp>
      <p:sp>
        <p:nvSpPr>
          <p:cNvPr id="18" name="TextBox 17"/>
          <p:cNvSpPr txBox="1"/>
          <p:nvPr/>
        </p:nvSpPr>
        <p:spPr>
          <a:xfrm>
            <a:off x="749808" y="5056632"/>
            <a:ext cx="2487168" cy="411480"/>
          </a:xfrm>
          <a:prstGeom prst="rect">
            <a:avLst/>
          </a:prstGeom>
          <a:noFill/>
        </p:spPr>
        <p:txBody>
          <a:bodyPr wrap="square" lIns="0" rIns="0" tIns="0" bIns="0" anchor="t">
            <a:spAutoFit/>
          </a:bodyPr>
          <a:lstStyle/>
          <a:p>
            <a:pPr algn="l">
              <a:lnSpc>
                <a:spcPct val="114000"/>
              </a:lnSpc>
              <a:spcAft>
                <a:spcPts val="500"/>
              </a:spcAft>
            </a:pPr>
            <a:r>
              <a:rPr sz="2000" b="1" lang="ja-JP">
                <a:solidFill>
                  <a:srgbClr val="183440"/>
                </a:solidFill>
                <a:latin typeface="Noto Sans CJK JP"/>
                <a:ea typeface="Noto Sans CJK JP"/>
              </a:rPr>
              <a:t>環境構築</a:t>
            </a:r>
          </a:p>
        </p:txBody>
      </p:sp>
      <p:sp>
        <p:nvSpPr>
          <p:cNvPr id="19" name="TextBox 18"/>
          <p:cNvSpPr txBox="1"/>
          <p:nvPr/>
        </p:nvSpPr>
        <p:spPr>
          <a:xfrm>
            <a:off x="749808" y="5623560"/>
            <a:ext cx="2487168" cy="420624"/>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既存スクリプト＋専用venv</a:t>
            </a:r>
          </a:p>
        </p:txBody>
      </p:sp>
      <p:sp>
        <p:nvSpPr>
          <p:cNvPr id="20" name="TextBox 19"/>
          <p:cNvSpPr txBox="1"/>
          <p:nvPr/>
        </p:nvSpPr>
        <p:spPr>
          <a:xfrm>
            <a:off x="3520439" y="4343400"/>
            <a:ext cx="457200" cy="594360"/>
          </a:xfrm>
          <a:prstGeom prst="rect">
            <a:avLst/>
          </a:prstGeom>
          <a:noFill/>
        </p:spPr>
        <p:txBody>
          <a:bodyPr wrap="square" lIns="0" rIns="0" tIns="0" bIns="0" anchor="t">
            <a:spAutoFit/>
          </a:bodyPr>
          <a:lstStyle/>
          <a:p>
            <a:pPr algn="l">
              <a:lnSpc>
                <a:spcPct val="114000"/>
              </a:lnSpc>
              <a:spcAft>
                <a:spcPts val="500"/>
              </a:spcAft>
            </a:pPr>
            <a:r>
              <a:rPr sz="3200" b="1" lang="ja-JP">
                <a:solidFill>
                  <a:srgbClr val="007F80"/>
                </a:solidFill>
                <a:latin typeface="Noto Sans CJK JP"/>
                <a:ea typeface="Noto Sans CJK JP"/>
              </a:rPr>
              <a:t>2</a:t>
            </a:r>
          </a:p>
        </p:txBody>
      </p:sp>
      <p:sp>
        <p:nvSpPr>
          <p:cNvPr id="21" name="TextBox 20"/>
          <p:cNvSpPr txBox="1"/>
          <p:nvPr/>
        </p:nvSpPr>
        <p:spPr>
          <a:xfrm>
            <a:off x="3520439" y="5056632"/>
            <a:ext cx="2487168" cy="411480"/>
          </a:xfrm>
          <a:prstGeom prst="rect">
            <a:avLst/>
          </a:prstGeom>
          <a:noFill/>
        </p:spPr>
        <p:txBody>
          <a:bodyPr wrap="square" lIns="0" rIns="0" tIns="0" bIns="0" anchor="t">
            <a:spAutoFit/>
          </a:bodyPr>
          <a:lstStyle/>
          <a:p>
            <a:pPr algn="l">
              <a:lnSpc>
                <a:spcPct val="114000"/>
              </a:lnSpc>
              <a:spcAft>
                <a:spcPts val="500"/>
              </a:spcAft>
            </a:pPr>
            <a:r>
              <a:rPr sz="2000" b="1" lang="ja-JP">
                <a:solidFill>
                  <a:srgbClr val="183440"/>
                </a:solidFill>
                <a:latin typeface="Noto Sans CJK JP"/>
                <a:ea typeface="Noto Sans CJK JP"/>
              </a:rPr>
              <a:t>常駐化</a:t>
            </a:r>
          </a:p>
        </p:txBody>
      </p:sp>
      <p:sp>
        <p:nvSpPr>
          <p:cNvPr id="22" name="TextBox 21"/>
          <p:cNvSpPr txBox="1"/>
          <p:nvPr/>
        </p:nvSpPr>
        <p:spPr>
          <a:xfrm>
            <a:off x="3520439" y="5623560"/>
            <a:ext cx="2487168" cy="420624"/>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重み・言語モデルを事前読込</a:t>
            </a:r>
          </a:p>
        </p:txBody>
      </p:sp>
      <p:sp>
        <p:nvSpPr>
          <p:cNvPr id="23" name="TextBox 22"/>
          <p:cNvSpPr txBox="1"/>
          <p:nvPr/>
        </p:nvSpPr>
        <p:spPr>
          <a:xfrm>
            <a:off x="6291072" y="4343400"/>
            <a:ext cx="457200" cy="594360"/>
          </a:xfrm>
          <a:prstGeom prst="rect">
            <a:avLst/>
          </a:prstGeom>
          <a:noFill/>
        </p:spPr>
        <p:txBody>
          <a:bodyPr wrap="square" lIns="0" rIns="0" tIns="0" bIns="0" anchor="t">
            <a:spAutoFit/>
          </a:bodyPr>
          <a:lstStyle/>
          <a:p>
            <a:pPr algn="l">
              <a:lnSpc>
                <a:spcPct val="114000"/>
              </a:lnSpc>
              <a:spcAft>
                <a:spcPts val="500"/>
              </a:spcAft>
            </a:pPr>
            <a:r>
              <a:rPr sz="3200" b="1" lang="ja-JP">
                <a:solidFill>
                  <a:srgbClr val="007F80"/>
                </a:solidFill>
                <a:latin typeface="Noto Sans CJK JP"/>
                <a:ea typeface="Noto Sans CJK JP"/>
              </a:rPr>
              <a:t>3</a:t>
            </a:r>
          </a:p>
        </p:txBody>
      </p:sp>
      <p:sp>
        <p:nvSpPr>
          <p:cNvPr id="24" name="TextBox 23"/>
          <p:cNvSpPr txBox="1"/>
          <p:nvPr/>
        </p:nvSpPr>
        <p:spPr>
          <a:xfrm>
            <a:off x="6291072" y="5056632"/>
            <a:ext cx="2487168" cy="411480"/>
          </a:xfrm>
          <a:prstGeom prst="rect">
            <a:avLst/>
          </a:prstGeom>
          <a:noFill/>
        </p:spPr>
        <p:txBody>
          <a:bodyPr wrap="square" lIns="0" rIns="0" tIns="0" bIns="0" anchor="t">
            <a:spAutoFit/>
          </a:bodyPr>
          <a:lstStyle/>
          <a:p>
            <a:pPr algn="l">
              <a:lnSpc>
                <a:spcPct val="114000"/>
              </a:lnSpc>
              <a:spcAft>
                <a:spcPts val="500"/>
              </a:spcAft>
            </a:pPr>
            <a:r>
              <a:rPr sz="2000" b="1" lang="ja-JP">
                <a:solidFill>
                  <a:srgbClr val="183440"/>
                </a:solidFill>
                <a:latin typeface="Noto Sans CJK JP"/>
                <a:ea typeface="Noto Sans CJK JP"/>
              </a:rPr>
              <a:t>同じ入力で計測</a:t>
            </a:r>
          </a:p>
        </p:txBody>
      </p:sp>
      <p:sp>
        <p:nvSpPr>
          <p:cNvPr id="25" name="TextBox 24"/>
          <p:cNvSpPr txBox="1"/>
          <p:nvPr/>
        </p:nvSpPr>
        <p:spPr>
          <a:xfrm>
            <a:off x="6291072" y="5623560"/>
            <a:ext cx="2487168" cy="420624"/>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音声初受信・骨格受信を記録</a:t>
            </a:r>
          </a:p>
        </p:txBody>
      </p:sp>
      <p:sp>
        <p:nvSpPr>
          <p:cNvPr id="26" name="TextBox 25"/>
          <p:cNvSpPr txBox="1"/>
          <p:nvPr/>
        </p:nvSpPr>
        <p:spPr>
          <a:xfrm>
            <a:off x="9061704" y="4343400"/>
            <a:ext cx="457200" cy="594360"/>
          </a:xfrm>
          <a:prstGeom prst="rect">
            <a:avLst/>
          </a:prstGeom>
          <a:noFill/>
        </p:spPr>
        <p:txBody>
          <a:bodyPr wrap="square" lIns="0" rIns="0" tIns="0" bIns="0" anchor="t">
            <a:spAutoFit/>
          </a:bodyPr>
          <a:lstStyle/>
          <a:p>
            <a:pPr algn="l">
              <a:lnSpc>
                <a:spcPct val="114000"/>
              </a:lnSpc>
              <a:spcAft>
                <a:spcPts val="500"/>
              </a:spcAft>
            </a:pPr>
            <a:r>
              <a:rPr sz="3200" b="1" lang="ja-JP">
                <a:solidFill>
                  <a:srgbClr val="007F80"/>
                </a:solidFill>
                <a:latin typeface="Noto Sans CJK JP"/>
                <a:ea typeface="Noto Sans CJK JP"/>
              </a:rPr>
              <a:t>4</a:t>
            </a:r>
          </a:p>
        </p:txBody>
      </p:sp>
      <p:sp>
        <p:nvSpPr>
          <p:cNvPr id="27" name="TextBox 26"/>
          <p:cNvSpPr txBox="1"/>
          <p:nvPr/>
        </p:nvSpPr>
        <p:spPr>
          <a:xfrm>
            <a:off x="9061704" y="5056632"/>
            <a:ext cx="2487168" cy="411480"/>
          </a:xfrm>
          <a:prstGeom prst="rect">
            <a:avLst/>
          </a:prstGeom>
          <a:noFill/>
        </p:spPr>
        <p:txBody>
          <a:bodyPr wrap="square" lIns="0" rIns="0" tIns="0" bIns="0" anchor="t">
            <a:spAutoFit/>
          </a:bodyPr>
          <a:lstStyle/>
          <a:p>
            <a:pPr algn="l">
              <a:lnSpc>
                <a:spcPct val="114000"/>
              </a:lnSpc>
              <a:spcAft>
                <a:spcPts val="500"/>
              </a:spcAft>
            </a:pPr>
            <a:r>
              <a:rPr sz="2000" b="1" lang="ja-JP">
                <a:solidFill>
                  <a:srgbClr val="183440"/>
                </a:solidFill>
                <a:latin typeface="Noto Sans CJK JP"/>
                <a:ea typeface="Noto Sans CJK JP"/>
              </a:rPr>
              <a:t>品質を確認</a:t>
            </a:r>
          </a:p>
        </p:txBody>
      </p:sp>
      <p:sp>
        <p:nvSpPr>
          <p:cNvPr id="28" name="TextBox 27"/>
          <p:cNvSpPr txBox="1"/>
          <p:nvPr/>
        </p:nvSpPr>
        <p:spPr>
          <a:xfrm>
            <a:off x="9061704" y="5623560"/>
            <a:ext cx="2487168" cy="420624"/>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意味適合・自然さ・つなぎ目</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論文の順位との比較は限定的。品質を含む優劣は未確定</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ユーザー提示のMoSCo比較表と、今回の実験では入力・生成長・計測範囲が異なる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[U1] ユーザー提示のMoSCo紹介画像（Table 1）  [R1] MotionLCM・MoMask実測</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17</a:t>
            </a:r>
          </a:p>
        </p:txBody>
      </p:sp>
      <p:sp>
        <p:nvSpPr>
          <p:cNvPr id="9" name="Rectangle 8"/>
          <p:cNvSpPr/>
          <p:nvPr/>
        </p:nvSpPr>
        <p:spPr>
          <a:xfrm>
            <a:off x="777240" y="2267712"/>
            <a:ext cx="10698480" cy="603504"/>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350008"/>
            <a:ext cx="2697479" cy="493776"/>
          </a:xfrm>
          <a:prstGeom prst="rect">
            <a:avLst/>
          </a:prstGeom>
          <a:noFill/>
        </p:spPr>
        <p:txBody>
          <a:bodyPr wrap="square" lIns="0" rIns="0" tIns="0" bIns="0" anchor="t">
            <a:spAutoFit/>
          </a:bodyPr>
          <a:lstStyle/>
          <a:p>
            <a:pPr algn="l">
              <a:lnSpc>
                <a:spcPct val="114000"/>
              </a:lnSpc>
              <a:spcAft>
                <a:spcPts val="500"/>
              </a:spcAft>
            </a:pPr>
            <a:r>
              <a:rPr sz="1800" b="1" lang="ja-JP">
                <a:solidFill>
                  <a:srgbClr val="FFFFFF"/>
                </a:solidFill>
                <a:latin typeface="Noto Sans CJK JP"/>
                <a:ea typeface="Noto Sans CJK JP"/>
              </a:rPr>
              <a:t>共通して登場するモデル</a:t>
            </a:r>
          </a:p>
        </p:txBody>
      </p:sp>
      <p:sp>
        <p:nvSpPr>
          <p:cNvPr id="11" name="TextBox 10"/>
          <p:cNvSpPr txBox="1"/>
          <p:nvPr/>
        </p:nvSpPr>
        <p:spPr>
          <a:xfrm>
            <a:off x="3767328" y="2350008"/>
            <a:ext cx="3611880" cy="493776"/>
          </a:xfrm>
          <a:prstGeom prst="rect">
            <a:avLst/>
          </a:prstGeom>
          <a:noFill/>
        </p:spPr>
        <p:txBody>
          <a:bodyPr wrap="square" lIns="0" rIns="0" tIns="0" bIns="0" anchor="t">
            <a:spAutoFit/>
          </a:bodyPr>
          <a:lstStyle/>
          <a:p>
            <a:pPr algn="l">
              <a:lnSpc>
                <a:spcPct val="114000"/>
              </a:lnSpc>
              <a:spcAft>
                <a:spcPts val="500"/>
              </a:spcAft>
            </a:pPr>
            <a:r>
              <a:rPr sz="1800" b="1" lang="ja-JP">
                <a:solidFill>
                  <a:srgbClr val="FFFFFF"/>
                </a:solidFill>
                <a:latin typeface="Noto Sans CJK JP"/>
                <a:ea typeface="Noto Sans CJK JP"/>
              </a:rPr>
              <a:t>提示資料のAITS</a:t>
            </a:r>
          </a:p>
        </p:txBody>
      </p:sp>
      <p:sp>
        <p:nvSpPr>
          <p:cNvPr id="12" name="TextBox 11"/>
          <p:cNvSpPr txBox="1"/>
          <p:nvPr/>
        </p:nvSpPr>
        <p:spPr>
          <a:xfrm>
            <a:off x="7562088" y="2350008"/>
            <a:ext cx="3840480" cy="493776"/>
          </a:xfrm>
          <a:prstGeom prst="rect">
            <a:avLst/>
          </a:prstGeom>
          <a:noFill/>
        </p:spPr>
        <p:txBody>
          <a:bodyPr wrap="square" lIns="0" rIns="0" tIns="0" bIns="0" anchor="t">
            <a:spAutoFit/>
          </a:bodyPr>
          <a:lstStyle/>
          <a:p>
            <a:pPr algn="l">
              <a:lnSpc>
                <a:spcPct val="114000"/>
              </a:lnSpc>
              <a:spcAft>
                <a:spcPts val="500"/>
              </a:spcAft>
            </a:pPr>
            <a:r>
              <a:rPr sz="1800" b="1" lang="ja-JP">
                <a:solidFill>
                  <a:srgbClr val="FFFFFF"/>
                </a:solidFill>
                <a:latin typeface="Noto Sans CJK JP"/>
                <a:ea typeface="Noto Sans CJK JP"/>
              </a:rPr>
              <a:t>今回・初回を除く4区間中央値</a:t>
            </a:r>
          </a:p>
        </p:txBody>
      </p:sp>
      <p:sp>
        <p:nvSpPr>
          <p:cNvPr id="13" name="Rectangle 12"/>
          <p:cNvSpPr/>
          <p:nvPr/>
        </p:nvSpPr>
        <p:spPr>
          <a:xfrm>
            <a:off x="777240" y="2871216"/>
            <a:ext cx="10698480" cy="60350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953512"/>
            <a:ext cx="2697479"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MotionLCM</a:t>
            </a:r>
          </a:p>
        </p:txBody>
      </p:sp>
      <p:sp>
        <p:nvSpPr>
          <p:cNvPr id="15" name="TextBox 14"/>
          <p:cNvSpPr txBox="1"/>
          <p:nvPr/>
        </p:nvSpPr>
        <p:spPr>
          <a:xfrm>
            <a:off x="3767328" y="2953512"/>
            <a:ext cx="3611880" cy="49377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0.030秒</a:t>
            </a:r>
          </a:p>
        </p:txBody>
      </p:sp>
      <p:sp>
        <p:nvSpPr>
          <p:cNvPr id="16" name="TextBox 15"/>
          <p:cNvSpPr txBox="1"/>
          <p:nvPr/>
        </p:nvSpPr>
        <p:spPr>
          <a:xfrm>
            <a:off x="7562088" y="2953512"/>
            <a:ext cx="3840480" cy="49377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0.039秒</a:t>
            </a:r>
          </a:p>
        </p:txBody>
      </p:sp>
      <p:sp>
        <p:nvSpPr>
          <p:cNvPr id="17" name="Rectangle 16"/>
          <p:cNvSpPr/>
          <p:nvPr/>
        </p:nvSpPr>
        <p:spPr>
          <a:xfrm>
            <a:off x="777240" y="3474720"/>
            <a:ext cx="1069848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557015"/>
            <a:ext cx="2697479"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MoMask</a:t>
            </a:r>
          </a:p>
        </p:txBody>
      </p:sp>
      <p:sp>
        <p:nvSpPr>
          <p:cNvPr id="19" name="TextBox 18"/>
          <p:cNvSpPr txBox="1"/>
          <p:nvPr/>
        </p:nvSpPr>
        <p:spPr>
          <a:xfrm>
            <a:off x="3767328" y="3557015"/>
            <a:ext cx="3611880" cy="49377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0.120秒</a:t>
            </a:r>
          </a:p>
        </p:txBody>
      </p:sp>
      <p:sp>
        <p:nvSpPr>
          <p:cNvPr id="20" name="TextBox 19"/>
          <p:cNvSpPr txBox="1"/>
          <p:nvPr/>
        </p:nvSpPr>
        <p:spPr>
          <a:xfrm>
            <a:off x="7562088" y="3557015"/>
            <a:ext cx="3840480" cy="49377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0.202秒</a:t>
            </a:r>
          </a:p>
        </p:txBody>
      </p:sp>
      <p:sp>
        <p:nvSpPr>
          <p:cNvPr id="21" name="TextBox 20"/>
          <p:cNvSpPr txBox="1"/>
          <p:nvPr/>
        </p:nvSpPr>
        <p:spPr>
          <a:xfrm>
            <a:off x="822960" y="4361688"/>
            <a:ext cx="10515600" cy="438912"/>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この2モデルの速度の順序は一致。ただし、論文の数値を再現したとは言えない。</a:t>
            </a:r>
          </a:p>
        </p:txBody>
      </p:sp>
      <p:sp>
        <p:nvSpPr>
          <p:cNvPr id="22" name="TextBox 21"/>
          <p:cNvSpPr txBox="1"/>
          <p:nvPr/>
        </p:nvSpPr>
        <p:spPr>
          <a:xfrm>
            <a:off x="822960" y="5102352"/>
            <a:ext cx="10515600" cy="786384"/>
          </a:xfrm>
          <a:prstGeom prst="rect">
            <a:avLst/>
          </a:prstGeom>
          <a:noFill/>
        </p:spPr>
        <p:txBody>
          <a:bodyPr wrap="square" lIns="0" rIns="0" tIns="0" bIns="0" anchor="t">
            <a:spAutoFit/>
          </a:bodyPr>
          <a:lstStyle/>
          <a:p>
            <a:pPr algn="l">
              <a:lnSpc>
                <a:spcPct val="114000"/>
              </a:lnSpc>
              <a:spcAft>
                <a:spcPts val="500"/>
              </a:spcAft>
            </a:pPr>
            <a:r>
              <a:rPr sz="2000" b="0" lang="ja-JP">
                <a:solidFill>
                  <a:srgbClr val="5B707B"/>
                </a:solidFill>
                <a:latin typeface="Noto Sans CJK JP"/>
                <a:ea typeface="Noto Sans CJK JP"/>
              </a:rPr>
              <a:t>未評価：日本語の意味適合／英語学習の発話に合う動作／動作自然さ／FID／</a:t>
            </a:r>
          </a:p>
          <a:p>
            <a:pPr algn="l">
              <a:lnSpc>
                <a:spcPct val="114000"/>
              </a:lnSpc>
              <a:spcAft>
                <a:spcPts val="500"/>
              </a:spcAft>
            </a:pPr>
            <a:r>
              <a:rPr sz="2000" b="0" lang="ja-JP">
                <a:solidFill>
                  <a:srgbClr val="5B707B"/>
                </a:solidFill>
                <a:latin typeface="Noto Sans CJK JP"/>
                <a:ea typeface="Noto Sans CJK JP"/>
              </a:rPr>
              <a:t>20ステップの品質低下／連続会話でのp50・p95。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次は常駐・短区間化と、品質評価を組み合わせる</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GPUの大型化だけでは、今回の会話経路の追加待ちを1秒以内にできなかった</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判断根拠：[R1–R4] / 右の施策は提案であり、達成時間の予測ではない</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18</a:t>
            </a:r>
          </a:p>
        </p:txBody>
      </p:sp>
      <p:sp>
        <p:nvSpPr>
          <p:cNvPr id="9" name="Rounded Rectangle 8"/>
          <p:cNvSpPr/>
          <p:nvPr/>
        </p:nvSpPr>
        <p:spPr>
          <a:xfrm>
            <a:off x="731520" y="2212848"/>
            <a:ext cx="5221224" cy="321868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212848"/>
            <a:ext cx="41148" cy="321868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377440"/>
            <a:ext cx="4873752"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確認できたこと</a:t>
            </a:r>
          </a:p>
        </p:txBody>
      </p:sp>
      <p:sp>
        <p:nvSpPr>
          <p:cNvPr id="12" name="TextBox 11"/>
          <p:cNvSpPr txBox="1"/>
          <p:nvPr/>
        </p:nvSpPr>
        <p:spPr>
          <a:xfrm>
            <a:off x="914400" y="2926080"/>
            <a:ext cx="4855464" cy="2432304"/>
          </a:xfrm>
          <a:prstGeom prst="rect">
            <a:avLst/>
          </a:prstGeom>
          <a:noFill/>
        </p:spPr>
        <p:txBody>
          <a:bodyPr wrap="square" lIns="0" rIns="0" tIns="0" bIns="0" anchor="t">
            <a:spAutoFit/>
          </a:bodyPr>
          <a:lstStyle/>
          <a:p>
            <a:pPr algn="l">
              <a:lnSpc>
                <a:spcPct val="114000"/>
              </a:lnSpc>
              <a:spcAft>
                <a:spcPts val="500"/>
              </a:spcAft>
            </a:pPr>
            <a:r>
              <a:rPr sz="2000" b="0" lang="ja-JP">
                <a:solidFill>
                  <a:srgbClr val="183440"/>
                </a:solidFill>
                <a:latin typeface="Noto Sans CJK JP"/>
                <a:ea typeface="Noto Sans CJK JP"/>
              </a:rPr>
              <a:t>7モデルの新規生成と動画化。</a:t>
            </a:r>
          </a:p>
          <a:p>
            <a:pPr algn="l">
              <a:lnSpc>
                <a:spcPct val="114000"/>
              </a:lnSpc>
              <a:spcAft>
                <a:spcPts val="500"/>
              </a:spcAft>
            </a:pPr>
            <a:r>
              <a:rPr sz="2000" b="0" lang="ja-JP">
                <a:solidFill>
                  <a:srgbClr val="183440"/>
                </a:solidFill>
                <a:latin typeface="Noto Sans CJK JP"/>
                <a:ea typeface="Noto Sans CJK JP"/>
              </a:rPr>
              <a:t>文単位の発話・動作同期と連結。</a:t>
            </a:r>
          </a:p>
          <a:p>
            <a:pPr algn="l">
              <a:lnSpc>
                <a:spcPct val="114000"/>
              </a:lnSpc>
              <a:spcAft>
                <a:spcPts val="500"/>
              </a:spcAft>
            </a:pPr>
            <a:r>
              <a:rPr sz="2000" b="0" lang="ja-JP">
                <a:solidFill>
                  <a:srgbClr val="183440"/>
                </a:solidFill>
                <a:latin typeface="Noto Sans CJK JP"/>
                <a:ea typeface="Noto Sans CJK JP"/>
              </a:rPr>
              <a:t>B300の生成単体：最短中央値0.435秒。</a:t>
            </a:r>
          </a:p>
          <a:p>
            <a:pPr algn="l">
              <a:lnSpc>
                <a:spcPct val="114000"/>
              </a:lnSpc>
              <a:spcAft>
                <a:spcPts val="500"/>
              </a:spcAft>
            </a:pPr>
            <a:r>
              <a:rPr sz="2000" b="0" lang="ja-JP">
                <a:solidFill>
                  <a:srgbClr val="183440"/>
                </a:solidFill>
                <a:latin typeface="Noto Sans CJK JP"/>
                <a:ea typeface="Noto Sans CJK JP"/>
              </a:rPr>
              <a:t>会話の追加待ち：高速設定で3.252秒。</a:t>
            </a:r>
          </a:p>
        </p:txBody>
      </p:sp>
      <p:sp>
        <p:nvSpPr>
          <p:cNvPr id="13" name="Rounded Rectangle 12"/>
          <p:cNvSpPr/>
          <p:nvPr/>
        </p:nvSpPr>
        <p:spPr>
          <a:xfrm>
            <a:off x="6208776" y="2212848"/>
            <a:ext cx="5221224" cy="321868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2212848"/>
            <a:ext cx="41148" cy="321868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1656" y="2377440"/>
            <a:ext cx="4873752"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次の検証</a:t>
            </a:r>
          </a:p>
        </p:txBody>
      </p:sp>
      <p:sp>
        <p:nvSpPr>
          <p:cNvPr id="16" name="TextBox 15"/>
          <p:cNvSpPr txBox="1"/>
          <p:nvPr/>
        </p:nvSpPr>
        <p:spPr>
          <a:xfrm>
            <a:off x="6391656" y="2926080"/>
            <a:ext cx="4855464" cy="2432304"/>
          </a:xfrm>
          <a:prstGeom prst="rect">
            <a:avLst/>
          </a:prstGeom>
          <a:noFill/>
        </p:spPr>
        <p:txBody>
          <a:bodyPr wrap="square" lIns="0" rIns="0" tIns="0" bIns="0" anchor="t">
            <a:spAutoFit/>
          </a:bodyPr>
          <a:lstStyle/>
          <a:p>
            <a:pPr algn="l">
              <a:lnSpc>
                <a:spcPct val="114000"/>
              </a:lnSpc>
              <a:spcAft>
                <a:spcPts val="500"/>
              </a:spcAft>
            </a:pPr>
            <a:r>
              <a:rPr sz="2000" b="0" lang="ja-JP">
                <a:solidFill>
                  <a:srgbClr val="183440"/>
                </a:solidFill>
                <a:latin typeface="Noto Sans CJK JP"/>
                <a:ea typeface="Noto Sans CJK JP"/>
              </a:rPr>
              <a:t>① 全モデルを事前読込して比較</a:t>
            </a:r>
          </a:p>
          <a:p>
            <a:pPr algn="l">
              <a:lnSpc>
                <a:spcPct val="114000"/>
              </a:lnSpc>
              <a:spcAft>
                <a:spcPts val="500"/>
              </a:spcAft>
            </a:pPr>
            <a:r>
              <a:rPr sz="2000" b="0" lang="ja-JP">
                <a:solidFill>
                  <a:srgbClr val="183440"/>
                </a:solidFill>
                <a:latin typeface="Noto Sans CJK JP"/>
                <a:ea typeface="Noto Sans CJK JP"/>
              </a:rPr>
              <a:t>② 全文待ちを短い意味区間へ変更</a:t>
            </a:r>
          </a:p>
          <a:p>
            <a:pPr algn="l">
              <a:lnSpc>
                <a:spcPct val="114000"/>
              </a:lnSpc>
              <a:spcAft>
                <a:spcPts val="500"/>
              </a:spcAft>
            </a:pPr>
            <a:r>
              <a:rPr sz="2000" b="0" lang="ja-JP">
                <a:solidFill>
                  <a:srgbClr val="183440"/>
                </a:solidFill>
                <a:latin typeface="Noto Sans CJK JP"/>
                <a:ea typeface="Noto Sans CJK JP"/>
              </a:rPr>
              <a:t>③ 骨格を直接返し、保存処理を分離</a:t>
            </a:r>
          </a:p>
          <a:p>
            <a:pPr algn="l">
              <a:lnSpc>
                <a:spcPct val="114000"/>
              </a:lnSpc>
              <a:spcAft>
                <a:spcPts val="500"/>
              </a:spcAft>
            </a:pPr>
            <a:r>
              <a:rPr sz="2000" b="0" lang="ja-JP">
                <a:solidFill>
                  <a:srgbClr val="183440"/>
                </a:solidFill>
                <a:latin typeface="Noto Sans CJK JP"/>
                <a:ea typeface="Noto Sans CJK JP"/>
              </a:rPr>
              <a:t>④ 5070実機＋反復計測＋品質評価</a:t>
            </a:r>
          </a:p>
        </p:txBody>
      </p:sp>
      <p:sp>
        <p:nvSpPr>
          <p:cNvPr id="17" name="TextBox 16"/>
          <p:cNvSpPr txBox="1"/>
          <p:nvPr/>
        </p:nvSpPr>
        <p:spPr>
          <a:xfrm>
            <a:off x="795528" y="5733288"/>
            <a:ext cx="10561320" cy="393192"/>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現時点の選定候補：速度重視はMotionLCM / MMM。Kimodoは品質確認と応答経路の改善を継続。</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付録：初期調査からの到達点と、未測定の経路</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古い「未実行」の記録を、後続の成功記録と混同しない</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[R7] segmented/english-lesson*/README.md  [R8] execution_results.md・model_compatibility.md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19</a:t>
            </a:r>
          </a:p>
        </p:txBody>
      </p:sp>
      <p:sp>
        <p:nvSpPr>
          <p:cNvPr id="9" name="Rectangle 8"/>
          <p:cNvSpPr/>
          <p:nvPr/>
        </p:nvSpPr>
        <p:spPr>
          <a:xfrm>
            <a:off x="704088" y="2194560"/>
            <a:ext cx="10789920" cy="502920"/>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2276856"/>
            <a:ext cx="2971800" cy="393192"/>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対象</a:t>
            </a:r>
          </a:p>
        </p:txBody>
      </p:sp>
      <p:sp>
        <p:nvSpPr>
          <p:cNvPr id="11" name="TextBox 10"/>
          <p:cNvSpPr txBox="1"/>
          <p:nvPr/>
        </p:nvSpPr>
        <p:spPr>
          <a:xfrm>
            <a:off x="3968496" y="2276856"/>
            <a:ext cx="3474720" cy="393192"/>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初期調査・導入</a:t>
            </a:r>
          </a:p>
        </p:txBody>
      </p:sp>
      <p:sp>
        <p:nvSpPr>
          <p:cNvPr id="12" name="TextBox 11"/>
          <p:cNvSpPr txBox="1"/>
          <p:nvPr/>
        </p:nvSpPr>
        <p:spPr>
          <a:xfrm>
            <a:off x="7626096" y="2276856"/>
            <a:ext cx="3794759" cy="393192"/>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今回の報告上の扱い</a:t>
            </a:r>
          </a:p>
        </p:txBody>
      </p:sp>
      <p:sp>
        <p:nvSpPr>
          <p:cNvPr id="13" name="Rectangle 12"/>
          <p:cNvSpPr/>
          <p:nvPr/>
        </p:nvSpPr>
        <p:spPr>
          <a:xfrm>
            <a:off x="704088" y="2697480"/>
            <a:ext cx="10789920" cy="50292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277977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Kimodo</a:t>
            </a:r>
          </a:p>
        </p:txBody>
      </p:sp>
      <p:sp>
        <p:nvSpPr>
          <p:cNvPr id="15" name="TextBox 14"/>
          <p:cNvSpPr txBox="1"/>
          <p:nvPr/>
        </p:nvSpPr>
        <p:spPr>
          <a:xfrm>
            <a:off x="3968496" y="277977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初期：公式オンラインの動作指示</a:t>
            </a:r>
          </a:p>
        </p:txBody>
      </p:sp>
      <p:sp>
        <p:nvSpPr>
          <p:cNvPr id="16" name="TextBox 15"/>
          <p:cNvSpPr txBox="1"/>
          <p:nvPr/>
        </p:nvSpPr>
        <p:spPr>
          <a:xfrm>
            <a:off x="7626096" y="277977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後期：共通5文・音声会話・B300実生成</a:t>
            </a:r>
          </a:p>
        </p:txBody>
      </p:sp>
      <p:sp>
        <p:nvSpPr>
          <p:cNvPr id="17" name="Rectangle 16"/>
          <p:cNvSpPr/>
          <p:nvPr/>
        </p:nvSpPr>
        <p:spPr>
          <a:xfrm>
            <a:off x="704088" y="3200400"/>
            <a:ext cx="10789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 y="328269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ARDY</a:t>
            </a:r>
          </a:p>
        </p:txBody>
      </p:sp>
      <p:sp>
        <p:nvSpPr>
          <p:cNvPr id="19" name="TextBox 18"/>
          <p:cNvSpPr txBox="1"/>
          <p:nvPr/>
        </p:nvSpPr>
        <p:spPr>
          <a:xfrm>
            <a:off x="3968496" y="328269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初期：無条件CPU診断</a:t>
            </a:r>
          </a:p>
        </p:txBody>
      </p:sp>
      <p:sp>
        <p:nvSpPr>
          <p:cNvPr id="20" name="TextBox 19"/>
          <p:cNvSpPr txBox="1"/>
          <p:nvPr/>
        </p:nvSpPr>
        <p:spPr>
          <a:xfrm>
            <a:off x="7626096" y="328269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後期：Horizon40遠隔／Core8 CUDA実生成</a:t>
            </a:r>
          </a:p>
        </p:txBody>
      </p:sp>
      <p:sp>
        <p:nvSpPr>
          <p:cNvPr id="21" name="Rectangle 20"/>
          <p:cNvSpPr/>
          <p:nvPr/>
        </p:nvSpPr>
        <p:spPr>
          <a:xfrm>
            <a:off x="704088" y="3703320"/>
            <a:ext cx="10789920" cy="50292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 y="3785615"/>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text-to-vrma</a:t>
            </a:r>
          </a:p>
        </p:txBody>
      </p:sp>
      <p:sp>
        <p:nvSpPr>
          <p:cNvPr id="23" name="TextBox 22"/>
          <p:cNvSpPr txBox="1"/>
          <p:nvPr/>
        </p:nvSpPr>
        <p:spPr>
          <a:xfrm>
            <a:off x="3968496" y="3785615"/>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ARDYエンジン選択・形式統合</a:t>
            </a:r>
          </a:p>
        </p:txBody>
      </p:sp>
      <p:sp>
        <p:nvSpPr>
          <p:cNvPr id="24" name="TextBox 23"/>
          <p:cNvSpPr txBox="1"/>
          <p:nvPr/>
        </p:nvSpPr>
        <p:spPr>
          <a:xfrm>
            <a:off x="7626096" y="3785615"/>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モデルの同条件実生成時間は未測定</a:t>
            </a:r>
          </a:p>
        </p:txBody>
      </p:sp>
      <p:sp>
        <p:nvSpPr>
          <p:cNvPr id="25" name="Rectangle 24"/>
          <p:cNvSpPr/>
          <p:nvPr/>
        </p:nvSpPr>
        <p:spPr>
          <a:xfrm>
            <a:off x="704088" y="4206240"/>
            <a:ext cx="10789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 y="428853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LoM / MIBURI / StreamTalk</a:t>
            </a:r>
          </a:p>
        </p:txBody>
      </p:sp>
      <p:sp>
        <p:nvSpPr>
          <p:cNvPr id="27" name="TextBox 26"/>
          <p:cNvSpPr txBox="1"/>
          <p:nvPr/>
        </p:nvSpPr>
        <p:spPr>
          <a:xfrm>
            <a:off x="3968496" y="428853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公式コード・依存・重み配信を調査</a:t>
            </a:r>
          </a:p>
        </p:txBody>
      </p:sp>
      <p:sp>
        <p:nvSpPr>
          <p:cNvPr id="28" name="TextBox 27"/>
          <p:cNvSpPr txBox="1"/>
          <p:nvPr/>
        </p:nvSpPr>
        <p:spPr>
          <a:xfrm>
            <a:off x="7626096" y="428853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今回の比較条件では実推論未検証</a:t>
            </a:r>
          </a:p>
        </p:txBody>
      </p:sp>
      <p:sp>
        <p:nvSpPr>
          <p:cNvPr id="29" name="Rectangle 28"/>
          <p:cNvSpPr/>
          <p:nvPr/>
        </p:nvSpPr>
        <p:spPr>
          <a:xfrm>
            <a:off x="704088" y="4709160"/>
            <a:ext cx="10789920" cy="50292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 y="479145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LLM-Gesture / ViBES body</a:t>
            </a:r>
          </a:p>
        </p:txBody>
      </p:sp>
      <p:sp>
        <p:nvSpPr>
          <p:cNvPr id="31" name="TextBox 30"/>
          <p:cNvSpPr txBox="1"/>
          <p:nvPr/>
        </p:nvSpPr>
        <p:spPr>
          <a:xfrm>
            <a:off x="3968496" y="479145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資産・公開経路等を調査</a:t>
            </a:r>
          </a:p>
        </p:txBody>
      </p:sp>
      <p:sp>
        <p:nvSpPr>
          <p:cNvPr id="32" name="TextBox 31"/>
          <p:cNvSpPr txBox="1"/>
          <p:nvPr/>
        </p:nvSpPr>
        <p:spPr>
          <a:xfrm>
            <a:off x="7626096" y="479145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今回の比較条件では実推論未検証</a:t>
            </a:r>
          </a:p>
        </p:txBody>
      </p:sp>
      <p:sp>
        <p:nvSpPr>
          <p:cNvPr id="33" name="Rectangle 32"/>
          <p:cNvSpPr/>
          <p:nvPr/>
        </p:nvSpPr>
        <p:spPr>
          <a:xfrm>
            <a:off x="704088" y="5212080"/>
            <a:ext cx="10789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6" y="529437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FreeTalker / AgentHands</a:t>
            </a:r>
          </a:p>
        </p:txBody>
      </p:sp>
      <p:sp>
        <p:nvSpPr>
          <p:cNvPr id="35" name="TextBox 34"/>
          <p:cNvSpPr txBox="1"/>
          <p:nvPr/>
        </p:nvSpPr>
        <p:spPr>
          <a:xfrm>
            <a:off x="3968496" y="529437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コード調査／役割を確認</a:t>
            </a:r>
          </a:p>
        </p:txBody>
      </p:sp>
      <p:sp>
        <p:nvSpPr>
          <p:cNvPr id="36" name="TextBox 35"/>
          <p:cNvSpPr txBox="1"/>
          <p:nvPr/>
        </p:nvSpPr>
        <p:spPr>
          <a:xfrm>
            <a:off x="7626096" y="529437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実生成の比較には未収録</a:t>
            </a:r>
          </a:p>
        </p:txBody>
      </p:sp>
      <p:sp>
        <p:nvSpPr>
          <p:cNvPr id="37" name="TextBox 36"/>
          <p:cNvSpPr txBox="1"/>
          <p:nvPr/>
        </p:nvSpPr>
        <p:spPr>
          <a:xfrm>
            <a:off x="777240" y="5943600"/>
            <a:ext cx="10607040" cy="26517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公開コード・ダウンロード可能な重み・推論成功・会話品質の検証は、それぞれ別の到達点。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付録：初期の文分割デモは、発話に合わせた動作指示を使用</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共通原文5区間の後期比較とは、入力・モデル・サービス・描画条件が異なる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[R7] reports/segmented/english-lesson*/README.md / 成功処理の合計</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20</a:t>
            </a:r>
          </a:p>
        </p:txBody>
      </p:sp>
      <p:sp>
        <p:nvSpPr>
          <p:cNvPr id="9" name="Rectangle 8"/>
          <p:cNvSpPr/>
          <p:nvPr/>
        </p:nvSpPr>
        <p:spPr>
          <a:xfrm>
            <a:off x="731520" y="2194560"/>
            <a:ext cx="10789920" cy="438912"/>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276856"/>
            <a:ext cx="347472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FFFFFF"/>
                </a:solidFill>
                <a:latin typeface="Noto Sans CJK JP"/>
                <a:ea typeface="Noto Sans CJK JP"/>
              </a:rPr>
              <a:t>項目</a:t>
            </a:r>
          </a:p>
        </p:txBody>
      </p:sp>
      <p:sp>
        <p:nvSpPr>
          <p:cNvPr id="11" name="TextBox 10"/>
          <p:cNvSpPr txBox="1"/>
          <p:nvPr/>
        </p:nvSpPr>
        <p:spPr>
          <a:xfrm>
            <a:off x="4498848" y="2276856"/>
            <a:ext cx="3291839"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FFFFFF"/>
                </a:solidFill>
                <a:latin typeface="Noto Sans CJK JP"/>
                <a:ea typeface="Noto Sans CJK JP"/>
              </a:rPr>
              <a:t>Kimodo版</a:t>
            </a:r>
          </a:p>
        </p:txBody>
      </p:sp>
      <p:sp>
        <p:nvSpPr>
          <p:cNvPr id="12" name="TextBox 11"/>
          <p:cNvSpPr txBox="1"/>
          <p:nvPr/>
        </p:nvSpPr>
        <p:spPr>
          <a:xfrm>
            <a:off x="7973567" y="2276856"/>
            <a:ext cx="347472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FFFFFF"/>
                </a:solidFill>
                <a:latin typeface="Noto Sans CJK JP"/>
                <a:ea typeface="Noto Sans CJK JP"/>
              </a:rPr>
              <a:t>ARDY版</a:t>
            </a:r>
          </a:p>
        </p:txBody>
      </p:sp>
      <p:sp>
        <p:nvSpPr>
          <p:cNvPr id="13" name="Rectangle 12"/>
          <p:cNvSpPr/>
          <p:nvPr/>
        </p:nvSpPr>
        <p:spPr>
          <a:xfrm>
            <a:off x="731520" y="2633472"/>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2715768"/>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モーションモデル</a:t>
            </a:r>
          </a:p>
        </p:txBody>
      </p:sp>
      <p:sp>
        <p:nvSpPr>
          <p:cNvPr id="15" name="TextBox 14"/>
          <p:cNvSpPr txBox="1"/>
          <p:nvPr/>
        </p:nvSpPr>
        <p:spPr>
          <a:xfrm>
            <a:off x="4498848" y="2715768"/>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Kimodo SOMA-RP-v1</a:t>
            </a:r>
          </a:p>
        </p:txBody>
      </p:sp>
      <p:sp>
        <p:nvSpPr>
          <p:cNvPr id="16" name="TextBox 15"/>
          <p:cNvSpPr txBox="1"/>
          <p:nvPr/>
        </p:nvSpPr>
        <p:spPr>
          <a:xfrm>
            <a:off x="7973567" y="2715768"/>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ARDY Core / Horizon40</a:t>
            </a:r>
          </a:p>
        </p:txBody>
      </p:sp>
      <p:sp>
        <p:nvSpPr>
          <p:cNvPr id="17" name="Rectangle 16"/>
          <p:cNvSpPr/>
          <p:nvPr/>
        </p:nvSpPr>
        <p:spPr>
          <a:xfrm>
            <a:off x="731520" y="3072384"/>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154679"/>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利用経路</a:t>
            </a:r>
          </a:p>
        </p:txBody>
      </p:sp>
      <p:sp>
        <p:nvSpPr>
          <p:cNvPr id="19" name="TextBox 18"/>
          <p:cNvSpPr txBox="1"/>
          <p:nvPr/>
        </p:nvSpPr>
        <p:spPr>
          <a:xfrm>
            <a:off x="4498848" y="3154679"/>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NVIDIA公式オンライン</a:t>
            </a:r>
          </a:p>
        </p:txBody>
      </p:sp>
      <p:sp>
        <p:nvSpPr>
          <p:cNvPr id="20" name="TextBox 19"/>
          <p:cNvSpPr txBox="1"/>
          <p:nvPr/>
        </p:nvSpPr>
        <p:spPr>
          <a:xfrm>
            <a:off x="7973567" y="3154679"/>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公開コミュニティSpace</a:t>
            </a:r>
          </a:p>
        </p:txBody>
      </p:sp>
      <p:sp>
        <p:nvSpPr>
          <p:cNvPr id="21" name="Rectangle 20"/>
          <p:cNvSpPr/>
          <p:nvPr/>
        </p:nvSpPr>
        <p:spPr>
          <a:xfrm>
            <a:off x="731520" y="3511296"/>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3593591"/>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骨格生成・5区間</a:t>
            </a:r>
          </a:p>
        </p:txBody>
      </p:sp>
      <p:sp>
        <p:nvSpPr>
          <p:cNvPr id="23" name="TextBox 22"/>
          <p:cNvSpPr txBox="1"/>
          <p:nvPr/>
        </p:nvSpPr>
        <p:spPr>
          <a:xfrm>
            <a:off x="4498848" y="3593591"/>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72.91秒</a:t>
            </a:r>
          </a:p>
        </p:txBody>
      </p:sp>
      <p:sp>
        <p:nvSpPr>
          <p:cNvPr id="24" name="TextBox 23"/>
          <p:cNvSpPr txBox="1"/>
          <p:nvPr/>
        </p:nvSpPr>
        <p:spPr>
          <a:xfrm>
            <a:off x="7973567" y="3593591"/>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115.29秒</a:t>
            </a:r>
          </a:p>
        </p:txBody>
      </p:sp>
      <p:sp>
        <p:nvSpPr>
          <p:cNvPr id="25" name="Rectangle 24"/>
          <p:cNvSpPr/>
          <p:nvPr/>
        </p:nvSpPr>
        <p:spPr>
          <a:xfrm>
            <a:off x="731520" y="3950208"/>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032504"/>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音声生成・今回分</a:t>
            </a:r>
          </a:p>
        </p:txBody>
      </p:sp>
      <p:sp>
        <p:nvSpPr>
          <p:cNvPr id="27" name="TextBox 26"/>
          <p:cNvSpPr txBox="1"/>
          <p:nvPr/>
        </p:nvSpPr>
        <p:spPr>
          <a:xfrm>
            <a:off x="4498848" y="4032504"/>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25.32秒</a:t>
            </a:r>
          </a:p>
        </p:txBody>
      </p:sp>
      <p:sp>
        <p:nvSpPr>
          <p:cNvPr id="28" name="TextBox 27"/>
          <p:cNvSpPr txBox="1"/>
          <p:nvPr/>
        </p:nvSpPr>
        <p:spPr>
          <a:xfrm>
            <a:off x="7973567" y="4032504"/>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0秒（同じ既存音声を共有）</a:t>
            </a:r>
          </a:p>
        </p:txBody>
      </p:sp>
      <p:sp>
        <p:nvSpPr>
          <p:cNvPr id="29" name="Rectangle 28"/>
          <p:cNvSpPr/>
          <p:nvPr/>
        </p:nvSpPr>
        <p:spPr>
          <a:xfrm>
            <a:off x="731520" y="4389120"/>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4471416"/>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連結込みMP4書き出し</a:t>
            </a:r>
          </a:p>
        </p:txBody>
      </p:sp>
      <p:sp>
        <p:nvSpPr>
          <p:cNvPr id="31" name="TextBox 30"/>
          <p:cNvSpPr txBox="1"/>
          <p:nvPr/>
        </p:nvSpPr>
        <p:spPr>
          <a:xfrm>
            <a:off x="4498848" y="4471416"/>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237.03秒</a:t>
            </a:r>
          </a:p>
        </p:txBody>
      </p:sp>
      <p:sp>
        <p:nvSpPr>
          <p:cNvPr id="32" name="TextBox 31"/>
          <p:cNvSpPr txBox="1"/>
          <p:nvPr/>
        </p:nvSpPr>
        <p:spPr>
          <a:xfrm>
            <a:off x="7973567" y="4471416"/>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1,038.91秒</a:t>
            </a:r>
          </a:p>
        </p:txBody>
      </p:sp>
      <p:sp>
        <p:nvSpPr>
          <p:cNvPr id="33" name="Rectangle 32"/>
          <p:cNvSpPr/>
          <p:nvPr/>
        </p:nvSpPr>
        <p:spPr>
          <a:xfrm>
            <a:off x="731520" y="4828031"/>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4910327"/>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成功処理の合計</a:t>
            </a:r>
          </a:p>
        </p:txBody>
      </p:sp>
      <p:sp>
        <p:nvSpPr>
          <p:cNvPr id="35" name="TextBox 34"/>
          <p:cNvSpPr txBox="1"/>
          <p:nvPr/>
        </p:nvSpPr>
        <p:spPr>
          <a:xfrm>
            <a:off x="4498848" y="4910327"/>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335.27秒</a:t>
            </a:r>
          </a:p>
        </p:txBody>
      </p:sp>
      <p:sp>
        <p:nvSpPr>
          <p:cNvPr id="36" name="TextBox 35"/>
          <p:cNvSpPr txBox="1"/>
          <p:nvPr/>
        </p:nvSpPr>
        <p:spPr>
          <a:xfrm>
            <a:off x="7973567" y="4910327"/>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1,154.20秒</a:t>
            </a:r>
          </a:p>
        </p:txBody>
      </p:sp>
      <p:sp>
        <p:nvSpPr>
          <p:cNvPr id="37" name="Rectangle 36"/>
          <p:cNvSpPr/>
          <p:nvPr/>
        </p:nvSpPr>
        <p:spPr>
          <a:xfrm>
            <a:off x="731520" y="5266944"/>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 y="5349240"/>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完成動画の長さ</a:t>
            </a:r>
          </a:p>
        </p:txBody>
      </p:sp>
      <p:sp>
        <p:nvSpPr>
          <p:cNvPr id="39" name="TextBox 38"/>
          <p:cNvSpPr txBox="1"/>
          <p:nvPr/>
        </p:nvSpPr>
        <p:spPr>
          <a:xfrm>
            <a:off x="4498848" y="5349240"/>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14.133秒</a:t>
            </a:r>
          </a:p>
        </p:txBody>
      </p:sp>
      <p:sp>
        <p:nvSpPr>
          <p:cNvPr id="40" name="TextBox 39"/>
          <p:cNvSpPr txBox="1"/>
          <p:nvPr/>
        </p:nvSpPr>
        <p:spPr>
          <a:xfrm>
            <a:off x="7973567" y="5349240"/>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14.133秒</a:t>
            </a:r>
          </a:p>
        </p:txBody>
      </p:sp>
      <p:sp>
        <p:nvSpPr>
          <p:cNvPr id="41" name="TextBox 40"/>
          <p:cNvSpPr txBox="1"/>
          <p:nvPr/>
        </p:nvSpPr>
        <p:spPr>
          <a:xfrm>
            <a:off x="804672" y="5934456"/>
            <a:ext cx="4892040" cy="265176"/>
          </a:xfrm>
          <a:prstGeom prst="rect">
            <a:avLst/>
          </a:prstGeom>
          <a:noFill/>
        </p:spPr>
        <p:txBody>
          <a:bodyPr wrap="square" lIns="0" rIns="0" tIns="0" bIns="0" anchor="t">
            <a:spAutoFit/>
          </a:bodyPr>
          <a:lstStyle/>
          <a:p>
            <a:pPr algn="l">
              <a:lnSpc>
                <a:spcPct val="114000"/>
              </a:lnSpc>
              <a:spcAft>
                <a:spcPts val="500"/>
              </a:spcAft>
            </a:pPr>
            <a:r>
              <a:rPr sz="1400" b="0" lang="ja-JP">
                <a:solidFill>
                  <a:srgbClr val="3269AC"/>
                </a:solidFill>
                <a:latin typeface="Noto Sans CJK JP"/>
                <a:ea typeface="Noto Sans CJK JP"/>
                <a:hlinkClick r:id="rId3"/>
              </a:rPr>
              <a:t>▶ Kimodoの分割デモ</a:t>
            </a:r>
          </a:p>
        </p:txBody>
      </p:sp>
      <p:sp>
        <p:nvSpPr>
          <p:cNvPr id="42" name="TextBox 41"/>
          <p:cNvSpPr txBox="1"/>
          <p:nvPr/>
        </p:nvSpPr>
        <p:spPr>
          <a:xfrm>
            <a:off x="6336792" y="5934456"/>
            <a:ext cx="4892040" cy="265176"/>
          </a:xfrm>
          <a:prstGeom prst="rect">
            <a:avLst/>
          </a:prstGeom>
          <a:noFill/>
        </p:spPr>
        <p:txBody>
          <a:bodyPr wrap="square" lIns="0" rIns="0" tIns="0" bIns="0" anchor="t">
            <a:spAutoFit/>
          </a:bodyPr>
          <a:lstStyle/>
          <a:p>
            <a:pPr algn="l">
              <a:lnSpc>
                <a:spcPct val="114000"/>
              </a:lnSpc>
              <a:spcAft>
                <a:spcPts val="500"/>
              </a:spcAft>
            </a:pPr>
            <a:r>
              <a:rPr sz="1400" b="0" lang="ja-JP">
                <a:solidFill>
                  <a:srgbClr val="3269AC"/>
                </a:solidFill>
                <a:latin typeface="Noto Sans CJK JP"/>
                <a:ea typeface="Noto Sans CJK JP"/>
                <a:hlinkClick r:id="rId4"/>
              </a:rPr>
              <a:t>▶ ARDYの分割デモ</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付録：計測原本・固定バージョン・再現手順</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Gitリポジトリ：github.com/nk-an-nk/textToMotion / work　　実験コード基準：3a37d6e</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原本はGitのworkブランチ。再集計値・費用式は同梱measurements.json。</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21</a:t>
            </a:r>
          </a:p>
        </p:txBody>
      </p:sp>
      <p:sp>
        <p:nvSpPr>
          <p:cNvPr id="9" name="TextBox 8"/>
          <p:cNvSpPr txBox="1"/>
          <p:nvPr/>
        </p:nvSpPr>
        <p:spPr>
          <a:xfrm>
            <a:off x="841248" y="2221992"/>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3"/>
              </a:rPr>
              <a:t>[R1・R2] 7モデル比較の記録</a:t>
            </a:r>
          </a:p>
        </p:txBody>
      </p:sp>
      <p:sp>
        <p:nvSpPr>
          <p:cNvPr id="10" name="TextBox 9"/>
          <p:cNvSpPr txBox="1"/>
          <p:nvPr/>
        </p:nvSpPr>
        <p:spPr>
          <a:xfrm>
            <a:off x="841248" y="2734056"/>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4"/>
              </a:rPr>
              <a:t>[R3・R4・R6] Kimodo / B300の計測・動画</a:t>
            </a:r>
          </a:p>
        </p:txBody>
      </p:sp>
      <p:sp>
        <p:nvSpPr>
          <p:cNvPr id="11" name="TextBox 10"/>
          <p:cNvSpPr txBox="1"/>
          <p:nvPr/>
        </p:nvSpPr>
        <p:spPr>
          <a:xfrm>
            <a:off x="841248" y="3246120"/>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5"/>
              </a:rPr>
              <a:t>[R5] GPU条件・ソースと重みのハッシュ</a:t>
            </a:r>
          </a:p>
        </p:txBody>
      </p:sp>
      <p:sp>
        <p:nvSpPr>
          <p:cNvPr id="12" name="TextBox 11"/>
          <p:cNvSpPr txBox="1"/>
          <p:nvPr/>
        </p:nvSpPr>
        <p:spPr>
          <a:xfrm>
            <a:off x="841248" y="3758184"/>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6"/>
              </a:rPr>
              <a:t>[R7] 文分割デモの入力・同期・計測</a:t>
            </a:r>
          </a:p>
        </p:txBody>
      </p:sp>
      <p:sp>
        <p:nvSpPr>
          <p:cNvPr id="13" name="TextBox 12"/>
          <p:cNvSpPr txBox="1"/>
          <p:nvPr/>
        </p:nvSpPr>
        <p:spPr>
          <a:xfrm>
            <a:off x="841248" y="4270248"/>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7"/>
              </a:rPr>
              <a:t>研究室Windowsのセットアップ手順</a:t>
            </a:r>
          </a:p>
        </p:txBody>
      </p:sp>
      <p:sp>
        <p:nvSpPr>
          <p:cNvPr id="14" name="TextBox 13"/>
          <p:cNvSpPr txBox="1"/>
          <p:nvPr/>
        </p:nvSpPr>
        <p:spPr>
          <a:xfrm>
            <a:off x="841248" y="5010912"/>
            <a:ext cx="10378440" cy="347472"/>
          </a:xfrm>
          <a:prstGeom prst="rect">
            <a:avLst/>
          </a:prstGeom>
          <a:noFill/>
        </p:spPr>
        <p:txBody>
          <a:bodyPr wrap="square" lIns="0" rIns="0" tIns="0" bIns="0" anchor="t">
            <a:spAutoFit/>
          </a:bodyPr>
          <a:lstStyle/>
          <a:p>
            <a:pPr algn="l">
              <a:lnSpc>
                <a:spcPct val="114000"/>
              </a:lnSpc>
              <a:spcAft>
                <a:spcPts val="500"/>
              </a:spcAft>
            </a:pPr>
            <a:r>
              <a:rPr sz="1800" b="1" lang="ja-JP">
                <a:solidFill>
                  <a:srgbClr val="183440"/>
                </a:solidFill>
                <a:latin typeface="Noto Sans CJK JP"/>
                <a:ea typeface="Noto Sans CJK JP"/>
              </a:rPr>
              <a:t>B300：PyTorch 2.8.0+cu129 / CUDA 12.9 / Python 3.12.3</a:t>
            </a:r>
          </a:p>
        </p:txBody>
      </p:sp>
      <p:sp>
        <p:nvSpPr>
          <p:cNvPr id="15" name="TextBox 14"/>
          <p:cNvSpPr txBox="1"/>
          <p:nvPr/>
        </p:nvSpPr>
        <p:spPr>
          <a:xfrm>
            <a:off x="841248" y="5522976"/>
            <a:ext cx="10378440" cy="502920"/>
          </a:xfrm>
          <a:prstGeom prst="rect">
            <a:avLst/>
          </a:prstGeom>
          <a:noFill/>
        </p:spPr>
        <p:txBody>
          <a:bodyPr wrap="square" lIns="0" rIns="0" tIns="0" bIns="0" anchor="t">
            <a:spAutoFit/>
          </a:bodyPr>
          <a:lstStyle/>
          <a:p>
            <a:pPr algn="l">
              <a:lnSpc>
                <a:spcPct val="114000"/>
              </a:lnSpc>
              <a:spcAft>
                <a:spcPts val="500"/>
              </a:spcAft>
            </a:pPr>
            <a:r>
              <a:rPr sz="1500" b="0" lang="ja-JP">
                <a:solidFill>
                  <a:srgbClr val="5B707B"/>
                </a:solidFill>
                <a:latin typeface="Noto Sans CJK JP"/>
                <a:ea typeface="Noto Sans CJK JP"/>
              </a:rPr>
              <a:t>ソース・重みrevision・LoRA各448テンソルを検証。元NPZ・骨格JSON・WAV・時刻・usageを保存。</a:t>
            </a:r>
          </a:p>
          <a:p>
            <a:pPr algn="l">
              <a:lnSpc>
                <a:spcPct val="114000"/>
              </a:lnSpc>
              <a:spcAft>
                <a:spcPts val="500"/>
              </a:spcAft>
            </a:pPr>
            <a:r>
              <a:rPr sz="1500" b="0" lang="ja-JP">
                <a:solidFill>
                  <a:srgbClr val="5B707B"/>
                </a:solidFill>
                <a:latin typeface="Noto Sans CJK JP"/>
                <a:ea typeface="Noto Sans CJK JP"/>
              </a:rPr>
              <a:t>実装テスト：Python112件／JavaScript22件。ライブWebRTC＋ローカルGPUの連続対話は未検証。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付録：全18本のデモ動画をPowerPoint内に収録</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モデル名・画像をクリックすると、会話と共通5文の動画スライドへ移動</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[R2] audio-input-dialogue/*/demo.mp4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22</a:t>
            </a:r>
          </a:p>
        </p:txBody>
      </p:sp>
      <p:pic>
        <p:nvPicPr>
          <p:cNvPr id="9" name="Picture 8" descr="dialogue-kimodo.png">
            <a:hlinkClick action="ppaction://hlinksldjump" r:id="rId11"/>
          </p:cNvPr>
          <p:cNvPicPr>
            <a:picLocks noChangeAspect="1"/>
          </p:cNvPicPr>
          <p:nvPr/>
        </p:nvPicPr>
        <p:blipFill>
          <a:blip r:embed="rId3"/>
          <a:srcRect l="23000" t="20989" r="23000" b="29989"/>
          <a:stretch>
            <a:fillRect/>
          </a:stretch>
        </p:blipFill>
        <p:spPr>
          <a:xfrm>
            <a:off x="731520" y="2194560"/>
            <a:ext cx="2578608" cy="1316736"/>
          </a:xfrm>
          <a:prstGeom prst="rect">
            <a:avLst/>
          </a:prstGeom>
        </p:spPr>
      </p:pic>
      <p:sp>
        <p:nvSpPr>
          <p:cNvPr id="10" name="TextBox 9">
            <a:hlinkClick action="ppaction://hlinksldjump" r:id="rId11"/>
          </p:cNvPr>
          <p:cNvSpPr txBox="1"/>
          <p:nvPr/>
        </p:nvSpPr>
        <p:spPr>
          <a:xfrm>
            <a:off x="731520" y="3575304"/>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Kimodo</a:t>
            </a:r>
          </a:p>
        </p:txBody>
      </p:sp>
      <p:pic>
        <p:nvPicPr>
          <p:cNvPr id="11" name="Picture 10" descr="dialogue-ardy.png">
            <a:hlinkClick action="ppaction://hlinksldjump" r:id="rId12"/>
          </p:cNvPr>
          <p:cNvPicPr>
            <a:picLocks noChangeAspect="1"/>
          </p:cNvPicPr>
          <p:nvPr/>
        </p:nvPicPr>
        <p:blipFill>
          <a:blip r:embed="rId4"/>
          <a:srcRect l="23000" t="20989" r="23000" b="29989"/>
          <a:stretch>
            <a:fillRect/>
          </a:stretch>
        </p:blipFill>
        <p:spPr>
          <a:xfrm>
            <a:off x="3547872" y="2194560"/>
            <a:ext cx="2578608" cy="1316736"/>
          </a:xfrm>
          <a:prstGeom prst="rect">
            <a:avLst/>
          </a:prstGeom>
        </p:spPr>
      </p:pic>
      <p:sp>
        <p:nvSpPr>
          <p:cNvPr id="12" name="TextBox 11">
            <a:hlinkClick action="ppaction://hlinksldjump" r:id="rId12"/>
          </p:cNvPr>
          <p:cNvSpPr txBox="1"/>
          <p:nvPr/>
        </p:nvSpPr>
        <p:spPr>
          <a:xfrm>
            <a:off x="3547872" y="3575304"/>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ARDY</a:t>
            </a:r>
          </a:p>
        </p:txBody>
      </p:sp>
      <p:pic>
        <p:nvPicPr>
          <p:cNvPr id="13" name="Picture 12" descr="dialogue-motionlcm.png">
            <a:hlinkClick action="ppaction://hlinksldjump" r:id="rId13"/>
          </p:cNvPr>
          <p:cNvPicPr>
            <a:picLocks noChangeAspect="1"/>
          </p:cNvPicPr>
          <p:nvPr/>
        </p:nvPicPr>
        <p:blipFill>
          <a:blip r:embed="rId5"/>
          <a:srcRect l="23000" t="20989" r="23000" b="29989"/>
          <a:stretch>
            <a:fillRect/>
          </a:stretch>
        </p:blipFill>
        <p:spPr>
          <a:xfrm>
            <a:off x="6364224" y="2194560"/>
            <a:ext cx="2578608" cy="1316736"/>
          </a:xfrm>
          <a:prstGeom prst="rect">
            <a:avLst/>
          </a:prstGeom>
        </p:spPr>
      </p:pic>
      <p:sp>
        <p:nvSpPr>
          <p:cNvPr id="14" name="TextBox 13">
            <a:hlinkClick action="ppaction://hlinksldjump" r:id="rId13"/>
          </p:cNvPr>
          <p:cNvSpPr txBox="1"/>
          <p:nvPr/>
        </p:nvSpPr>
        <p:spPr>
          <a:xfrm>
            <a:off x="6364224" y="3575304"/>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MotionLCM</a:t>
            </a:r>
          </a:p>
        </p:txBody>
      </p:sp>
      <p:pic>
        <p:nvPicPr>
          <p:cNvPr id="15" name="Picture 14" descr="dialogue-momask.png">
            <a:hlinkClick action="ppaction://hlinksldjump" r:id="rId14"/>
          </p:cNvPr>
          <p:cNvPicPr>
            <a:picLocks noChangeAspect="1"/>
          </p:cNvPicPr>
          <p:nvPr/>
        </p:nvPicPr>
        <p:blipFill>
          <a:blip r:embed="rId6"/>
          <a:srcRect l="23000" t="20989" r="23000" b="29989"/>
          <a:stretch>
            <a:fillRect/>
          </a:stretch>
        </p:blipFill>
        <p:spPr>
          <a:xfrm>
            <a:off x="9180576" y="2194560"/>
            <a:ext cx="2578608" cy="1316736"/>
          </a:xfrm>
          <a:prstGeom prst="rect">
            <a:avLst/>
          </a:prstGeom>
        </p:spPr>
      </p:pic>
      <p:sp>
        <p:nvSpPr>
          <p:cNvPr id="16" name="TextBox 15">
            <a:hlinkClick action="ppaction://hlinksldjump" r:id="rId14"/>
          </p:cNvPr>
          <p:cNvSpPr txBox="1"/>
          <p:nvPr/>
        </p:nvSpPr>
        <p:spPr>
          <a:xfrm>
            <a:off x="9180576" y="3575304"/>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MoMask</a:t>
            </a:r>
          </a:p>
        </p:txBody>
      </p:sp>
      <p:pic>
        <p:nvPicPr>
          <p:cNvPr id="17" name="Picture 16" descr="dialogue-mmm.png">
            <a:hlinkClick action="ppaction://hlinksldjump" r:id="rId15"/>
          </p:cNvPr>
          <p:cNvPicPr>
            <a:picLocks noChangeAspect="1"/>
          </p:cNvPicPr>
          <p:nvPr/>
        </p:nvPicPr>
        <p:blipFill>
          <a:blip r:embed="rId7"/>
          <a:srcRect l="23000" t="20989" r="23000" b="29989"/>
          <a:stretch>
            <a:fillRect/>
          </a:stretch>
        </p:blipFill>
        <p:spPr>
          <a:xfrm>
            <a:off x="731520" y="4050791"/>
            <a:ext cx="2578608" cy="1316736"/>
          </a:xfrm>
          <a:prstGeom prst="rect">
            <a:avLst/>
          </a:prstGeom>
        </p:spPr>
      </p:pic>
      <p:sp>
        <p:nvSpPr>
          <p:cNvPr id="18" name="TextBox 17">
            <a:hlinkClick action="ppaction://hlinksldjump" r:id="rId15"/>
          </p:cNvPr>
          <p:cNvSpPr txBox="1"/>
          <p:nvPr/>
        </p:nvSpPr>
        <p:spPr>
          <a:xfrm>
            <a:off x="731520" y="5431536"/>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MMM</a:t>
            </a:r>
          </a:p>
        </p:txBody>
      </p:sp>
      <p:pic>
        <p:nvPicPr>
          <p:cNvPr id="19" name="Picture 18" descr="dialogue-reactmotion.png">
            <a:hlinkClick action="ppaction://hlinksldjump" r:id="rId16"/>
          </p:cNvPr>
          <p:cNvPicPr>
            <a:picLocks noChangeAspect="1"/>
          </p:cNvPicPr>
          <p:nvPr/>
        </p:nvPicPr>
        <p:blipFill>
          <a:blip r:embed="rId8"/>
          <a:srcRect l="23000" t="20989" r="23000" b="29989"/>
          <a:stretch>
            <a:fillRect/>
          </a:stretch>
        </p:blipFill>
        <p:spPr>
          <a:xfrm>
            <a:off x="3547872" y="4050791"/>
            <a:ext cx="2578608" cy="1316736"/>
          </a:xfrm>
          <a:prstGeom prst="rect">
            <a:avLst/>
          </a:prstGeom>
        </p:spPr>
      </p:pic>
      <p:sp>
        <p:nvSpPr>
          <p:cNvPr id="20" name="TextBox 19">
            <a:hlinkClick action="ppaction://hlinksldjump" r:id="rId16"/>
          </p:cNvPr>
          <p:cNvSpPr txBox="1"/>
          <p:nvPr/>
        </p:nvSpPr>
        <p:spPr>
          <a:xfrm>
            <a:off x="3547872" y="5431536"/>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ReactMotion（聞き手）</a:t>
            </a:r>
          </a:p>
        </p:txBody>
      </p:sp>
      <p:pic>
        <p:nvPicPr>
          <p:cNvPr id="21" name="Picture 20" descr="dialogue-maai.png">
            <a:hlinkClick action="ppaction://hlinksldjump" r:id="rId17"/>
          </p:cNvPr>
          <p:cNvPicPr>
            <a:picLocks noChangeAspect="1"/>
          </p:cNvPicPr>
          <p:nvPr/>
        </p:nvPicPr>
        <p:blipFill>
          <a:blip r:embed="rId9"/>
          <a:srcRect l="23000" t="20989" r="23000" b="29989"/>
          <a:stretch>
            <a:fillRect/>
          </a:stretch>
        </p:blipFill>
        <p:spPr>
          <a:xfrm>
            <a:off x="6364224" y="4050791"/>
            <a:ext cx="2578608" cy="1316736"/>
          </a:xfrm>
          <a:prstGeom prst="rect">
            <a:avLst/>
          </a:prstGeom>
        </p:spPr>
      </p:pic>
      <p:sp>
        <p:nvSpPr>
          <p:cNvPr id="22" name="TextBox 21">
            <a:hlinkClick action="ppaction://hlinksldjump" r:id="rId17"/>
          </p:cNvPr>
          <p:cNvSpPr txBox="1"/>
          <p:nvPr/>
        </p:nvSpPr>
        <p:spPr>
          <a:xfrm>
            <a:off x="6364224" y="5431536"/>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MaAI（聞き手）</a:t>
            </a:r>
          </a:p>
        </p:txBody>
      </p:sp>
      <p:sp>
        <p:nvSpPr>
          <p:cNvPr id="23" name="TextBox 22">
            <a:hlinkClick action="ppaction://hlinksldjump" r:id="rId10"/>
          </p:cNvPr>
          <p:cNvSpPr txBox="1"/>
          <p:nvPr/>
        </p:nvSpPr>
        <p:spPr>
          <a:xfrm>
            <a:off x="9208008" y="4270248"/>
            <a:ext cx="2048256" cy="39319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B300比較へ</a:t>
            </a:r>
          </a:p>
        </p:txBody>
      </p:sp>
      <p:sp>
        <p:nvSpPr>
          <p:cNvPr id="24" name="TextBox 23">
            <a:hlinkClick action="ppaction://hlinksldjump" r:id="rId18"/>
          </p:cNvPr>
          <p:cNvSpPr txBox="1"/>
          <p:nvPr/>
        </p:nvSpPr>
        <p:spPr>
          <a:xfrm>
            <a:off x="9208008" y="4791456"/>
            <a:ext cx="2048256" cy="39319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文分割デモへ</a:t>
            </a:r>
          </a:p>
        </p:txBody>
      </p:sp>
      <p:sp>
        <p:nvSpPr>
          <p:cNvPr id="25" name="TextBox 24"/>
          <p:cNvSpPr txBox="1"/>
          <p:nvPr/>
        </p:nvSpPr>
        <p:spPr>
          <a:xfrm>
            <a:off x="9208008" y="5321808"/>
            <a:ext cx="2048256" cy="365760"/>
          </a:xfrm>
          <a:prstGeom prst="rect">
            <a:avLst/>
          </a:prstGeom>
          <a:noFill/>
        </p:spPr>
        <p:txBody>
          <a:bodyPr wrap="square" lIns="0" rIns="0" tIns="0" bIns="0" anchor="t">
            <a:spAutoFit/>
          </a:bodyPr>
          <a:lstStyle/>
          <a:p>
            <a:pPr algn="l">
              <a:lnSpc>
                <a:spcPct val="114000"/>
              </a:lnSpc>
              <a:spcAft>
                <a:spcPts val="500"/>
              </a:spcAft>
            </a:pPr>
            <a:r>
              <a:rPr sz="1200" b="0" lang="ja-JP">
                <a:solidFill>
                  <a:srgbClr val="5B707B"/>
                </a:solidFill>
                <a:latin typeface="Noto Sans CJK JP"/>
                <a:ea typeface="Noto Sans CJK JP"/>
              </a:rPr>
              <a:t>動画はすべて埋め込み</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デモ動画：Kimodo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kimodo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23</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kimodo.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kimodo.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発話終了→動作完了観測：15.395秒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kimodo.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kimodo.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5区間の生成処理合計：51.409秒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デモ動画：ARDY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ardy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24</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ardy.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ardy.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発話終了→動作完了観測：187.660秒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ardy.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ardy.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5区間の生成処理合計：38.492秒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デモ動画：MotionLCM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motionlcm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25</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motionlcm.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motionlcm.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発話終了→動作完了観測：19.242秒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motionlcm.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motionlcm.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5区間の生成処理合計：0.570秒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デモ動画：MoMask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momask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26</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momask.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momask.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発話終了→動作完了観測：24.082秒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momask.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momask.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5区間の生成処理合計：1.512秒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デモ動画：MMM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mmm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27</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mmm.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mmm.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発話終了→動作完了観測：23.828秒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mmm.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mmm.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5区間の生成処理合計：0.757秒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デモ動画：ReactMotion / 聞き手の反応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reactmotion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28</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reactmotion.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reactmotion.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発話終了→動作完了観測：18.998秒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reactmotion.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reactmotion.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5区間の生成処理合計：2.597秒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デモ動画：MaAI / 聞き手の反応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maai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29</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maai.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maai.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発話終了→動作完了観測：19.606秒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maai.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maai.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5区間の生成処理合計：8.063秒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第1期（従来条件） / 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デモ動画：文ごとの発話・ジェスチャーを同期して連結</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初期の文分割デモ：発話に合わせた英語の動作指示を使用した別条件の実験</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[R7] segmented/english-lesson*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30</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Kimodo / 公式オンライン</a:t>
            </a:r>
          </a:p>
        </p:txBody>
      </p:sp>
      <p:pic>
        <p:nvPicPr>
          <p:cNvPr id="10" name="Picture 9" descr="segmented-english-lesson.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segmented-english-lesson.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5区間を連結・音声付き・14.133秒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ARDY / Horizon40</a:t>
            </a:r>
          </a:p>
        </p:txBody>
      </p:sp>
      <p:pic>
        <p:nvPicPr>
          <p:cNvPr id="15" name="Picture 14" descr="segmented-english-lesson-ardy.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segmented-english-lesson-ardy.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5区間を連結・音声付き・14.133秒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英訳入力での追加実験</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追加実験：LLM英訳を挟み、3モデルを2環境で実生成</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2026-10-16 / MoLingo・ReMoMask-2・MoMask / 共通5区間と実音声の生徒→先生会話</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31</a:t>
            </a:r>
          </a:p>
        </p:txBody>
      </p:sp>
      <p:sp>
        <p:nvSpPr>
          <p:cNvPr id="9" name="Rounded Rectangle 8"/>
          <p:cNvSpPr/>
          <p:nvPr/>
        </p:nvSpPr>
        <p:spPr>
          <a:xfrm>
            <a:off x="731520" y="2286000"/>
            <a:ext cx="3401568" cy="2148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14016"/>
            <a:ext cx="3035808" cy="384048"/>
          </a:xfrm>
          <a:prstGeom prst="rect">
            <a:avLst/>
          </a:prstGeom>
          <a:noFill/>
        </p:spPr>
        <p:txBody>
          <a:bodyPr wrap="square" lIns="0" rIns="0" tIns="0" bIns="0" anchor="t">
            <a:spAutoFit/>
          </a:bodyPr>
          <a:lstStyle/>
          <a:p>
            <a:pPr algn="l">
              <a:lnSpc>
                <a:spcPct val="114000"/>
              </a:lnSpc>
              <a:spcAft>
                <a:spcPts val="500"/>
              </a:spcAft>
            </a:pPr>
            <a:r>
              <a:rPr sz="1600" b="1" lang="ja-JP">
                <a:solidFill>
                  <a:srgbClr val="5B707B"/>
                </a:solidFill>
                <a:latin typeface="Noto Sans CJK JP"/>
                <a:ea typeface="Noto Sans CJK JP"/>
              </a:rPr>
              <a:t>常駐推論の測定</a:t>
            </a:r>
          </a:p>
        </p:txBody>
      </p:sp>
      <p:sp>
        <p:nvSpPr>
          <p:cNvPr id="11" name="TextBox 10"/>
          <p:cNvSpPr txBox="1"/>
          <p:nvPr/>
        </p:nvSpPr>
        <p:spPr>
          <a:xfrm>
            <a:off x="914400" y="2953512"/>
            <a:ext cx="3035808" cy="758952"/>
          </a:xfrm>
          <a:prstGeom prst="rect">
            <a:avLst/>
          </a:prstGeom>
          <a:noFill/>
        </p:spPr>
        <p:txBody>
          <a:bodyPr wrap="square" lIns="0" rIns="0" tIns="0" bIns="0" anchor="t">
            <a:spAutoFit/>
          </a:bodyPr>
          <a:lstStyle/>
          <a:p>
            <a:pPr algn="l">
              <a:lnSpc>
                <a:spcPct val="114000"/>
              </a:lnSpc>
              <a:spcAft>
                <a:spcPts val="500"/>
              </a:spcAft>
            </a:pPr>
            <a:r>
              <a:rPr sz="4000" b="1" lang="ja-JP">
                <a:solidFill>
                  <a:srgbClr val="007F80"/>
                </a:solidFill>
                <a:latin typeface="Noto Sans CJK JP"/>
                <a:ea typeface="Noto Sans CJK JP"/>
              </a:rPr>
              <a:t>90回</a:t>
            </a:r>
          </a:p>
        </p:txBody>
      </p:sp>
      <p:sp>
        <p:nvSpPr>
          <p:cNvPr id="12" name="TextBox 11"/>
          <p:cNvSpPr txBox="1"/>
          <p:nvPr/>
        </p:nvSpPr>
        <p:spPr>
          <a:xfrm>
            <a:off x="914400" y="3858768"/>
            <a:ext cx="3035808" cy="438912"/>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3モデル×2環境×5文×3 seed</a:t>
            </a:r>
          </a:p>
        </p:txBody>
      </p:sp>
      <p:sp>
        <p:nvSpPr>
          <p:cNvPr id="13" name="Rounded Rectangle 12"/>
          <p:cNvSpPr/>
          <p:nvPr/>
        </p:nvSpPr>
        <p:spPr>
          <a:xfrm>
            <a:off x="4389120" y="2286000"/>
            <a:ext cx="3401568" cy="2148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414016"/>
            <a:ext cx="3035808" cy="384048"/>
          </a:xfrm>
          <a:prstGeom prst="rect">
            <a:avLst/>
          </a:prstGeom>
          <a:noFill/>
        </p:spPr>
        <p:txBody>
          <a:bodyPr wrap="square" lIns="0" rIns="0" tIns="0" bIns="0" anchor="t">
            <a:spAutoFit/>
          </a:bodyPr>
          <a:lstStyle/>
          <a:p>
            <a:pPr algn="l">
              <a:lnSpc>
                <a:spcPct val="114000"/>
              </a:lnSpc>
              <a:spcAft>
                <a:spcPts val="500"/>
              </a:spcAft>
            </a:pPr>
            <a:r>
              <a:rPr sz="1600" b="1" lang="ja-JP">
                <a:solidFill>
                  <a:srgbClr val="5B707B"/>
                </a:solidFill>
                <a:latin typeface="Noto Sans CJK JP"/>
                <a:ea typeface="Noto Sans CJK JP"/>
              </a:rPr>
              <a:t>実音声の会話測定</a:t>
            </a:r>
          </a:p>
        </p:txBody>
      </p:sp>
      <p:sp>
        <p:nvSpPr>
          <p:cNvPr id="15" name="TextBox 14"/>
          <p:cNvSpPr txBox="1"/>
          <p:nvPr/>
        </p:nvSpPr>
        <p:spPr>
          <a:xfrm>
            <a:off x="4572000" y="2953512"/>
            <a:ext cx="3035808" cy="758952"/>
          </a:xfrm>
          <a:prstGeom prst="rect">
            <a:avLst/>
          </a:prstGeom>
          <a:noFill/>
        </p:spPr>
        <p:txBody>
          <a:bodyPr wrap="square" lIns="0" rIns="0" tIns="0" bIns="0" anchor="t">
            <a:spAutoFit/>
          </a:bodyPr>
          <a:lstStyle/>
          <a:p>
            <a:pPr algn="l">
              <a:lnSpc>
                <a:spcPct val="114000"/>
              </a:lnSpc>
              <a:spcAft>
                <a:spcPts val="500"/>
              </a:spcAft>
            </a:pPr>
            <a:r>
              <a:rPr sz="4000" b="1" lang="ja-JP">
                <a:solidFill>
                  <a:srgbClr val="007F80"/>
                </a:solidFill>
                <a:latin typeface="Noto Sans CJK JP"/>
                <a:ea typeface="Noto Sans CJK JP"/>
              </a:rPr>
              <a:t>6回</a:t>
            </a:r>
          </a:p>
        </p:txBody>
      </p:sp>
      <p:sp>
        <p:nvSpPr>
          <p:cNvPr id="16" name="TextBox 15"/>
          <p:cNvSpPr txBox="1"/>
          <p:nvPr/>
        </p:nvSpPr>
        <p:spPr>
          <a:xfrm>
            <a:off x="4572000" y="3858768"/>
            <a:ext cx="3035808" cy="438912"/>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英訳・生成・通信を含む通し実測</a:t>
            </a:r>
          </a:p>
        </p:txBody>
      </p:sp>
      <p:sp>
        <p:nvSpPr>
          <p:cNvPr id="17" name="Rounded Rectangle 16"/>
          <p:cNvSpPr/>
          <p:nvPr/>
        </p:nvSpPr>
        <p:spPr>
          <a:xfrm>
            <a:off x="8046720" y="2286000"/>
            <a:ext cx="3401568" cy="2148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414016"/>
            <a:ext cx="3035808" cy="384048"/>
          </a:xfrm>
          <a:prstGeom prst="rect">
            <a:avLst/>
          </a:prstGeom>
          <a:noFill/>
        </p:spPr>
        <p:txBody>
          <a:bodyPr wrap="square" lIns="0" rIns="0" tIns="0" bIns="0" anchor="t">
            <a:spAutoFit/>
          </a:bodyPr>
          <a:lstStyle/>
          <a:p>
            <a:pPr algn="l">
              <a:lnSpc>
                <a:spcPct val="114000"/>
              </a:lnSpc>
              <a:spcAft>
                <a:spcPts val="500"/>
              </a:spcAft>
            </a:pPr>
            <a:r>
              <a:rPr sz="1600" b="1" lang="ja-JP">
                <a:solidFill>
                  <a:srgbClr val="5B707B"/>
                </a:solidFill>
                <a:latin typeface="Noto Sans CJK JP"/>
                <a:ea typeface="Noto Sans CJK JP"/>
              </a:rPr>
              <a:t>追加した動画</a:t>
            </a:r>
          </a:p>
        </p:txBody>
      </p:sp>
      <p:sp>
        <p:nvSpPr>
          <p:cNvPr id="19" name="TextBox 18"/>
          <p:cNvSpPr txBox="1"/>
          <p:nvPr/>
        </p:nvSpPr>
        <p:spPr>
          <a:xfrm>
            <a:off x="8229600" y="2953512"/>
            <a:ext cx="3035808" cy="758952"/>
          </a:xfrm>
          <a:prstGeom prst="rect">
            <a:avLst/>
          </a:prstGeom>
          <a:noFill/>
        </p:spPr>
        <p:txBody>
          <a:bodyPr wrap="square" lIns="0" rIns="0" tIns="0" bIns="0" anchor="t">
            <a:spAutoFit/>
          </a:bodyPr>
          <a:lstStyle/>
          <a:p>
            <a:pPr algn="l">
              <a:lnSpc>
                <a:spcPct val="114000"/>
              </a:lnSpc>
              <a:spcAft>
                <a:spcPts val="500"/>
              </a:spcAft>
            </a:pPr>
            <a:r>
              <a:rPr sz="4000" b="1" lang="ja-JP">
                <a:solidFill>
                  <a:srgbClr val="007F80"/>
                </a:solidFill>
                <a:latin typeface="Noto Sans CJK JP"/>
                <a:ea typeface="Noto Sans CJK JP"/>
              </a:rPr>
              <a:t>42本</a:t>
            </a:r>
          </a:p>
        </p:txBody>
      </p:sp>
      <p:sp>
        <p:nvSpPr>
          <p:cNvPr id="20" name="TextBox 19"/>
          <p:cNvSpPr txBox="1"/>
          <p:nvPr/>
        </p:nvSpPr>
        <p:spPr>
          <a:xfrm>
            <a:off x="8229600" y="3858768"/>
            <a:ext cx="3035808" cy="438912"/>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本編12本＋区間単独30本</a:t>
            </a:r>
          </a:p>
        </p:txBody>
      </p:sp>
      <p:sp>
        <p:nvSpPr>
          <p:cNvPr id="21" name="Rounded Rectangle 20"/>
          <p:cNvSpPr/>
          <p:nvPr/>
        </p:nvSpPr>
        <p:spPr>
          <a:xfrm>
            <a:off x="731520" y="4800600"/>
            <a:ext cx="10716768" cy="137160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800600"/>
            <a:ext cx="41148" cy="137160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65192"/>
            <a:ext cx="1036929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主な結果</a:t>
            </a:r>
          </a:p>
        </p:txBody>
      </p:sp>
      <p:sp>
        <p:nvSpPr>
          <p:cNvPr id="24" name="TextBox 23"/>
          <p:cNvSpPr txBox="1"/>
          <p:nvPr/>
        </p:nvSpPr>
        <p:spPr>
          <a:xfrm>
            <a:off x="914400" y="5513832"/>
            <a:ext cx="10351008" cy="585216"/>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生成中央値：MoMask 0.168〜0.300秒 / ReMoMask-2 0.277〜0.494秒 / MoLingo 2.217〜3.038秒。</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入力条件</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発話内容は保持し、動作モデルへ渡す文だけLLMで英訳</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共通5区間は同じ英訳を共有。動作指示への書き換えを行わない。音声・字幕は原文のまま。</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32</a:t>
            </a:r>
          </a:p>
        </p:txBody>
      </p:sp>
      <p:sp>
        <p:nvSpPr>
          <p:cNvPr id="9" name="Rectangle 8"/>
          <p:cNvSpPr/>
          <p:nvPr/>
        </p:nvSpPr>
        <p:spPr>
          <a:xfrm>
            <a:off x="694944" y="2167128"/>
            <a:ext cx="10789920" cy="612648"/>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49424"/>
            <a:ext cx="365759" cy="50292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区間</a:t>
            </a:r>
          </a:p>
        </p:txBody>
      </p:sp>
      <p:sp>
        <p:nvSpPr>
          <p:cNvPr id="11" name="TextBox 10"/>
          <p:cNvSpPr txBox="1"/>
          <p:nvPr/>
        </p:nvSpPr>
        <p:spPr>
          <a:xfrm>
            <a:off x="1353312" y="2249424"/>
            <a:ext cx="4389120" cy="50292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元の発話（音声・字幕）</a:t>
            </a:r>
          </a:p>
        </p:txBody>
      </p:sp>
      <p:sp>
        <p:nvSpPr>
          <p:cNvPr id="12" name="TextBox 11"/>
          <p:cNvSpPr txBox="1"/>
          <p:nvPr/>
        </p:nvSpPr>
        <p:spPr>
          <a:xfrm>
            <a:off x="5925312" y="2249424"/>
            <a:ext cx="4754880" cy="50292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LLM英訳（動作モデル入力）</a:t>
            </a:r>
          </a:p>
        </p:txBody>
      </p:sp>
      <p:sp>
        <p:nvSpPr>
          <p:cNvPr id="13" name="TextBox 12"/>
          <p:cNvSpPr txBox="1"/>
          <p:nvPr/>
        </p:nvSpPr>
        <p:spPr>
          <a:xfrm>
            <a:off x="10863072" y="2249424"/>
            <a:ext cx="548640" cy="50292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英訳</a:t>
            </a:r>
          </a:p>
        </p:txBody>
      </p:sp>
      <p:sp>
        <p:nvSpPr>
          <p:cNvPr id="14" name="Rectangle 13"/>
          <p:cNvSpPr/>
          <p:nvPr/>
        </p:nvSpPr>
        <p:spPr>
          <a:xfrm>
            <a:off x="694944" y="2779776"/>
            <a:ext cx="10789920" cy="61264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862072"/>
            <a:ext cx="365759" cy="50292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01</a:t>
            </a:r>
          </a:p>
        </p:txBody>
      </p:sp>
      <p:sp>
        <p:nvSpPr>
          <p:cNvPr id="16" name="TextBox 15"/>
          <p:cNvSpPr txBox="1"/>
          <p:nvPr/>
        </p:nvSpPr>
        <p:spPr>
          <a:xfrm>
            <a:off x="1353312" y="2862072"/>
            <a:ext cx="438912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こんにちは！</a:t>
            </a:r>
          </a:p>
        </p:txBody>
      </p:sp>
      <p:sp>
        <p:nvSpPr>
          <p:cNvPr id="17" name="TextBox 16"/>
          <p:cNvSpPr txBox="1"/>
          <p:nvPr/>
        </p:nvSpPr>
        <p:spPr>
          <a:xfrm>
            <a:off x="5925312" y="2862072"/>
            <a:ext cx="475488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Hello!</a:t>
            </a:r>
          </a:p>
        </p:txBody>
      </p:sp>
      <p:sp>
        <p:nvSpPr>
          <p:cNvPr id="18" name="TextBox 17"/>
          <p:cNvSpPr txBox="1"/>
          <p:nvPr/>
        </p:nvSpPr>
        <p:spPr>
          <a:xfrm>
            <a:off x="10863072" y="2862072"/>
            <a:ext cx="54864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1.061s</a:t>
            </a:r>
          </a:p>
        </p:txBody>
      </p:sp>
      <p:sp>
        <p:nvSpPr>
          <p:cNvPr id="19" name="Rectangle 18"/>
          <p:cNvSpPr/>
          <p:nvPr/>
        </p:nvSpPr>
        <p:spPr>
          <a:xfrm>
            <a:off x="694944" y="3392424"/>
            <a:ext cx="10789920"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474720"/>
            <a:ext cx="365759" cy="50292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02</a:t>
            </a:r>
          </a:p>
        </p:txBody>
      </p:sp>
      <p:sp>
        <p:nvSpPr>
          <p:cNvPr id="21" name="TextBox 20"/>
          <p:cNvSpPr txBox="1"/>
          <p:nvPr/>
        </p:nvSpPr>
        <p:spPr>
          <a:xfrm>
            <a:off x="1353312" y="3474720"/>
            <a:ext cx="438912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今日も一緒に楽しく英語を勉強しましょう！</a:t>
            </a:r>
          </a:p>
        </p:txBody>
      </p:sp>
      <p:sp>
        <p:nvSpPr>
          <p:cNvPr id="22" name="TextBox 21"/>
          <p:cNvSpPr txBox="1"/>
          <p:nvPr/>
        </p:nvSpPr>
        <p:spPr>
          <a:xfrm>
            <a:off x="5925312" y="3474720"/>
            <a:ext cx="475488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Let’s have fun studying English together again today!</a:t>
            </a:r>
          </a:p>
        </p:txBody>
      </p:sp>
      <p:sp>
        <p:nvSpPr>
          <p:cNvPr id="23" name="TextBox 22"/>
          <p:cNvSpPr txBox="1"/>
          <p:nvPr/>
        </p:nvSpPr>
        <p:spPr>
          <a:xfrm>
            <a:off x="10863072" y="3474720"/>
            <a:ext cx="54864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1.075s</a:t>
            </a:r>
          </a:p>
        </p:txBody>
      </p:sp>
      <p:sp>
        <p:nvSpPr>
          <p:cNvPr id="24" name="Rectangle 23"/>
          <p:cNvSpPr/>
          <p:nvPr/>
        </p:nvSpPr>
        <p:spPr>
          <a:xfrm>
            <a:off x="694944" y="4005072"/>
            <a:ext cx="10789920" cy="61264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87368"/>
            <a:ext cx="365759" cy="50292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03</a:t>
            </a:r>
          </a:p>
        </p:txBody>
      </p:sp>
      <p:sp>
        <p:nvSpPr>
          <p:cNvPr id="26" name="TextBox 25"/>
          <p:cNvSpPr txBox="1"/>
          <p:nvPr/>
        </p:nvSpPr>
        <p:spPr>
          <a:xfrm>
            <a:off x="1353312" y="4087368"/>
            <a:ext cx="438912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まずは英語で挨拶してみよう。</a:t>
            </a:r>
          </a:p>
        </p:txBody>
      </p:sp>
      <p:sp>
        <p:nvSpPr>
          <p:cNvPr id="27" name="TextBox 26"/>
          <p:cNvSpPr txBox="1"/>
          <p:nvPr/>
        </p:nvSpPr>
        <p:spPr>
          <a:xfrm>
            <a:off x="5925312" y="4087368"/>
            <a:ext cx="475488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First, let's try greeting in English.</a:t>
            </a:r>
          </a:p>
        </p:txBody>
      </p:sp>
      <p:sp>
        <p:nvSpPr>
          <p:cNvPr id="28" name="TextBox 27"/>
          <p:cNvSpPr txBox="1"/>
          <p:nvPr/>
        </p:nvSpPr>
        <p:spPr>
          <a:xfrm>
            <a:off x="10863072" y="4087368"/>
            <a:ext cx="54864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1.294s</a:t>
            </a:r>
          </a:p>
        </p:txBody>
      </p:sp>
      <p:sp>
        <p:nvSpPr>
          <p:cNvPr id="29" name="Rectangle 28"/>
          <p:cNvSpPr/>
          <p:nvPr/>
        </p:nvSpPr>
        <p:spPr>
          <a:xfrm>
            <a:off x="694944" y="4617720"/>
            <a:ext cx="10789920"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4700016"/>
            <a:ext cx="365759" cy="50292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04</a:t>
            </a:r>
          </a:p>
        </p:txBody>
      </p:sp>
      <p:sp>
        <p:nvSpPr>
          <p:cNvPr id="31" name="TextBox 30"/>
          <p:cNvSpPr txBox="1"/>
          <p:nvPr/>
        </p:nvSpPr>
        <p:spPr>
          <a:xfrm>
            <a:off x="1353312" y="4700016"/>
            <a:ext cx="438912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Hello! How are you today?</a:t>
            </a:r>
          </a:p>
        </p:txBody>
      </p:sp>
      <p:sp>
        <p:nvSpPr>
          <p:cNvPr id="32" name="TextBox 31"/>
          <p:cNvSpPr txBox="1"/>
          <p:nvPr/>
        </p:nvSpPr>
        <p:spPr>
          <a:xfrm>
            <a:off x="5925312" y="4700016"/>
            <a:ext cx="475488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Hello! How are you today?</a:t>
            </a:r>
          </a:p>
        </p:txBody>
      </p:sp>
      <p:sp>
        <p:nvSpPr>
          <p:cNvPr id="33" name="TextBox 32"/>
          <p:cNvSpPr txBox="1"/>
          <p:nvPr/>
        </p:nvSpPr>
        <p:spPr>
          <a:xfrm>
            <a:off x="10863072" y="4700016"/>
            <a:ext cx="54864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0.998s</a:t>
            </a:r>
          </a:p>
        </p:txBody>
      </p:sp>
      <p:sp>
        <p:nvSpPr>
          <p:cNvPr id="34" name="Rectangle 33"/>
          <p:cNvSpPr/>
          <p:nvPr/>
        </p:nvSpPr>
        <p:spPr>
          <a:xfrm>
            <a:off x="694944" y="5230368"/>
            <a:ext cx="10789920" cy="61264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312664"/>
            <a:ext cx="365759" cy="50292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05</a:t>
            </a:r>
          </a:p>
        </p:txBody>
      </p:sp>
      <p:sp>
        <p:nvSpPr>
          <p:cNvPr id="36" name="TextBox 35"/>
          <p:cNvSpPr txBox="1"/>
          <p:nvPr/>
        </p:nvSpPr>
        <p:spPr>
          <a:xfrm>
            <a:off x="1353312" y="5312664"/>
            <a:ext cx="438912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元気なときは、I'm happy! って言ってみてね。</a:t>
            </a:r>
          </a:p>
        </p:txBody>
      </p:sp>
      <p:sp>
        <p:nvSpPr>
          <p:cNvPr id="37" name="TextBox 36"/>
          <p:cNvSpPr txBox="1"/>
          <p:nvPr/>
        </p:nvSpPr>
        <p:spPr>
          <a:xfrm>
            <a:off x="5925312" y="5312664"/>
            <a:ext cx="475488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When you're feeling energetic, try saying, "I'm happy!"</a:t>
            </a:r>
          </a:p>
        </p:txBody>
      </p:sp>
      <p:sp>
        <p:nvSpPr>
          <p:cNvPr id="38" name="TextBox 37"/>
          <p:cNvSpPr txBox="1"/>
          <p:nvPr/>
        </p:nvSpPr>
        <p:spPr>
          <a:xfrm>
            <a:off x="10863072" y="5312664"/>
            <a:ext cx="548640" cy="50292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1.430s</a:t>
            </a:r>
          </a:p>
        </p:txBody>
      </p:sp>
      <p:sp>
        <p:nvSpPr>
          <p:cNvPr id="39" name="TextBox 38"/>
          <p:cNvSpPr txBox="1"/>
          <p:nvPr/>
        </p:nvSpPr>
        <p:spPr>
          <a:xfrm>
            <a:off x="777240" y="6007608"/>
            <a:ext cx="10607040" cy="283464"/>
          </a:xfrm>
          <a:prstGeom prst="rect">
            <a:avLst/>
          </a:prstGeom>
          <a:noFill/>
        </p:spPr>
        <p:txBody>
          <a:bodyPr wrap="square" lIns="0" rIns="0" tIns="0" bIns="0" anchor="t">
            <a:spAutoFit/>
          </a:bodyPr>
          <a:lstStyle/>
          <a:p>
            <a:pPr algn="l">
              <a:lnSpc>
                <a:spcPct val="114000"/>
              </a:lnSpc>
              <a:spcAft>
                <a:spcPts val="500"/>
              </a:spcAft>
            </a:pPr>
            <a:r>
              <a:rPr sz="1300" b="1" lang="ja-JP">
                <a:solidFill>
                  <a:srgbClr val="007F80"/>
                </a:solidFill>
                <a:latin typeface="Noto Sans CJK JP"/>
                <a:ea typeface="Noto Sans CJK JP"/>
              </a:rPr>
              <a:t>会話：受信した教師全文 → LLM英訳 → 常駐モデル → 骨格受信。英訳も通し計測に含める。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計測結果</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常駐生成はMoMaskが最短。会話の待ちは別に計測</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生成中央値：英訳済み共通5区間×3 seed。会話：各条件1回。すべて秒。</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33</a:t>
            </a:r>
          </a:p>
        </p:txBody>
      </p:sp>
      <p:sp>
        <p:nvSpPr>
          <p:cNvPr id="9" name="Rectangle 8"/>
          <p:cNvSpPr/>
          <p:nvPr/>
        </p:nvSpPr>
        <p:spPr>
          <a:xfrm>
            <a:off x="694944" y="2194560"/>
            <a:ext cx="10789920" cy="429768"/>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76856"/>
            <a:ext cx="2377439"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環境</a:t>
            </a:r>
          </a:p>
        </p:txBody>
      </p:sp>
      <p:sp>
        <p:nvSpPr>
          <p:cNvPr id="11" name="TextBox 10"/>
          <p:cNvSpPr txBox="1"/>
          <p:nvPr/>
        </p:nvSpPr>
        <p:spPr>
          <a:xfrm>
            <a:off x="3364991" y="2276856"/>
            <a:ext cx="164592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モデル</a:t>
            </a:r>
          </a:p>
        </p:txBody>
      </p:sp>
      <p:sp>
        <p:nvSpPr>
          <p:cNvPr id="12" name="TextBox 11"/>
          <p:cNvSpPr txBox="1"/>
          <p:nvPr/>
        </p:nvSpPr>
        <p:spPr>
          <a:xfrm>
            <a:off x="5193792" y="2276856"/>
            <a:ext cx="128016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骨格中央値</a:t>
            </a:r>
          </a:p>
        </p:txBody>
      </p:sp>
      <p:sp>
        <p:nvSpPr>
          <p:cNvPr id="13" name="TextBox 12"/>
          <p:cNvSpPr txBox="1"/>
          <p:nvPr/>
        </p:nvSpPr>
        <p:spPr>
          <a:xfrm>
            <a:off x="6656832" y="2276856"/>
            <a:ext cx="128016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会話の英訳</a:t>
            </a:r>
          </a:p>
        </p:txBody>
      </p:sp>
      <p:sp>
        <p:nvSpPr>
          <p:cNvPr id="14" name="TextBox 13"/>
          <p:cNvSpPr txBox="1"/>
          <p:nvPr/>
        </p:nvSpPr>
        <p:spPr>
          <a:xfrm>
            <a:off x="8119871" y="2276856"/>
            <a:ext cx="164592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発話終了→骨格</a:t>
            </a:r>
          </a:p>
        </p:txBody>
      </p:sp>
      <p:sp>
        <p:nvSpPr>
          <p:cNvPr id="15" name="TextBox 14"/>
          <p:cNvSpPr txBox="1"/>
          <p:nvPr/>
        </p:nvSpPr>
        <p:spPr>
          <a:xfrm>
            <a:off x="9948672" y="2276856"/>
            <a:ext cx="146304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Realtime差</a:t>
            </a:r>
          </a:p>
        </p:txBody>
      </p:sp>
      <p:sp>
        <p:nvSpPr>
          <p:cNvPr id="16" name="Rectangle 15"/>
          <p:cNvSpPr/>
          <p:nvPr/>
        </p:nvSpPr>
        <p:spPr>
          <a:xfrm>
            <a:off x="694944" y="2624328"/>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2706624"/>
            <a:ext cx="2377439"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RTX 4090・12GB制限</a:t>
            </a:r>
          </a:p>
        </p:txBody>
      </p:sp>
      <p:sp>
        <p:nvSpPr>
          <p:cNvPr id="18" name="TextBox 17"/>
          <p:cNvSpPr txBox="1"/>
          <p:nvPr/>
        </p:nvSpPr>
        <p:spPr>
          <a:xfrm>
            <a:off x="3364991" y="2706624"/>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MoLingo-263</a:t>
            </a:r>
          </a:p>
        </p:txBody>
      </p:sp>
      <p:sp>
        <p:nvSpPr>
          <p:cNvPr id="19" name="TextBox 18"/>
          <p:cNvSpPr txBox="1"/>
          <p:nvPr/>
        </p:nvSpPr>
        <p:spPr>
          <a:xfrm>
            <a:off x="5193792" y="2706624"/>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2.217</a:t>
            </a:r>
          </a:p>
        </p:txBody>
      </p:sp>
      <p:sp>
        <p:nvSpPr>
          <p:cNvPr id="20" name="TextBox 19"/>
          <p:cNvSpPr txBox="1"/>
          <p:nvPr/>
        </p:nvSpPr>
        <p:spPr>
          <a:xfrm>
            <a:off x="6656832" y="2706624"/>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1.587</a:t>
            </a:r>
          </a:p>
        </p:txBody>
      </p:sp>
      <p:sp>
        <p:nvSpPr>
          <p:cNvPr id="21" name="TextBox 20"/>
          <p:cNvSpPr txBox="1"/>
          <p:nvPr/>
        </p:nvSpPr>
        <p:spPr>
          <a:xfrm>
            <a:off x="8119871" y="2706624"/>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6.175</a:t>
            </a:r>
          </a:p>
        </p:txBody>
      </p:sp>
      <p:sp>
        <p:nvSpPr>
          <p:cNvPr id="22" name="TextBox 21"/>
          <p:cNvSpPr txBox="1"/>
          <p:nvPr/>
        </p:nvSpPr>
        <p:spPr>
          <a:xfrm>
            <a:off x="9948672" y="2706624"/>
            <a:ext cx="146304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+5.597</a:t>
            </a:r>
          </a:p>
        </p:txBody>
      </p:sp>
      <p:sp>
        <p:nvSpPr>
          <p:cNvPr id="23" name="Rectangle 22"/>
          <p:cNvSpPr/>
          <p:nvPr/>
        </p:nvSpPr>
        <p:spPr>
          <a:xfrm>
            <a:off x="694944" y="3054096"/>
            <a:ext cx="10789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3136391"/>
            <a:ext cx="2377439"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RTX 4090・12GB制限</a:t>
            </a:r>
          </a:p>
        </p:txBody>
      </p:sp>
      <p:sp>
        <p:nvSpPr>
          <p:cNvPr id="25" name="TextBox 24"/>
          <p:cNvSpPr txBox="1"/>
          <p:nvPr/>
        </p:nvSpPr>
        <p:spPr>
          <a:xfrm>
            <a:off x="3364991" y="3136391"/>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ReMoMask-2</a:t>
            </a:r>
          </a:p>
        </p:txBody>
      </p:sp>
      <p:sp>
        <p:nvSpPr>
          <p:cNvPr id="26" name="TextBox 25"/>
          <p:cNvSpPr txBox="1"/>
          <p:nvPr/>
        </p:nvSpPr>
        <p:spPr>
          <a:xfrm>
            <a:off x="5193792" y="3136391"/>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0.277</a:t>
            </a:r>
          </a:p>
        </p:txBody>
      </p:sp>
      <p:sp>
        <p:nvSpPr>
          <p:cNvPr id="27" name="TextBox 26"/>
          <p:cNvSpPr txBox="1"/>
          <p:nvPr/>
        </p:nvSpPr>
        <p:spPr>
          <a:xfrm>
            <a:off x="6656832" y="3136391"/>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0.936</a:t>
            </a:r>
          </a:p>
        </p:txBody>
      </p:sp>
      <p:sp>
        <p:nvSpPr>
          <p:cNvPr id="28" name="TextBox 27"/>
          <p:cNvSpPr txBox="1"/>
          <p:nvPr/>
        </p:nvSpPr>
        <p:spPr>
          <a:xfrm>
            <a:off x="8119871" y="3136391"/>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3.302</a:t>
            </a:r>
          </a:p>
        </p:txBody>
      </p:sp>
      <p:sp>
        <p:nvSpPr>
          <p:cNvPr id="29" name="TextBox 28"/>
          <p:cNvSpPr txBox="1"/>
          <p:nvPr/>
        </p:nvSpPr>
        <p:spPr>
          <a:xfrm>
            <a:off x="9948672" y="3136391"/>
            <a:ext cx="146304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+2.592</a:t>
            </a:r>
          </a:p>
        </p:txBody>
      </p:sp>
      <p:sp>
        <p:nvSpPr>
          <p:cNvPr id="30" name="Rectangle 29"/>
          <p:cNvSpPr/>
          <p:nvPr/>
        </p:nvSpPr>
        <p:spPr>
          <a:xfrm>
            <a:off x="694944" y="3483863"/>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3566159"/>
            <a:ext cx="2377439"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RTX 4090・12GB制限</a:t>
            </a:r>
          </a:p>
        </p:txBody>
      </p:sp>
      <p:sp>
        <p:nvSpPr>
          <p:cNvPr id="32" name="TextBox 31"/>
          <p:cNvSpPr txBox="1"/>
          <p:nvPr/>
        </p:nvSpPr>
        <p:spPr>
          <a:xfrm>
            <a:off x="3364991" y="3566159"/>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MoMask</a:t>
            </a:r>
          </a:p>
        </p:txBody>
      </p:sp>
      <p:sp>
        <p:nvSpPr>
          <p:cNvPr id="33" name="TextBox 32"/>
          <p:cNvSpPr txBox="1"/>
          <p:nvPr/>
        </p:nvSpPr>
        <p:spPr>
          <a:xfrm>
            <a:off x="5193792" y="3566159"/>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0.168</a:t>
            </a:r>
          </a:p>
        </p:txBody>
      </p:sp>
      <p:sp>
        <p:nvSpPr>
          <p:cNvPr id="34" name="TextBox 33"/>
          <p:cNvSpPr txBox="1"/>
          <p:nvPr/>
        </p:nvSpPr>
        <p:spPr>
          <a:xfrm>
            <a:off x="6656832" y="3566159"/>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1.167</a:t>
            </a:r>
          </a:p>
        </p:txBody>
      </p:sp>
      <p:sp>
        <p:nvSpPr>
          <p:cNvPr id="35" name="TextBox 34"/>
          <p:cNvSpPr txBox="1"/>
          <p:nvPr/>
        </p:nvSpPr>
        <p:spPr>
          <a:xfrm>
            <a:off x="8119871" y="3566159"/>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3.337</a:t>
            </a:r>
          </a:p>
        </p:txBody>
      </p:sp>
      <p:sp>
        <p:nvSpPr>
          <p:cNvPr id="36" name="TextBox 35"/>
          <p:cNvSpPr txBox="1"/>
          <p:nvPr/>
        </p:nvSpPr>
        <p:spPr>
          <a:xfrm>
            <a:off x="9948672" y="3566159"/>
            <a:ext cx="146304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+2.710</a:t>
            </a:r>
          </a:p>
        </p:txBody>
      </p:sp>
      <p:sp>
        <p:nvSpPr>
          <p:cNvPr id="37" name="Rectangle 36"/>
          <p:cNvSpPr/>
          <p:nvPr/>
        </p:nvSpPr>
        <p:spPr>
          <a:xfrm>
            <a:off x="694944" y="3913631"/>
            <a:ext cx="10789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3995927"/>
            <a:ext cx="2377439"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B300</a:t>
            </a:r>
          </a:p>
        </p:txBody>
      </p:sp>
      <p:sp>
        <p:nvSpPr>
          <p:cNvPr id="39" name="TextBox 38"/>
          <p:cNvSpPr txBox="1"/>
          <p:nvPr/>
        </p:nvSpPr>
        <p:spPr>
          <a:xfrm>
            <a:off x="3364991" y="3995927"/>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MoLingo-263</a:t>
            </a:r>
          </a:p>
        </p:txBody>
      </p:sp>
      <p:sp>
        <p:nvSpPr>
          <p:cNvPr id="40" name="TextBox 39"/>
          <p:cNvSpPr txBox="1"/>
          <p:nvPr/>
        </p:nvSpPr>
        <p:spPr>
          <a:xfrm>
            <a:off x="5193792" y="3995927"/>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3.038</a:t>
            </a:r>
          </a:p>
        </p:txBody>
      </p:sp>
      <p:sp>
        <p:nvSpPr>
          <p:cNvPr id="41" name="TextBox 40"/>
          <p:cNvSpPr txBox="1"/>
          <p:nvPr/>
        </p:nvSpPr>
        <p:spPr>
          <a:xfrm>
            <a:off x="6656832" y="3995927"/>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1.499</a:t>
            </a:r>
          </a:p>
        </p:txBody>
      </p:sp>
      <p:sp>
        <p:nvSpPr>
          <p:cNvPr id="42" name="TextBox 41"/>
          <p:cNvSpPr txBox="1"/>
          <p:nvPr/>
        </p:nvSpPr>
        <p:spPr>
          <a:xfrm>
            <a:off x="8119871" y="3995927"/>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7.756</a:t>
            </a:r>
          </a:p>
        </p:txBody>
      </p:sp>
      <p:sp>
        <p:nvSpPr>
          <p:cNvPr id="43" name="TextBox 42"/>
          <p:cNvSpPr txBox="1"/>
          <p:nvPr/>
        </p:nvSpPr>
        <p:spPr>
          <a:xfrm>
            <a:off x="9948672" y="3995927"/>
            <a:ext cx="146304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+6.863</a:t>
            </a:r>
          </a:p>
        </p:txBody>
      </p:sp>
      <p:sp>
        <p:nvSpPr>
          <p:cNvPr id="44" name="Rectangle 43"/>
          <p:cNvSpPr/>
          <p:nvPr/>
        </p:nvSpPr>
        <p:spPr>
          <a:xfrm>
            <a:off x="694944" y="4343400"/>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4425696"/>
            <a:ext cx="2377439"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B300</a:t>
            </a:r>
          </a:p>
        </p:txBody>
      </p:sp>
      <p:sp>
        <p:nvSpPr>
          <p:cNvPr id="46" name="TextBox 45"/>
          <p:cNvSpPr txBox="1"/>
          <p:nvPr/>
        </p:nvSpPr>
        <p:spPr>
          <a:xfrm>
            <a:off x="3364991" y="4425696"/>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ReMoMask-2</a:t>
            </a:r>
          </a:p>
        </p:txBody>
      </p:sp>
      <p:sp>
        <p:nvSpPr>
          <p:cNvPr id="47" name="TextBox 46"/>
          <p:cNvSpPr txBox="1"/>
          <p:nvPr/>
        </p:nvSpPr>
        <p:spPr>
          <a:xfrm>
            <a:off x="5193792" y="4425696"/>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0.494</a:t>
            </a:r>
          </a:p>
        </p:txBody>
      </p:sp>
      <p:sp>
        <p:nvSpPr>
          <p:cNvPr id="48" name="TextBox 47"/>
          <p:cNvSpPr txBox="1"/>
          <p:nvPr/>
        </p:nvSpPr>
        <p:spPr>
          <a:xfrm>
            <a:off x="6656832" y="4425696"/>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1.437</a:t>
            </a:r>
          </a:p>
        </p:txBody>
      </p:sp>
      <p:sp>
        <p:nvSpPr>
          <p:cNvPr id="49" name="TextBox 48"/>
          <p:cNvSpPr txBox="1"/>
          <p:nvPr/>
        </p:nvSpPr>
        <p:spPr>
          <a:xfrm>
            <a:off x="8119871" y="4425696"/>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5.011</a:t>
            </a:r>
          </a:p>
        </p:txBody>
      </p:sp>
      <p:sp>
        <p:nvSpPr>
          <p:cNvPr id="50" name="TextBox 49"/>
          <p:cNvSpPr txBox="1"/>
          <p:nvPr/>
        </p:nvSpPr>
        <p:spPr>
          <a:xfrm>
            <a:off x="9948672" y="4425696"/>
            <a:ext cx="146304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+4.112</a:t>
            </a:r>
          </a:p>
        </p:txBody>
      </p:sp>
      <p:sp>
        <p:nvSpPr>
          <p:cNvPr id="51" name="Rectangle 50"/>
          <p:cNvSpPr/>
          <p:nvPr/>
        </p:nvSpPr>
        <p:spPr>
          <a:xfrm>
            <a:off x="694944" y="4773168"/>
            <a:ext cx="10789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4855464"/>
            <a:ext cx="2377439"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B300</a:t>
            </a:r>
          </a:p>
        </p:txBody>
      </p:sp>
      <p:sp>
        <p:nvSpPr>
          <p:cNvPr id="53" name="TextBox 52"/>
          <p:cNvSpPr txBox="1"/>
          <p:nvPr/>
        </p:nvSpPr>
        <p:spPr>
          <a:xfrm>
            <a:off x="3364991" y="4855464"/>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MoMask</a:t>
            </a:r>
          </a:p>
        </p:txBody>
      </p:sp>
      <p:sp>
        <p:nvSpPr>
          <p:cNvPr id="54" name="TextBox 53"/>
          <p:cNvSpPr txBox="1"/>
          <p:nvPr/>
        </p:nvSpPr>
        <p:spPr>
          <a:xfrm>
            <a:off x="5193792" y="4855464"/>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0.300</a:t>
            </a:r>
          </a:p>
        </p:txBody>
      </p:sp>
      <p:sp>
        <p:nvSpPr>
          <p:cNvPr id="55" name="TextBox 54"/>
          <p:cNvSpPr txBox="1"/>
          <p:nvPr/>
        </p:nvSpPr>
        <p:spPr>
          <a:xfrm>
            <a:off x="6656832" y="4855464"/>
            <a:ext cx="128016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1.112</a:t>
            </a:r>
          </a:p>
        </p:txBody>
      </p:sp>
      <p:sp>
        <p:nvSpPr>
          <p:cNvPr id="56" name="TextBox 55"/>
          <p:cNvSpPr txBox="1"/>
          <p:nvPr/>
        </p:nvSpPr>
        <p:spPr>
          <a:xfrm>
            <a:off x="8119871" y="4855464"/>
            <a:ext cx="16459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4.217</a:t>
            </a:r>
          </a:p>
        </p:txBody>
      </p:sp>
      <p:sp>
        <p:nvSpPr>
          <p:cNvPr id="57" name="TextBox 56"/>
          <p:cNvSpPr txBox="1"/>
          <p:nvPr/>
        </p:nvSpPr>
        <p:spPr>
          <a:xfrm>
            <a:off x="9948672" y="4855464"/>
            <a:ext cx="146304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+3.404</a:t>
            </a:r>
          </a:p>
        </p:txBody>
      </p:sp>
      <p:sp>
        <p:nvSpPr>
          <p:cNvPr id="58" name="Rounded Rectangle 57"/>
          <p:cNvSpPr/>
          <p:nvPr/>
        </p:nvSpPr>
        <p:spPr>
          <a:xfrm>
            <a:off x="731520" y="5458968"/>
            <a:ext cx="10698480" cy="740664"/>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1520" y="5458968"/>
            <a:ext cx="41148" cy="740664"/>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4400" y="5623559"/>
            <a:ext cx="10351007"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結果の読み方</a:t>
            </a:r>
          </a:p>
        </p:txBody>
      </p:sp>
      <p:sp>
        <p:nvSpPr>
          <p:cNvPr id="61" name="TextBox 60"/>
          <p:cNvSpPr txBox="1"/>
          <p:nvPr/>
        </p:nvSpPr>
        <p:spPr>
          <a:xfrm>
            <a:off x="2743200" y="5660136"/>
            <a:ext cx="8321040" cy="274320"/>
          </a:xfrm>
          <a:prstGeom prst="rect">
            <a:avLst/>
          </a:prstGeom>
          <a:noFill/>
        </p:spPr>
        <p:txBody>
          <a:bodyPr wrap="square" lIns="0" rIns="0" tIns="0" bIns="0" anchor="t">
            <a:spAutoFit/>
          </a:bodyPr>
          <a:lstStyle/>
          <a:p>
            <a:pPr algn="l">
              <a:lnSpc>
                <a:spcPct val="114000"/>
              </a:lnSpc>
              <a:spcAft>
                <a:spcPts val="500"/>
              </a:spcAft>
            </a:pPr>
            <a:r>
              <a:rPr sz="1500" b="1" lang="ja-JP">
                <a:solidFill>
                  <a:srgbClr val="007F80"/>
                </a:solidFill>
                <a:latin typeface="Noto Sans CJK JP"/>
                <a:ea typeface="Noto Sans CJK JP"/>
              </a:rPr>
              <a:t>今回の設定では、3モデルともRTX 4090の生成時間がB300より短い。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ハードウェアと再現条件</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研究室向けの4090と、前回と同じB300を比較</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RTX 5070 / Windowsの実機測定ではない。RAM32GBの強制制限も設けていない。</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34</a:t>
            </a:r>
          </a:p>
        </p:txBody>
      </p:sp>
      <p:sp>
        <p:nvSpPr>
          <p:cNvPr id="9" name="Rectangle 8"/>
          <p:cNvSpPr/>
          <p:nvPr/>
        </p:nvSpPr>
        <p:spPr>
          <a:xfrm>
            <a:off x="694944" y="2176272"/>
            <a:ext cx="10789920" cy="420624"/>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58568"/>
            <a:ext cx="1280160" cy="310896"/>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項目</a:t>
            </a:r>
          </a:p>
        </p:txBody>
      </p:sp>
      <p:sp>
        <p:nvSpPr>
          <p:cNvPr id="11" name="TextBox 10"/>
          <p:cNvSpPr txBox="1"/>
          <p:nvPr/>
        </p:nvSpPr>
        <p:spPr>
          <a:xfrm>
            <a:off x="2267712" y="2258568"/>
            <a:ext cx="2743200" cy="310896"/>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研究室実機（未測定）</a:t>
            </a:r>
          </a:p>
        </p:txBody>
      </p:sp>
      <p:sp>
        <p:nvSpPr>
          <p:cNvPr id="12" name="TextBox 11"/>
          <p:cNvSpPr txBox="1"/>
          <p:nvPr/>
        </p:nvSpPr>
        <p:spPr>
          <a:xfrm>
            <a:off x="5193792" y="2258568"/>
            <a:ext cx="3200400" cy="310896"/>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今回の研究室向け代替</a:t>
            </a:r>
          </a:p>
        </p:txBody>
      </p:sp>
      <p:sp>
        <p:nvSpPr>
          <p:cNvPr id="13" name="TextBox 12"/>
          <p:cNvSpPr txBox="1"/>
          <p:nvPr/>
        </p:nvSpPr>
        <p:spPr>
          <a:xfrm>
            <a:off x="8577072" y="2258568"/>
            <a:ext cx="2834639" cy="310896"/>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今回の上位GPU</a:t>
            </a:r>
          </a:p>
        </p:txBody>
      </p:sp>
      <p:sp>
        <p:nvSpPr>
          <p:cNvPr id="14" name="Rectangle 13"/>
          <p:cNvSpPr/>
          <p:nvPr/>
        </p:nvSpPr>
        <p:spPr>
          <a:xfrm>
            <a:off x="694944" y="2596896"/>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679191"/>
            <a:ext cx="1280160"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GPU</a:t>
            </a:r>
          </a:p>
        </p:txBody>
      </p:sp>
      <p:sp>
        <p:nvSpPr>
          <p:cNvPr id="16" name="TextBox 15"/>
          <p:cNvSpPr txBox="1"/>
          <p:nvPr/>
        </p:nvSpPr>
        <p:spPr>
          <a:xfrm>
            <a:off x="2267712" y="2679191"/>
            <a:ext cx="27432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RTX 5070 12GB</a:t>
            </a:r>
          </a:p>
        </p:txBody>
      </p:sp>
      <p:sp>
        <p:nvSpPr>
          <p:cNvPr id="17" name="TextBox 16"/>
          <p:cNvSpPr txBox="1"/>
          <p:nvPr/>
        </p:nvSpPr>
        <p:spPr>
          <a:xfrm>
            <a:off x="5193792" y="2679191"/>
            <a:ext cx="32004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RTX 4090 24GB</a:t>
            </a:r>
          </a:p>
        </p:txBody>
      </p:sp>
      <p:sp>
        <p:nvSpPr>
          <p:cNvPr id="18" name="TextBox 17"/>
          <p:cNvSpPr txBox="1"/>
          <p:nvPr/>
        </p:nvSpPr>
        <p:spPr>
          <a:xfrm>
            <a:off x="8577072" y="2679191"/>
            <a:ext cx="2834639"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B300 SXM6 AC・公称288GB</a:t>
            </a:r>
          </a:p>
        </p:txBody>
      </p:sp>
      <p:sp>
        <p:nvSpPr>
          <p:cNvPr id="19" name="Rectangle 18"/>
          <p:cNvSpPr/>
          <p:nvPr/>
        </p:nvSpPr>
        <p:spPr>
          <a:xfrm>
            <a:off x="694944" y="3017520"/>
            <a:ext cx="107899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099815"/>
            <a:ext cx="1280160"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CPU</a:t>
            </a:r>
          </a:p>
        </p:txBody>
      </p:sp>
      <p:sp>
        <p:nvSpPr>
          <p:cNvPr id="21" name="TextBox 20"/>
          <p:cNvSpPr txBox="1"/>
          <p:nvPr/>
        </p:nvSpPr>
        <p:spPr>
          <a:xfrm>
            <a:off x="2267712" y="3099815"/>
            <a:ext cx="27432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Ryzen 7 5700X</a:t>
            </a:r>
          </a:p>
        </p:txBody>
      </p:sp>
      <p:sp>
        <p:nvSpPr>
          <p:cNvPr id="22" name="TextBox 21"/>
          <p:cNvSpPr txBox="1"/>
          <p:nvPr/>
        </p:nvSpPr>
        <p:spPr>
          <a:xfrm>
            <a:off x="5193792" y="3099815"/>
            <a:ext cx="32004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AMD EPYC 75F3</a:t>
            </a:r>
          </a:p>
        </p:txBody>
      </p:sp>
      <p:sp>
        <p:nvSpPr>
          <p:cNvPr id="23" name="TextBox 22"/>
          <p:cNvSpPr txBox="1"/>
          <p:nvPr/>
        </p:nvSpPr>
        <p:spPr>
          <a:xfrm>
            <a:off x="8577072" y="3099815"/>
            <a:ext cx="2834639"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Intel Xeon 6740E</a:t>
            </a:r>
          </a:p>
        </p:txBody>
      </p:sp>
      <p:sp>
        <p:nvSpPr>
          <p:cNvPr id="24" name="Rectangle 23"/>
          <p:cNvSpPr/>
          <p:nvPr/>
        </p:nvSpPr>
        <p:spPr>
          <a:xfrm>
            <a:off x="694944" y="3438144"/>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520439"/>
            <a:ext cx="1280160"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CPU制約</a:t>
            </a:r>
          </a:p>
        </p:txBody>
      </p:sp>
      <p:sp>
        <p:nvSpPr>
          <p:cNvPr id="26" name="TextBox 25"/>
          <p:cNvSpPr txBox="1"/>
          <p:nvPr/>
        </p:nvSpPr>
        <p:spPr>
          <a:xfrm>
            <a:off x="2267712" y="3520439"/>
            <a:ext cx="27432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8コア16スレッド</a:t>
            </a:r>
          </a:p>
        </p:txBody>
      </p:sp>
      <p:sp>
        <p:nvSpPr>
          <p:cNvPr id="27" name="TextBox 26"/>
          <p:cNvSpPr txBox="1"/>
          <p:nvPr/>
        </p:nvSpPr>
        <p:spPr>
          <a:xfrm>
            <a:off x="5193792" y="3520439"/>
            <a:ext cx="32004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推論8 / affinity8</a:t>
            </a:r>
          </a:p>
        </p:txBody>
      </p:sp>
      <p:sp>
        <p:nvSpPr>
          <p:cNvPr id="28" name="TextBox 27"/>
          <p:cNvSpPr txBox="1"/>
          <p:nvPr/>
        </p:nvSpPr>
        <p:spPr>
          <a:xfrm>
            <a:off x="8577072" y="3520439"/>
            <a:ext cx="2834639"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推論8 / affinity8</a:t>
            </a:r>
          </a:p>
        </p:txBody>
      </p:sp>
      <p:sp>
        <p:nvSpPr>
          <p:cNvPr id="29" name="Rectangle 28"/>
          <p:cNvSpPr/>
          <p:nvPr/>
        </p:nvSpPr>
        <p:spPr>
          <a:xfrm>
            <a:off x="694944" y="3858768"/>
            <a:ext cx="107899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3941063"/>
            <a:ext cx="1280160"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RAM</a:t>
            </a:r>
          </a:p>
        </p:txBody>
      </p:sp>
      <p:sp>
        <p:nvSpPr>
          <p:cNvPr id="31" name="TextBox 30"/>
          <p:cNvSpPr txBox="1"/>
          <p:nvPr/>
        </p:nvSpPr>
        <p:spPr>
          <a:xfrm>
            <a:off x="2267712" y="3941063"/>
            <a:ext cx="27432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32GB</a:t>
            </a:r>
          </a:p>
        </p:txBody>
      </p:sp>
      <p:sp>
        <p:nvSpPr>
          <p:cNvPr id="32" name="TextBox 31"/>
          <p:cNvSpPr txBox="1"/>
          <p:nvPr/>
        </p:nvSpPr>
        <p:spPr>
          <a:xfrm>
            <a:off x="5193792" y="3941063"/>
            <a:ext cx="32004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割当62GB・上限未設定</a:t>
            </a:r>
          </a:p>
        </p:txBody>
      </p:sp>
      <p:sp>
        <p:nvSpPr>
          <p:cNvPr id="33" name="TextBox 32"/>
          <p:cNvSpPr txBox="1"/>
          <p:nvPr/>
        </p:nvSpPr>
        <p:spPr>
          <a:xfrm>
            <a:off x="8577072" y="3941063"/>
            <a:ext cx="2834639"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割当251GB</a:t>
            </a:r>
          </a:p>
        </p:txBody>
      </p:sp>
      <p:sp>
        <p:nvSpPr>
          <p:cNvPr id="34" name="Rectangle 33"/>
          <p:cNvSpPr/>
          <p:nvPr/>
        </p:nvSpPr>
        <p:spPr>
          <a:xfrm>
            <a:off x="694944" y="4279392"/>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361688"/>
            <a:ext cx="1280160"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OS</a:t>
            </a:r>
          </a:p>
        </p:txBody>
      </p:sp>
      <p:sp>
        <p:nvSpPr>
          <p:cNvPr id="36" name="TextBox 35"/>
          <p:cNvSpPr txBox="1"/>
          <p:nvPr/>
        </p:nvSpPr>
        <p:spPr>
          <a:xfrm>
            <a:off x="2267712" y="4361688"/>
            <a:ext cx="27432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Windows</a:t>
            </a:r>
          </a:p>
        </p:txBody>
      </p:sp>
      <p:sp>
        <p:nvSpPr>
          <p:cNvPr id="37" name="TextBox 36"/>
          <p:cNvSpPr txBox="1"/>
          <p:nvPr/>
        </p:nvSpPr>
        <p:spPr>
          <a:xfrm>
            <a:off x="5193792" y="4361688"/>
            <a:ext cx="32004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Ubuntu 24.04</a:t>
            </a:r>
          </a:p>
        </p:txBody>
      </p:sp>
      <p:sp>
        <p:nvSpPr>
          <p:cNvPr id="38" name="TextBox 37"/>
          <p:cNvSpPr txBox="1"/>
          <p:nvPr/>
        </p:nvSpPr>
        <p:spPr>
          <a:xfrm>
            <a:off x="8577072" y="4361688"/>
            <a:ext cx="2834639"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Ubuntu 24.04</a:t>
            </a:r>
          </a:p>
        </p:txBody>
      </p:sp>
      <p:sp>
        <p:nvSpPr>
          <p:cNvPr id="39" name="Rectangle 38"/>
          <p:cNvSpPr/>
          <p:nvPr/>
        </p:nvSpPr>
        <p:spPr>
          <a:xfrm>
            <a:off x="694944" y="4700016"/>
            <a:ext cx="107899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4782312"/>
            <a:ext cx="1280160"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GPU時給</a:t>
            </a:r>
          </a:p>
        </p:txBody>
      </p:sp>
      <p:sp>
        <p:nvSpPr>
          <p:cNvPr id="41" name="TextBox 40"/>
          <p:cNvSpPr txBox="1"/>
          <p:nvPr/>
        </p:nvSpPr>
        <p:spPr>
          <a:xfrm>
            <a:off x="2267712" y="4782312"/>
            <a:ext cx="27432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研究室機</a:t>
            </a:r>
          </a:p>
        </p:txBody>
      </p:sp>
      <p:sp>
        <p:nvSpPr>
          <p:cNvPr id="42" name="TextBox 41"/>
          <p:cNvSpPr txBox="1"/>
          <p:nvPr/>
        </p:nvSpPr>
        <p:spPr>
          <a:xfrm>
            <a:off x="5193792" y="4782312"/>
            <a:ext cx="3200400"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0.89 USD/h</a:t>
            </a:r>
          </a:p>
        </p:txBody>
      </p:sp>
      <p:sp>
        <p:nvSpPr>
          <p:cNvPr id="43" name="TextBox 42"/>
          <p:cNvSpPr txBox="1"/>
          <p:nvPr/>
        </p:nvSpPr>
        <p:spPr>
          <a:xfrm>
            <a:off x="8577072" y="4782312"/>
            <a:ext cx="2834639" cy="310896"/>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8.99 USD/h</a:t>
            </a:r>
          </a:p>
        </p:txBody>
      </p:sp>
      <p:sp>
        <p:nvSpPr>
          <p:cNvPr id="44" name="TextBox 43"/>
          <p:cNvSpPr txBox="1"/>
          <p:nvPr/>
        </p:nvSpPr>
        <p:spPr>
          <a:xfrm>
            <a:off x="758952" y="5376672"/>
            <a:ext cx="10652760" cy="704088"/>
          </a:xfrm>
          <a:prstGeom prst="rect">
            <a:avLst/>
          </a:prstGeom>
          <a:noFill/>
        </p:spPr>
        <p:txBody>
          <a:bodyPr wrap="square" lIns="0" rIns="0" tIns="0" bIns="0" anchor="t">
            <a:spAutoFit/>
          </a:bodyPr>
          <a:lstStyle/>
          <a:p>
            <a:pPr algn="l">
              <a:lnSpc>
                <a:spcPct val="114000"/>
              </a:lnSpc>
              <a:spcAft>
                <a:spcPts val="500"/>
              </a:spcAft>
            </a:pPr>
            <a:r>
              <a:rPr sz="1600" b="0" lang="ja-JP">
                <a:solidFill>
                  <a:srgbClr val="5B707B"/>
                </a:solidFill>
                <a:latin typeface="Noto Sans CJK JP"/>
                <a:ea typeface="Noto Sans CJK JP"/>
              </a:rPr>
              <a:t>全身22関節を生成し、表示時に上半身を使用。腰・脚を固定し、元の骨格も保持。</a:t>
            </a:r>
          </a:p>
          <a:p>
            <a:pPr algn="l">
              <a:lnSpc>
                <a:spcPct val="114000"/>
              </a:lnSpc>
              <a:spcAft>
                <a:spcPts val="500"/>
              </a:spcAft>
            </a:pPr>
            <a:r>
              <a:rPr sz="1600" b="0" lang="ja-JP">
                <a:solidFill>
                  <a:srgbClr val="5B707B"/>
                </a:solidFill>
                <a:latin typeface="Noto Sans CJK JP"/>
                <a:ea typeface="Noto Sans CJK JP"/>
              </a:rPr>
              <a:t>Torchのピーク割当：約0.89GiB（MoMask）、1.75〜1.78GiB（ReMoMask-2）、3.10GiB（MoLingo）。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費用・保持</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1リクエストの参考料金を、GPU・音声・英訳に分ける</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会話のusageから概算。GPUは生徒音声開始→骨格受信を按分。1ドル200円。ASR・保存等は別。</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35</a:t>
            </a:r>
          </a:p>
        </p:txBody>
      </p:sp>
      <p:sp>
        <p:nvSpPr>
          <p:cNvPr id="37" name="Rounded Rectangle 36"/>
          <p:cNvSpPr/>
          <p:nvPr/>
        </p:nvSpPr>
        <p:spPr>
          <a:xfrm>
            <a:off x="731520" y="5084064"/>
            <a:ext cx="5166360" cy="102412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5084064"/>
            <a:ext cx="41148" cy="102412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248655"/>
            <a:ext cx="481888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GPUレンタル概算：合計 $4.29</a:t>
            </a:r>
          </a:p>
        </p:txBody>
      </p:sp>
      <p:sp>
        <p:nvSpPr>
          <p:cNvPr id="40" name="TextBox 39"/>
          <p:cNvSpPr txBox="1"/>
          <p:nvPr/>
        </p:nvSpPr>
        <p:spPr>
          <a:xfrm>
            <a:off x="914400" y="5797296"/>
            <a:ext cx="4800600" cy="237744"/>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停止済み / 保持・API費用は別</a:t>
            </a:r>
          </a:p>
        </p:txBody>
      </p:sp>
      <p:sp>
        <p:nvSpPr>
          <p:cNvPr id="41" name="Rounded Rectangle 40"/>
          <p:cNvSpPr/>
          <p:nvPr/>
        </p:nvSpPr>
        <p:spPr>
          <a:xfrm>
            <a:off x="6172200" y="5084064"/>
            <a:ext cx="5166360" cy="102412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72200" y="5084064"/>
            <a:ext cx="41148" cy="102412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5248655"/>
            <a:ext cx="481888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保持：10/17 15:37・16:04 JST</a:t>
            </a:r>
          </a:p>
        </p:txBody>
      </p:sp>
      <p:sp>
        <p:nvSpPr>
          <p:cNvPr id="44" name="TextBox 43"/>
          <p:cNvSpPr txBox="1"/>
          <p:nvPr/>
        </p:nvSpPr>
        <p:spPr>
          <a:xfrm>
            <a:off x="6355080" y="5797296"/>
            <a:ext cx="4800600" cy="237744"/>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停止後24h保持／削除監視はクラウド側。</a:t>
            </a:r>
          </a:p>
        </p:txBody>
      </p:sp>
      <p:sp>
        <p:nvSpPr>
          <p:cNvPr id="45" name="Rectangle 44"/>
          <p:cNvSpPr/>
          <p:nvPr/>
        </p:nvSpPr>
        <p:spPr>
          <a:xfrm>
            <a:off x="731520" y="2194560"/>
            <a:ext cx="10698480" cy="384048"/>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1248" y="2276856"/>
            <a:ext cx="2377439" cy="27432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環境</a:t>
            </a:r>
          </a:p>
        </p:txBody>
      </p:sp>
      <p:sp>
        <p:nvSpPr>
          <p:cNvPr id="47" name="TextBox 46"/>
          <p:cNvSpPr txBox="1"/>
          <p:nvPr/>
        </p:nvSpPr>
        <p:spPr>
          <a:xfrm>
            <a:off x="3401568" y="2276856"/>
            <a:ext cx="1645920" cy="27432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モデル</a:t>
            </a:r>
          </a:p>
        </p:txBody>
      </p:sp>
      <p:sp>
        <p:nvSpPr>
          <p:cNvPr id="48" name="TextBox 47"/>
          <p:cNvSpPr txBox="1"/>
          <p:nvPr/>
        </p:nvSpPr>
        <p:spPr>
          <a:xfrm>
            <a:off x="5230368" y="2276856"/>
            <a:ext cx="1280160" cy="27432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応答中GPU</a:t>
            </a:r>
          </a:p>
        </p:txBody>
      </p:sp>
      <p:sp>
        <p:nvSpPr>
          <p:cNvPr id="49" name="TextBox 48"/>
          <p:cNvSpPr txBox="1"/>
          <p:nvPr/>
        </p:nvSpPr>
        <p:spPr>
          <a:xfrm>
            <a:off x="6693407" y="2276856"/>
            <a:ext cx="1463040" cy="27432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Realtime音声</a:t>
            </a:r>
          </a:p>
        </p:txBody>
      </p:sp>
      <p:sp>
        <p:nvSpPr>
          <p:cNvPr id="50" name="TextBox 49"/>
          <p:cNvSpPr txBox="1"/>
          <p:nvPr/>
        </p:nvSpPr>
        <p:spPr>
          <a:xfrm>
            <a:off x="8339327" y="2276856"/>
            <a:ext cx="1280160" cy="27432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LLM英訳</a:t>
            </a:r>
          </a:p>
        </p:txBody>
      </p:sp>
      <p:sp>
        <p:nvSpPr>
          <p:cNvPr id="51" name="TextBox 50"/>
          <p:cNvSpPr txBox="1"/>
          <p:nvPr/>
        </p:nvSpPr>
        <p:spPr>
          <a:xfrm>
            <a:off x="9802367" y="2276856"/>
            <a:ext cx="1554480" cy="27432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参考小計</a:t>
            </a:r>
          </a:p>
        </p:txBody>
      </p:sp>
      <p:sp>
        <p:nvSpPr>
          <p:cNvPr id="52" name="Rectangle 51"/>
          <p:cNvSpPr/>
          <p:nvPr/>
        </p:nvSpPr>
        <p:spPr>
          <a:xfrm>
            <a:off x="731520" y="2578608"/>
            <a:ext cx="10698480" cy="38404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8" y="2660903"/>
            <a:ext cx="2377439" cy="27432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RTX 4090・12GB制限</a:t>
            </a:r>
          </a:p>
        </p:txBody>
      </p:sp>
      <p:sp>
        <p:nvSpPr>
          <p:cNvPr id="54" name="TextBox 53"/>
          <p:cNvSpPr txBox="1"/>
          <p:nvPr/>
        </p:nvSpPr>
        <p:spPr>
          <a:xfrm>
            <a:off x="3401568" y="2660903"/>
            <a:ext cx="164592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MoLingo-263</a:t>
            </a:r>
          </a:p>
        </p:txBody>
      </p:sp>
      <p:sp>
        <p:nvSpPr>
          <p:cNvPr id="55" name="TextBox 54"/>
          <p:cNvSpPr txBox="1"/>
          <p:nvPr/>
        </p:nvSpPr>
        <p:spPr>
          <a:xfrm>
            <a:off x="5230368" y="2660903"/>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¥0.399</a:t>
            </a:r>
          </a:p>
        </p:txBody>
      </p:sp>
      <p:sp>
        <p:nvSpPr>
          <p:cNvPr id="56" name="TextBox 55"/>
          <p:cNvSpPr txBox="1"/>
          <p:nvPr/>
        </p:nvSpPr>
        <p:spPr>
          <a:xfrm>
            <a:off x="6693407" y="2660903"/>
            <a:ext cx="146304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¥1.783</a:t>
            </a:r>
          </a:p>
        </p:txBody>
      </p:sp>
      <p:sp>
        <p:nvSpPr>
          <p:cNvPr id="57" name="TextBox 56"/>
          <p:cNvSpPr txBox="1"/>
          <p:nvPr/>
        </p:nvSpPr>
        <p:spPr>
          <a:xfrm>
            <a:off x="8339327" y="2660903"/>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¥0.502</a:t>
            </a:r>
          </a:p>
        </p:txBody>
      </p:sp>
      <p:sp>
        <p:nvSpPr>
          <p:cNvPr id="58" name="TextBox 57"/>
          <p:cNvSpPr txBox="1"/>
          <p:nvPr/>
        </p:nvSpPr>
        <p:spPr>
          <a:xfrm>
            <a:off x="9802367" y="2660903"/>
            <a:ext cx="155448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¥2.684</a:t>
            </a:r>
          </a:p>
        </p:txBody>
      </p:sp>
      <p:sp>
        <p:nvSpPr>
          <p:cNvPr id="59" name="Rectangle 58"/>
          <p:cNvSpPr/>
          <p:nvPr/>
        </p:nvSpPr>
        <p:spPr>
          <a:xfrm>
            <a:off x="731520" y="2962656"/>
            <a:ext cx="106984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1248" y="3044951"/>
            <a:ext cx="2377439" cy="27432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RTX 4090・12GB制限</a:t>
            </a:r>
          </a:p>
        </p:txBody>
      </p:sp>
      <p:sp>
        <p:nvSpPr>
          <p:cNvPr id="61" name="TextBox 60"/>
          <p:cNvSpPr txBox="1"/>
          <p:nvPr/>
        </p:nvSpPr>
        <p:spPr>
          <a:xfrm>
            <a:off x="3401568" y="3044951"/>
            <a:ext cx="164592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ReMoMask-2</a:t>
            </a:r>
          </a:p>
        </p:txBody>
      </p:sp>
      <p:sp>
        <p:nvSpPr>
          <p:cNvPr id="62" name="TextBox 61"/>
          <p:cNvSpPr txBox="1"/>
          <p:nvPr/>
        </p:nvSpPr>
        <p:spPr>
          <a:xfrm>
            <a:off x="5230368" y="3044951"/>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¥0.257</a:t>
            </a:r>
          </a:p>
        </p:txBody>
      </p:sp>
      <p:sp>
        <p:nvSpPr>
          <p:cNvPr id="63" name="TextBox 62"/>
          <p:cNvSpPr txBox="1"/>
          <p:nvPr/>
        </p:nvSpPr>
        <p:spPr>
          <a:xfrm>
            <a:off x="6693407" y="3044951"/>
            <a:ext cx="146304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¥1.886</a:t>
            </a:r>
          </a:p>
        </p:txBody>
      </p:sp>
      <p:sp>
        <p:nvSpPr>
          <p:cNvPr id="64" name="TextBox 63"/>
          <p:cNvSpPr txBox="1"/>
          <p:nvPr/>
        </p:nvSpPr>
        <p:spPr>
          <a:xfrm>
            <a:off x="8339327" y="3044951"/>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¥0.233</a:t>
            </a:r>
          </a:p>
        </p:txBody>
      </p:sp>
      <p:sp>
        <p:nvSpPr>
          <p:cNvPr id="65" name="TextBox 64"/>
          <p:cNvSpPr txBox="1"/>
          <p:nvPr/>
        </p:nvSpPr>
        <p:spPr>
          <a:xfrm>
            <a:off x="9802367" y="3044951"/>
            <a:ext cx="155448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¥2.376</a:t>
            </a:r>
          </a:p>
        </p:txBody>
      </p:sp>
      <p:sp>
        <p:nvSpPr>
          <p:cNvPr id="66" name="Rectangle 65"/>
          <p:cNvSpPr/>
          <p:nvPr/>
        </p:nvSpPr>
        <p:spPr>
          <a:xfrm>
            <a:off x="731520" y="3346704"/>
            <a:ext cx="10698480" cy="38404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1248" y="3429000"/>
            <a:ext cx="2377439" cy="27432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RTX 4090・12GB制限</a:t>
            </a:r>
          </a:p>
        </p:txBody>
      </p:sp>
      <p:sp>
        <p:nvSpPr>
          <p:cNvPr id="68" name="TextBox 67"/>
          <p:cNvSpPr txBox="1"/>
          <p:nvPr/>
        </p:nvSpPr>
        <p:spPr>
          <a:xfrm>
            <a:off x="3401568" y="3429000"/>
            <a:ext cx="164592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MoMask</a:t>
            </a:r>
          </a:p>
        </p:txBody>
      </p:sp>
      <p:sp>
        <p:nvSpPr>
          <p:cNvPr id="69" name="TextBox 68"/>
          <p:cNvSpPr txBox="1"/>
          <p:nvPr/>
        </p:nvSpPr>
        <p:spPr>
          <a:xfrm>
            <a:off x="5230368" y="3429000"/>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¥0.259</a:t>
            </a:r>
          </a:p>
        </p:txBody>
      </p:sp>
      <p:sp>
        <p:nvSpPr>
          <p:cNvPr id="70" name="TextBox 69"/>
          <p:cNvSpPr txBox="1"/>
          <p:nvPr/>
        </p:nvSpPr>
        <p:spPr>
          <a:xfrm>
            <a:off x="6693407" y="3429000"/>
            <a:ext cx="146304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¥1.830</a:t>
            </a:r>
          </a:p>
        </p:txBody>
      </p:sp>
      <p:sp>
        <p:nvSpPr>
          <p:cNvPr id="71" name="TextBox 70"/>
          <p:cNvSpPr txBox="1"/>
          <p:nvPr/>
        </p:nvSpPr>
        <p:spPr>
          <a:xfrm>
            <a:off x="8339327" y="3429000"/>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¥0.290</a:t>
            </a:r>
          </a:p>
        </p:txBody>
      </p:sp>
      <p:sp>
        <p:nvSpPr>
          <p:cNvPr id="72" name="TextBox 71"/>
          <p:cNvSpPr txBox="1"/>
          <p:nvPr/>
        </p:nvSpPr>
        <p:spPr>
          <a:xfrm>
            <a:off x="9802367" y="3429000"/>
            <a:ext cx="155448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¥2.379</a:t>
            </a:r>
          </a:p>
        </p:txBody>
      </p:sp>
      <p:sp>
        <p:nvSpPr>
          <p:cNvPr id="73" name="Rectangle 72"/>
          <p:cNvSpPr/>
          <p:nvPr/>
        </p:nvSpPr>
        <p:spPr>
          <a:xfrm>
            <a:off x="731520" y="3730752"/>
            <a:ext cx="106984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1248" y="3813048"/>
            <a:ext cx="2377439" cy="27432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B300</a:t>
            </a:r>
          </a:p>
        </p:txBody>
      </p:sp>
      <p:sp>
        <p:nvSpPr>
          <p:cNvPr id="75" name="TextBox 74"/>
          <p:cNvSpPr txBox="1"/>
          <p:nvPr/>
        </p:nvSpPr>
        <p:spPr>
          <a:xfrm>
            <a:off x="3401568" y="3813048"/>
            <a:ext cx="164592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MoLingo-263</a:t>
            </a:r>
          </a:p>
        </p:txBody>
      </p:sp>
      <p:sp>
        <p:nvSpPr>
          <p:cNvPr id="76" name="TextBox 75"/>
          <p:cNvSpPr txBox="1"/>
          <p:nvPr/>
        </p:nvSpPr>
        <p:spPr>
          <a:xfrm>
            <a:off x="5230368" y="3813048"/>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¥4.823</a:t>
            </a:r>
          </a:p>
        </p:txBody>
      </p:sp>
      <p:sp>
        <p:nvSpPr>
          <p:cNvPr id="77" name="TextBox 76"/>
          <p:cNvSpPr txBox="1"/>
          <p:nvPr/>
        </p:nvSpPr>
        <p:spPr>
          <a:xfrm>
            <a:off x="6693407" y="3813048"/>
            <a:ext cx="146304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¥1.762</a:t>
            </a:r>
          </a:p>
        </p:txBody>
      </p:sp>
      <p:sp>
        <p:nvSpPr>
          <p:cNvPr id="78" name="TextBox 77"/>
          <p:cNvSpPr txBox="1"/>
          <p:nvPr/>
        </p:nvSpPr>
        <p:spPr>
          <a:xfrm>
            <a:off x="8339327" y="3813048"/>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¥0.386</a:t>
            </a:r>
          </a:p>
        </p:txBody>
      </p:sp>
      <p:sp>
        <p:nvSpPr>
          <p:cNvPr id="79" name="TextBox 78"/>
          <p:cNvSpPr txBox="1"/>
          <p:nvPr/>
        </p:nvSpPr>
        <p:spPr>
          <a:xfrm>
            <a:off x="9802367" y="3813048"/>
            <a:ext cx="155448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¥6.972</a:t>
            </a:r>
          </a:p>
        </p:txBody>
      </p:sp>
      <p:sp>
        <p:nvSpPr>
          <p:cNvPr id="80" name="Rectangle 79"/>
          <p:cNvSpPr/>
          <p:nvPr/>
        </p:nvSpPr>
        <p:spPr>
          <a:xfrm>
            <a:off x="731520" y="4114800"/>
            <a:ext cx="10698480" cy="38404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41248" y="4197096"/>
            <a:ext cx="2377439" cy="27432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B300</a:t>
            </a:r>
          </a:p>
        </p:txBody>
      </p:sp>
      <p:sp>
        <p:nvSpPr>
          <p:cNvPr id="82" name="TextBox 81"/>
          <p:cNvSpPr txBox="1"/>
          <p:nvPr/>
        </p:nvSpPr>
        <p:spPr>
          <a:xfrm>
            <a:off x="3401568" y="4197096"/>
            <a:ext cx="164592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ReMoMask-2</a:t>
            </a:r>
          </a:p>
        </p:txBody>
      </p:sp>
      <p:sp>
        <p:nvSpPr>
          <p:cNvPr id="83" name="TextBox 82"/>
          <p:cNvSpPr txBox="1"/>
          <p:nvPr/>
        </p:nvSpPr>
        <p:spPr>
          <a:xfrm>
            <a:off x="5230368" y="4197096"/>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¥3.452</a:t>
            </a:r>
          </a:p>
        </p:txBody>
      </p:sp>
      <p:sp>
        <p:nvSpPr>
          <p:cNvPr id="84" name="TextBox 83"/>
          <p:cNvSpPr txBox="1"/>
          <p:nvPr/>
        </p:nvSpPr>
        <p:spPr>
          <a:xfrm>
            <a:off x="6693407" y="4197096"/>
            <a:ext cx="146304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¥1.818</a:t>
            </a:r>
          </a:p>
        </p:txBody>
      </p:sp>
      <p:sp>
        <p:nvSpPr>
          <p:cNvPr id="85" name="TextBox 84"/>
          <p:cNvSpPr txBox="1"/>
          <p:nvPr/>
        </p:nvSpPr>
        <p:spPr>
          <a:xfrm>
            <a:off x="8339327" y="4197096"/>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¥0.295</a:t>
            </a:r>
          </a:p>
        </p:txBody>
      </p:sp>
      <p:sp>
        <p:nvSpPr>
          <p:cNvPr id="86" name="TextBox 85"/>
          <p:cNvSpPr txBox="1"/>
          <p:nvPr/>
        </p:nvSpPr>
        <p:spPr>
          <a:xfrm>
            <a:off x="9802367" y="4197096"/>
            <a:ext cx="155448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¥5.565</a:t>
            </a:r>
          </a:p>
        </p:txBody>
      </p:sp>
      <p:sp>
        <p:nvSpPr>
          <p:cNvPr id="87" name="Rectangle 86"/>
          <p:cNvSpPr/>
          <p:nvPr/>
        </p:nvSpPr>
        <p:spPr>
          <a:xfrm>
            <a:off x="731520" y="4498848"/>
            <a:ext cx="106984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41248" y="4581144"/>
            <a:ext cx="2377439" cy="27432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B300</a:t>
            </a:r>
          </a:p>
        </p:txBody>
      </p:sp>
      <p:sp>
        <p:nvSpPr>
          <p:cNvPr id="89" name="TextBox 88"/>
          <p:cNvSpPr txBox="1"/>
          <p:nvPr/>
        </p:nvSpPr>
        <p:spPr>
          <a:xfrm>
            <a:off x="3401568" y="4581144"/>
            <a:ext cx="164592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MoMask</a:t>
            </a:r>
          </a:p>
        </p:txBody>
      </p:sp>
      <p:sp>
        <p:nvSpPr>
          <p:cNvPr id="90" name="TextBox 89"/>
          <p:cNvSpPr txBox="1"/>
          <p:nvPr/>
        </p:nvSpPr>
        <p:spPr>
          <a:xfrm>
            <a:off x="5230368" y="4581144"/>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¥3.055</a:t>
            </a:r>
          </a:p>
        </p:txBody>
      </p:sp>
      <p:sp>
        <p:nvSpPr>
          <p:cNvPr id="91" name="TextBox 90"/>
          <p:cNvSpPr txBox="1"/>
          <p:nvPr/>
        </p:nvSpPr>
        <p:spPr>
          <a:xfrm>
            <a:off x="6693407" y="4581144"/>
            <a:ext cx="146304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¥1.730</a:t>
            </a:r>
          </a:p>
        </p:txBody>
      </p:sp>
      <p:sp>
        <p:nvSpPr>
          <p:cNvPr id="92" name="TextBox 91"/>
          <p:cNvSpPr txBox="1"/>
          <p:nvPr/>
        </p:nvSpPr>
        <p:spPr>
          <a:xfrm>
            <a:off x="8339327" y="4581144"/>
            <a:ext cx="128016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¥0.305</a:t>
            </a:r>
          </a:p>
        </p:txBody>
      </p:sp>
      <p:sp>
        <p:nvSpPr>
          <p:cNvPr id="93" name="TextBox 92"/>
          <p:cNvSpPr txBox="1"/>
          <p:nvPr/>
        </p:nvSpPr>
        <p:spPr>
          <a:xfrm>
            <a:off x="9802367" y="4581144"/>
            <a:ext cx="155448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¥5.090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出力の確認</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英訳で未知語を回避。発話に合う動作かは別に確認</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同じseed0を採用し、見栄えに合わせた選び直しはしない。元の全身骨格を保存。</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36</a:t>
            </a:r>
          </a:p>
        </p:txBody>
      </p:sp>
      <p:pic>
        <p:nvPicPr>
          <p:cNvPr id="9" name="Picture 8" descr="masked-lab_proxy-dialogue-molingo.jpg"/>
          <p:cNvPicPr>
            <a:picLocks noChangeAspect="1"/>
          </p:cNvPicPr>
          <p:nvPr/>
        </p:nvPicPr>
        <p:blipFill>
          <a:blip r:embed="rId3"/>
          <a:srcRect l="12" r="12"/>
          <a:stretch>
            <a:fillRect/>
          </a:stretch>
        </p:blipFill>
        <p:spPr>
          <a:xfrm>
            <a:off x="731520" y="2240280"/>
            <a:ext cx="3401568" cy="1913839"/>
          </a:xfrm>
          <a:prstGeom prst="rect">
            <a:avLst/>
          </a:prstGeom>
        </p:spPr>
      </p:pic>
      <p:sp>
        <p:nvSpPr>
          <p:cNvPr id="10" name="TextBox 9"/>
          <p:cNvSpPr txBox="1"/>
          <p:nvPr/>
        </p:nvSpPr>
        <p:spPr>
          <a:xfrm>
            <a:off x="731520" y="4315968"/>
            <a:ext cx="3401568" cy="338328"/>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MoLingo-263</a:t>
            </a:r>
          </a:p>
        </p:txBody>
      </p:sp>
      <p:sp>
        <p:nvSpPr>
          <p:cNvPr id="11" name="TextBox 10"/>
          <p:cNvSpPr txBox="1"/>
          <p:nvPr/>
        </p:nvSpPr>
        <p:spPr>
          <a:xfrm>
            <a:off x="731520" y="4809744"/>
            <a:ext cx="3401568" cy="530352"/>
          </a:xfrm>
          <a:prstGeom prst="rect">
            <a:avLst/>
          </a:prstGeom>
          <a:noFill/>
        </p:spPr>
        <p:txBody>
          <a:bodyPr wrap="square" lIns="0" rIns="0" tIns="0" bIns="0" anchor="t">
            <a:spAutoFit/>
          </a:bodyPr>
          <a:lstStyle/>
          <a:p>
            <a:pPr algn="l">
              <a:lnSpc>
                <a:spcPct val="114000"/>
              </a:lnSpc>
              <a:spcAft>
                <a:spcPts val="500"/>
              </a:spcAft>
            </a:pPr>
            <a:r>
              <a:rPr sz="1500" b="0" lang="ja-JP">
                <a:solidFill>
                  <a:srgbClr val="5B707B"/>
                </a:solidFill>
                <a:latin typeface="Noto Sans CJK JP"/>
                <a:ea typeface="Noto Sans CJK JP"/>
              </a:rPr>
              <a:t>T5の未知語：0件</a:t>
            </a:r>
          </a:p>
        </p:txBody>
      </p:sp>
      <p:pic>
        <p:nvPicPr>
          <p:cNvPr id="12" name="Picture 11" descr="masked-lab_proxy-dialogue-remomask2.jpg"/>
          <p:cNvPicPr>
            <a:picLocks noChangeAspect="1"/>
          </p:cNvPicPr>
          <p:nvPr/>
        </p:nvPicPr>
        <p:blipFill>
          <a:blip r:embed="rId4"/>
          <a:srcRect l="12" r="12"/>
          <a:stretch>
            <a:fillRect/>
          </a:stretch>
        </p:blipFill>
        <p:spPr>
          <a:xfrm>
            <a:off x="4389120" y="2240280"/>
            <a:ext cx="3401568" cy="1913839"/>
          </a:xfrm>
          <a:prstGeom prst="rect">
            <a:avLst/>
          </a:prstGeom>
        </p:spPr>
      </p:pic>
      <p:sp>
        <p:nvSpPr>
          <p:cNvPr id="13" name="TextBox 12"/>
          <p:cNvSpPr txBox="1"/>
          <p:nvPr/>
        </p:nvSpPr>
        <p:spPr>
          <a:xfrm>
            <a:off x="4389120" y="4315968"/>
            <a:ext cx="3401568" cy="338328"/>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ReMoMask-2</a:t>
            </a:r>
          </a:p>
        </p:txBody>
      </p:sp>
      <p:sp>
        <p:nvSpPr>
          <p:cNvPr id="14" name="TextBox 13"/>
          <p:cNvSpPr txBox="1"/>
          <p:nvPr/>
        </p:nvSpPr>
        <p:spPr>
          <a:xfrm>
            <a:off x="4389120" y="4809744"/>
            <a:ext cx="3401568" cy="530352"/>
          </a:xfrm>
          <a:prstGeom prst="rect">
            <a:avLst/>
          </a:prstGeom>
          <a:noFill/>
        </p:spPr>
        <p:txBody>
          <a:bodyPr wrap="square" lIns="0" rIns="0" tIns="0" bIns="0" anchor="t">
            <a:spAutoFit/>
          </a:bodyPr>
          <a:lstStyle/>
          <a:p>
            <a:pPr algn="l">
              <a:lnSpc>
                <a:spcPct val="114000"/>
              </a:lnSpc>
              <a:spcAft>
                <a:spcPts val="500"/>
              </a:spcAft>
            </a:pPr>
            <a:r>
              <a:rPr sz="1500" b="0" lang="ja-JP">
                <a:solidFill>
                  <a:srgbClr val="5B707B"/>
                </a:solidFill>
                <a:latin typeface="Noto Sans CJK JP"/>
                <a:ea typeface="Noto Sans CJK JP"/>
              </a:rPr>
              <a:t>一部区間で大きな傾き</a:t>
            </a:r>
          </a:p>
        </p:txBody>
      </p:sp>
      <p:pic>
        <p:nvPicPr>
          <p:cNvPr id="15" name="Picture 14" descr="masked-lab_proxy-dialogue-momask.jpg"/>
          <p:cNvPicPr>
            <a:picLocks noChangeAspect="1"/>
          </p:cNvPicPr>
          <p:nvPr/>
        </p:nvPicPr>
        <p:blipFill>
          <a:blip r:embed="rId5"/>
          <a:srcRect l="12" r="12"/>
          <a:stretch>
            <a:fillRect/>
          </a:stretch>
        </p:blipFill>
        <p:spPr>
          <a:xfrm>
            <a:off x="8046720" y="2240280"/>
            <a:ext cx="3401568" cy="1913839"/>
          </a:xfrm>
          <a:prstGeom prst="rect">
            <a:avLst/>
          </a:prstGeom>
        </p:spPr>
      </p:pic>
      <p:sp>
        <p:nvSpPr>
          <p:cNvPr id="16" name="TextBox 15"/>
          <p:cNvSpPr txBox="1"/>
          <p:nvPr/>
        </p:nvSpPr>
        <p:spPr>
          <a:xfrm>
            <a:off x="8046720" y="4315968"/>
            <a:ext cx="3401568" cy="338328"/>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MoMask</a:t>
            </a:r>
          </a:p>
        </p:txBody>
      </p:sp>
      <p:sp>
        <p:nvSpPr>
          <p:cNvPr id="17" name="TextBox 16"/>
          <p:cNvSpPr txBox="1"/>
          <p:nvPr/>
        </p:nvSpPr>
        <p:spPr>
          <a:xfrm>
            <a:off x="8046720" y="4809744"/>
            <a:ext cx="3401568" cy="530352"/>
          </a:xfrm>
          <a:prstGeom prst="rect">
            <a:avLst/>
          </a:prstGeom>
          <a:noFill/>
        </p:spPr>
        <p:txBody>
          <a:bodyPr wrap="square" lIns="0" rIns="0" tIns="0" bIns="0" anchor="t">
            <a:spAutoFit/>
          </a:bodyPr>
          <a:lstStyle/>
          <a:p>
            <a:pPr algn="l">
              <a:lnSpc>
                <a:spcPct val="114000"/>
              </a:lnSpc>
              <a:spcAft>
                <a:spcPts val="500"/>
              </a:spcAft>
            </a:pPr>
            <a:r>
              <a:rPr sz="1500" b="0" lang="ja-JP">
                <a:solidFill>
                  <a:srgbClr val="5B707B"/>
                </a:solidFill>
                <a:latin typeface="Noto Sans CJK JP"/>
                <a:ea typeface="Noto Sans CJK JP"/>
              </a:rPr>
              <a:t>会話出力に大きな体の傾き</a:t>
            </a:r>
          </a:p>
        </p:txBody>
      </p:sp>
      <p:sp>
        <p:nvSpPr>
          <p:cNvPr id="18" name="TextBox 17"/>
          <p:cNvSpPr txBox="1"/>
          <p:nvPr/>
        </p:nvSpPr>
        <p:spPr>
          <a:xfrm>
            <a:off x="786384" y="5705856"/>
            <a:ext cx="10515600" cy="429768"/>
          </a:xfrm>
          <a:prstGeom prst="rect">
            <a:avLst/>
          </a:prstGeom>
          <a:noFill/>
        </p:spPr>
        <p:txBody>
          <a:bodyPr wrap="square" lIns="0" rIns="0" tIns="0" bIns="0" anchor="t">
            <a:spAutoFit/>
          </a:bodyPr>
          <a:lstStyle/>
          <a:p>
            <a:pPr algn="l">
              <a:lnSpc>
                <a:spcPct val="114000"/>
              </a:lnSpc>
              <a:spcAft>
                <a:spcPts val="500"/>
              </a:spcAft>
            </a:pPr>
            <a:r>
              <a:rPr sz="1700" b="1" lang="ja-JP">
                <a:solidFill>
                  <a:srgbClr val="B56B13"/>
                </a:solidFill>
                <a:latin typeface="Noto Sans CJK JP"/>
                <a:ea typeface="Noto Sans CJK JP"/>
              </a:rPr>
              <a:t>速度・会話の待ち時間・ジェスチャー品質は分けて評価する。FIDや品質順位は未測定。</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まとめと全動画</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GPUの大型化だけでは、Realtimeとの差1秒に届かない</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英訳込み会話の追加待ちは2.59〜6.86秒。ネイティブ推論と待ちの内訳を分けて改善する。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37</a:t>
            </a:r>
          </a:p>
        </p:txBody>
      </p:sp>
      <p:sp>
        <p:nvSpPr>
          <p:cNvPr id="9" name="Rounded Rectangle 8"/>
          <p:cNvSpPr/>
          <p:nvPr/>
        </p:nvSpPr>
        <p:spPr>
          <a:xfrm>
            <a:off x="731520" y="2194560"/>
            <a:ext cx="5212080" cy="19202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194560"/>
            <a:ext cx="41148" cy="19202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359152"/>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確認したこと</a:t>
            </a:r>
          </a:p>
        </p:txBody>
      </p:sp>
      <p:sp>
        <p:nvSpPr>
          <p:cNvPr id="12" name="TextBox 11"/>
          <p:cNvSpPr txBox="1"/>
          <p:nvPr/>
        </p:nvSpPr>
        <p:spPr>
          <a:xfrm>
            <a:off x="914400" y="2907791"/>
            <a:ext cx="4846320" cy="113385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原文を保持したLLM英訳。</a:t>
            </a:r>
          </a:p>
          <a:p>
            <a:pPr algn="l">
              <a:lnSpc>
                <a:spcPct val="114000"/>
              </a:lnSpc>
              <a:spcAft>
                <a:spcPts val="500"/>
              </a:spcAft>
            </a:pPr>
            <a:r>
              <a:rPr sz="1900" b="0" lang="ja-JP">
                <a:solidFill>
                  <a:srgbClr val="183440"/>
                </a:solidFill>
                <a:latin typeface="Noto Sans CJK JP"/>
                <a:ea typeface="Noto Sans CJK JP"/>
              </a:rPr>
              <a:t>3モデル×2GPUの実生成。</a:t>
            </a:r>
          </a:p>
          <a:p>
            <a:pPr algn="l">
              <a:lnSpc>
                <a:spcPct val="114000"/>
              </a:lnSpc>
              <a:spcAft>
                <a:spcPts val="500"/>
              </a:spcAft>
            </a:pPr>
            <a:r>
              <a:rPr sz="1900" b="0" lang="ja-JP">
                <a:solidFill>
                  <a:srgbClr val="183440"/>
                </a:solidFill>
                <a:latin typeface="Noto Sans CJK JP"/>
                <a:ea typeface="Noto Sans CJK JP"/>
              </a:rPr>
              <a:t>90回の常駐測定と会話6回。</a:t>
            </a:r>
          </a:p>
        </p:txBody>
      </p:sp>
      <p:sp>
        <p:nvSpPr>
          <p:cNvPr id="13" name="Rounded Rectangle 12"/>
          <p:cNvSpPr/>
          <p:nvPr/>
        </p:nvSpPr>
        <p:spPr>
          <a:xfrm>
            <a:off x="6217920" y="2194560"/>
            <a:ext cx="5212080" cy="19202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2194560"/>
            <a:ext cx="41148" cy="19202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59152"/>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次に測ること</a:t>
            </a:r>
          </a:p>
        </p:txBody>
      </p:sp>
      <p:sp>
        <p:nvSpPr>
          <p:cNvPr id="16" name="TextBox 15"/>
          <p:cNvSpPr txBox="1"/>
          <p:nvPr/>
        </p:nvSpPr>
        <p:spPr>
          <a:xfrm>
            <a:off x="6400800" y="2907791"/>
            <a:ext cx="4846320" cy="113385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短い意味区間からの生成開始。</a:t>
            </a:r>
          </a:p>
          <a:p>
            <a:pPr algn="l">
              <a:lnSpc>
                <a:spcPct val="114000"/>
              </a:lnSpc>
              <a:spcAft>
                <a:spcPts val="500"/>
              </a:spcAft>
            </a:pPr>
            <a:r>
              <a:rPr sz="1900" b="0" lang="ja-JP">
                <a:solidFill>
                  <a:srgbClr val="183440"/>
                </a:solidFill>
                <a:latin typeface="Noto Sans CJK JP"/>
                <a:ea typeface="Noto Sans CJK JP"/>
              </a:rPr>
              <a:t>翻訳・中継・保存の待ちを減らす。</a:t>
            </a:r>
          </a:p>
          <a:p>
            <a:pPr algn="l">
              <a:lnSpc>
                <a:spcPct val="114000"/>
              </a:lnSpc>
              <a:spcAft>
                <a:spcPts val="500"/>
              </a:spcAft>
            </a:pPr>
            <a:r>
              <a:rPr sz="1900" b="0" lang="ja-JP">
                <a:solidFill>
                  <a:srgbClr val="183440"/>
                </a:solidFill>
                <a:latin typeface="Noto Sans CJK JP"/>
                <a:ea typeface="Noto Sans CJK JP"/>
              </a:rPr>
              <a:t>5070実機と発話への適合性。</a:t>
            </a:r>
          </a:p>
        </p:txBody>
      </p:sp>
      <p:sp>
        <p:nvSpPr>
          <p:cNvPr id="17" name="TextBox 16"/>
          <p:cNvSpPr txBox="1"/>
          <p:nvPr/>
        </p:nvSpPr>
        <p:spPr>
          <a:xfrm>
            <a:off x="786384" y="4681728"/>
            <a:ext cx="10515600"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動画付録：本編12本（38〜43枚目） / 区間単独30本（44〜49枚目）</a:t>
            </a:r>
          </a:p>
        </p:txBody>
      </p:sp>
      <p:sp>
        <p:nvSpPr>
          <p:cNvPr id="18" name="TextBox 17"/>
          <p:cNvSpPr txBox="1"/>
          <p:nvPr/>
        </p:nvSpPr>
        <p:spPr>
          <a:xfrm>
            <a:off x="786384" y="5413248"/>
            <a:ext cx="10515600" cy="420624"/>
          </a:xfrm>
          <a:prstGeom prst="rect">
            <a:avLst/>
          </a:prstGeom>
          <a:noFill/>
        </p:spPr>
        <p:txBody>
          <a:bodyPr wrap="square" lIns="0" rIns="0" tIns="0" bIns="0" anchor="t">
            <a:spAutoFit/>
          </a:bodyPr>
          <a:lstStyle/>
          <a:p>
            <a:pPr algn="l">
              <a:lnSpc>
                <a:spcPct val="114000"/>
              </a:lnSpc>
              <a:spcAft>
                <a:spcPts val="500"/>
              </a:spcAft>
            </a:pPr>
            <a:r>
              <a:rPr sz="1700" b="0" lang="ja-JP">
                <a:solidFill>
                  <a:srgbClr val="5B707B"/>
                </a:solidFill>
                <a:latin typeface="Noto Sans CJK JP"/>
                <a:ea typeface="Noto Sans CJK JP"/>
              </a:rPr>
              <a:t>全60本はPPTXに埋め込み済み。PowerPointで動画をクリックして再生。PDFは静止画。</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本編動画12本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MoLingo-263 / 4090・12GB制限：会話・共通5区間</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各動画をクリックして個別に再生。教師の発話とジェスチャーは同じフレームから開始。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38</a:t>
            </a:r>
          </a:p>
        </p:txBody>
      </p:sp>
      <p:sp>
        <p:nvSpPr>
          <p:cNvPr id="9" name="TextBox 8"/>
          <p:cNvSpPr txBox="1"/>
          <p:nvPr/>
        </p:nvSpPr>
        <p:spPr>
          <a:xfrm>
            <a:off x="694944"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生徒 → 先生の実音声会話</a:t>
            </a:r>
          </a:p>
        </p:txBody>
      </p:sp>
      <p:pic>
        <p:nvPicPr>
          <p:cNvPr id="10" name="Picture 9" descr="masked-lab_proxy-dialogue-molingo.jp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masked-lab_proxy-dialogue-molingo.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骨格受信 6.175s / Realtime差 +5.597s</a:t>
            </a:r>
          </a:p>
        </p:txBody>
      </p:sp>
      <p:sp>
        <p:nvSpPr>
          <p:cNvPr id="13" name="TextBox 12"/>
          <p:cNvSpPr txBox="1"/>
          <p:nvPr/>
        </p:nvSpPr>
        <p:spPr>
          <a:xfrm>
            <a:off x="6254496"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共通の英語学習5区間</a:t>
            </a:r>
          </a:p>
        </p:txBody>
      </p:sp>
      <p:pic>
        <p:nvPicPr>
          <p:cNvPr id="14" name="Picture 13" descr="masked-lab_proxy-common-molingo.jpg"/>
          <p:cNvPicPr>
            <a:picLocks noChangeAspect="1"/>
          </p:cNvPicPr>
          <p:nvPr/>
        </p:nvPicPr>
        <p:blipFill>
          <a:blip r:embed="rId6"/>
          <a:srcRect t="2" b="2"/>
          <a:stretch>
            <a:fillRect/>
          </a:stretch>
        </p:blipFill>
        <p:spPr>
          <a:xfrm>
            <a:off x="6254496" y="2560320"/>
            <a:ext cx="5239512" cy="2947111"/>
          </a:xfrm>
          <a:prstGeom prst="rect">
            <a:avLst/>
          </a:prstGeom>
        </p:spPr>
      </p:pic>
      <p:pic>
        <p:nvPicPr>
          <p:cNvPr id="15" name="masked-lab_proxy-common-molingo.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6254496" y="2560320"/>
            <a:ext cx="5239512" cy="2947111"/>
          </a:xfrm>
          <a:prstGeom prst="rect">
            <a:avLst/>
          </a:prstGeom>
        </p:spPr>
      </p:pic>
      <p:sp>
        <p:nvSpPr>
          <p:cNvPr id="16" name="TextBox 15"/>
          <p:cNvSpPr txBox="1"/>
          <p:nvPr/>
        </p:nvSpPr>
        <p:spPr>
          <a:xfrm>
            <a:off x="6254496"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骨格生成中央値 2.217s / 英訳時間は別計測</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5"/>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本編動画12本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ReMoMask-2 / 4090・12GB制限：会話・共通5区間</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各動画をクリックして個別に再生。教師の発話とジェスチャーは同じフレームから開始。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39</a:t>
            </a:r>
          </a:p>
        </p:txBody>
      </p:sp>
      <p:sp>
        <p:nvSpPr>
          <p:cNvPr id="9" name="TextBox 8"/>
          <p:cNvSpPr txBox="1"/>
          <p:nvPr/>
        </p:nvSpPr>
        <p:spPr>
          <a:xfrm>
            <a:off x="694944"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生徒 → 先生の実音声会話</a:t>
            </a:r>
          </a:p>
        </p:txBody>
      </p:sp>
      <p:pic>
        <p:nvPicPr>
          <p:cNvPr id="10" name="Picture 9" descr="masked-lab_proxy-dialogue-remomask2.jp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masked-lab_proxy-dialogue-remomask2.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骨格受信 3.302s / Realtime差 +2.592s</a:t>
            </a:r>
          </a:p>
        </p:txBody>
      </p:sp>
      <p:sp>
        <p:nvSpPr>
          <p:cNvPr id="13" name="TextBox 12"/>
          <p:cNvSpPr txBox="1"/>
          <p:nvPr/>
        </p:nvSpPr>
        <p:spPr>
          <a:xfrm>
            <a:off x="6254496"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共通の英語学習5区間</a:t>
            </a:r>
          </a:p>
        </p:txBody>
      </p:sp>
      <p:pic>
        <p:nvPicPr>
          <p:cNvPr id="14" name="Picture 13" descr="masked-lab_proxy-common-remomask2.jpg"/>
          <p:cNvPicPr>
            <a:picLocks noChangeAspect="1"/>
          </p:cNvPicPr>
          <p:nvPr/>
        </p:nvPicPr>
        <p:blipFill>
          <a:blip r:embed="rId6"/>
          <a:srcRect t="2" b="2"/>
          <a:stretch>
            <a:fillRect/>
          </a:stretch>
        </p:blipFill>
        <p:spPr>
          <a:xfrm>
            <a:off x="6254496" y="2560320"/>
            <a:ext cx="5239512" cy="2947111"/>
          </a:xfrm>
          <a:prstGeom prst="rect">
            <a:avLst/>
          </a:prstGeom>
        </p:spPr>
      </p:pic>
      <p:pic>
        <p:nvPicPr>
          <p:cNvPr id="15" name="masked-lab_proxy-common-remomask2.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6254496" y="2560320"/>
            <a:ext cx="5239512" cy="2947111"/>
          </a:xfrm>
          <a:prstGeom prst="rect">
            <a:avLst/>
          </a:prstGeom>
        </p:spPr>
      </p:pic>
      <p:sp>
        <p:nvSpPr>
          <p:cNvPr id="16" name="TextBox 15"/>
          <p:cNvSpPr txBox="1"/>
          <p:nvPr/>
        </p:nvSpPr>
        <p:spPr>
          <a:xfrm>
            <a:off x="6254496"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骨格生成中央値 0.277s / 英訳時間は別計測</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本編動画12本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MoMask / 4090・12GB制限：会話・共通5区間</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各動画をクリックして個別に再生。教師の発話とジェスチャーは同じフレームから開始。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40</a:t>
            </a:r>
          </a:p>
        </p:txBody>
      </p:sp>
      <p:sp>
        <p:nvSpPr>
          <p:cNvPr id="9" name="TextBox 8"/>
          <p:cNvSpPr txBox="1"/>
          <p:nvPr/>
        </p:nvSpPr>
        <p:spPr>
          <a:xfrm>
            <a:off x="694944"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生徒 → 先生の実音声会話</a:t>
            </a:r>
          </a:p>
        </p:txBody>
      </p:sp>
      <p:pic>
        <p:nvPicPr>
          <p:cNvPr id="10" name="Picture 9" descr="masked-lab_proxy-dialogue-momask.jp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masked-lab_proxy-dialogue-momask.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骨格受信 3.337s / Realtime差 +2.710s</a:t>
            </a:r>
          </a:p>
        </p:txBody>
      </p:sp>
      <p:sp>
        <p:nvSpPr>
          <p:cNvPr id="13" name="TextBox 12"/>
          <p:cNvSpPr txBox="1"/>
          <p:nvPr/>
        </p:nvSpPr>
        <p:spPr>
          <a:xfrm>
            <a:off x="6254496"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共通の英語学習5区間</a:t>
            </a:r>
          </a:p>
        </p:txBody>
      </p:sp>
      <p:pic>
        <p:nvPicPr>
          <p:cNvPr id="14" name="Picture 13" descr="masked-lab_proxy-common-momask.jpg"/>
          <p:cNvPicPr>
            <a:picLocks noChangeAspect="1"/>
          </p:cNvPicPr>
          <p:nvPr/>
        </p:nvPicPr>
        <p:blipFill>
          <a:blip r:embed="rId6"/>
          <a:srcRect t="2" b="2"/>
          <a:stretch>
            <a:fillRect/>
          </a:stretch>
        </p:blipFill>
        <p:spPr>
          <a:xfrm>
            <a:off x="6254496" y="2560320"/>
            <a:ext cx="5239512" cy="2947111"/>
          </a:xfrm>
          <a:prstGeom prst="rect">
            <a:avLst/>
          </a:prstGeom>
        </p:spPr>
      </p:pic>
      <p:pic>
        <p:nvPicPr>
          <p:cNvPr id="15" name="masked-lab_proxy-common-momask.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6254496" y="2560320"/>
            <a:ext cx="5239512" cy="2947111"/>
          </a:xfrm>
          <a:prstGeom prst="rect">
            <a:avLst/>
          </a:prstGeom>
        </p:spPr>
      </p:pic>
      <p:sp>
        <p:nvSpPr>
          <p:cNvPr id="16" name="TextBox 15"/>
          <p:cNvSpPr txBox="1"/>
          <p:nvPr/>
        </p:nvSpPr>
        <p:spPr>
          <a:xfrm>
            <a:off x="6254496"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骨格生成中央値 0.168s / 英訳時間は別計測</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5"/>
                </p:tgtEl>
              </p:cMediaNode>
            </p:video>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本編動画12本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MoLingo-263 / B300：会話・共通5区間</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各動画をクリックして個別に再生。教師の発話とジェスチャーは同じフレームから開始。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41</a:t>
            </a:r>
          </a:p>
        </p:txBody>
      </p:sp>
      <p:sp>
        <p:nvSpPr>
          <p:cNvPr id="9" name="TextBox 8"/>
          <p:cNvSpPr txBox="1"/>
          <p:nvPr/>
        </p:nvSpPr>
        <p:spPr>
          <a:xfrm>
            <a:off x="694944"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生徒 → 先生の実音声会話</a:t>
            </a:r>
          </a:p>
        </p:txBody>
      </p:sp>
      <p:pic>
        <p:nvPicPr>
          <p:cNvPr id="10" name="Picture 9" descr="masked-b300-dialogue-molingo.jp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masked-b300-dialogue-molingo.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骨格受信 7.756s / Realtime差 +6.863s</a:t>
            </a:r>
          </a:p>
        </p:txBody>
      </p:sp>
      <p:sp>
        <p:nvSpPr>
          <p:cNvPr id="13" name="TextBox 12"/>
          <p:cNvSpPr txBox="1"/>
          <p:nvPr/>
        </p:nvSpPr>
        <p:spPr>
          <a:xfrm>
            <a:off x="6254496"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共通の英語学習5区間</a:t>
            </a:r>
          </a:p>
        </p:txBody>
      </p:sp>
      <p:pic>
        <p:nvPicPr>
          <p:cNvPr id="14" name="Picture 13" descr="masked-b300-common-molingo.jpg"/>
          <p:cNvPicPr>
            <a:picLocks noChangeAspect="1"/>
          </p:cNvPicPr>
          <p:nvPr/>
        </p:nvPicPr>
        <p:blipFill>
          <a:blip r:embed="rId6"/>
          <a:srcRect t="2" b="2"/>
          <a:stretch>
            <a:fillRect/>
          </a:stretch>
        </p:blipFill>
        <p:spPr>
          <a:xfrm>
            <a:off x="6254496" y="2560320"/>
            <a:ext cx="5239512" cy="2947111"/>
          </a:xfrm>
          <a:prstGeom prst="rect">
            <a:avLst/>
          </a:prstGeom>
        </p:spPr>
      </p:pic>
      <p:pic>
        <p:nvPicPr>
          <p:cNvPr id="15" name="masked-b300-common-molingo.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6254496" y="2560320"/>
            <a:ext cx="5239512" cy="2947111"/>
          </a:xfrm>
          <a:prstGeom prst="rect">
            <a:avLst/>
          </a:prstGeom>
        </p:spPr>
      </p:pic>
      <p:sp>
        <p:nvSpPr>
          <p:cNvPr id="16" name="TextBox 15"/>
          <p:cNvSpPr txBox="1"/>
          <p:nvPr/>
        </p:nvSpPr>
        <p:spPr>
          <a:xfrm>
            <a:off x="6254496"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骨格生成中央値 3.038s / 英訳時間は別計測</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5"/>
                </p:tgtEl>
              </p:cMediaNode>
            </p:video>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本編動画12本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ReMoMask-2 / B300：会話・共通5区間</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各動画をクリックして個別に再生。教師の発話とジェスチャーは同じフレームから開始。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42</a:t>
            </a:r>
          </a:p>
        </p:txBody>
      </p:sp>
      <p:sp>
        <p:nvSpPr>
          <p:cNvPr id="9" name="TextBox 8"/>
          <p:cNvSpPr txBox="1"/>
          <p:nvPr/>
        </p:nvSpPr>
        <p:spPr>
          <a:xfrm>
            <a:off x="694944"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生徒 → 先生の実音声会話</a:t>
            </a:r>
          </a:p>
        </p:txBody>
      </p:sp>
      <p:pic>
        <p:nvPicPr>
          <p:cNvPr id="10" name="Picture 9" descr="masked-b300-dialogue-remomask2.jp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masked-b300-dialogue-remomask2.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骨格受信 5.011s / Realtime差 +4.112s</a:t>
            </a:r>
          </a:p>
        </p:txBody>
      </p:sp>
      <p:sp>
        <p:nvSpPr>
          <p:cNvPr id="13" name="TextBox 12"/>
          <p:cNvSpPr txBox="1"/>
          <p:nvPr/>
        </p:nvSpPr>
        <p:spPr>
          <a:xfrm>
            <a:off x="6254496"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共通の英語学習5区間</a:t>
            </a:r>
          </a:p>
        </p:txBody>
      </p:sp>
      <p:pic>
        <p:nvPicPr>
          <p:cNvPr id="14" name="Picture 13" descr="masked-b300-common-remomask2.jpg"/>
          <p:cNvPicPr>
            <a:picLocks noChangeAspect="1"/>
          </p:cNvPicPr>
          <p:nvPr/>
        </p:nvPicPr>
        <p:blipFill>
          <a:blip r:embed="rId6"/>
          <a:srcRect t="2" b="2"/>
          <a:stretch>
            <a:fillRect/>
          </a:stretch>
        </p:blipFill>
        <p:spPr>
          <a:xfrm>
            <a:off x="6254496" y="2560320"/>
            <a:ext cx="5239512" cy="2947111"/>
          </a:xfrm>
          <a:prstGeom prst="rect">
            <a:avLst/>
          </a:prstGeom>
        </p:spPr>
      </p:pic>
      <p:pic>
        <p:nvPicPr>
          <p:cNvPr id="15" name="masked-b300-common-remomask2.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6254496" y="2560320"/>
            <a:ext cx="5239512" cy="2947111"/>
          </a:xfrm>
          <a:prstGeom prst="rect">
            <a:avLst/>
          </a:prstGeom>
        </p:spPr>
      </p:pic>
      <p:sp>
        <p:nvSpPr>
          <p:cNvPr id="16" name="TextBox 15"/>
          <p:cNvSpPr txBox="1"/>
          <p:nvPr/>
        </p:nvSpPr>
        <p:spPr>
          <a:xfrm>
            <a:off x="6254496"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骨格生成中央値 0.494s / 英訳時間は別計測</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5"/>
                </p:tgtEl>
              </p:cMediaNode>
            </p:video>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本編動画12本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MoMask / B300：会話・共通5区間</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各動画をクリックして個別に再生。教師の発話とジェスチャーは同じフレームから開始。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43</a:t>
            </a:r>
          </a:p>
        </p:txBody>
      </p:sp>
      <p:sp>
        <p:nvSpPr>
          <p:cNvPr id="9" name="TextBox 8"/>
          <p:cNvSpPr txBox="1"/>
          <p:nvPr/>
        </p:nvSpPr>
        <p:spPr>
          <a:xfrm>
            <a:off x="694944"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生徒 → 先生の実音声会話</a:t>
            </a:r>
          </a:p>
        </p:txBody>
      </p:sp>
      <p:pic>
        <p:nvPicPr>
          <p:cNvPr id="10" name="Picture 9" descr="masked-b300-dialogue-momask.jp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masked-b300-dialogue-momask.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骨格受信 4.217s / Realtime差 +3.404s</a:t>
            </a:r>
          </a:p>
        </p:txBody>
      </p:sp>
      <p:sp>
        <p:nvSpPr>
          <p:cNvPr id="13" name="TextBox 12"/>
          <p:cNvSpPr txBox="1"/>
          <p:nvPr/>
        </p:nvSpPr>
        <p:spPr>
          <a:xfrm>
            <a:off x="6254496" y="2011680"/>
            <a:ext cx="5239512" cy="365760"/>
          </a:xfrm>
          <a:prstGeom prst="rect">
            <a:avLst/>
          </a:prstGeom>
          <a:noFill/>
        </p:spPr>
        <p:txBody>
          <a:bodyPr wrap="square" lIns="0" rIns="0" tIns="0" bIns="0" anchor="t">
            <a:spAutoFit/>
          </a:bodyPr>
          <a:lstStyle/>
          <a:p>
            <a:pPr algn="l">
              <a:lnSpc>
                <a:spcPct val="114000"/>
              </a:lnSpc>
              <a:spcAft>
                <a:spcPts val="500"/>
              </a:spcAft>
            </a:pPr>
            <a:r>
              <a:rPr sz="1900" b="1" lang="ja-JP">
                <a:solidFill>
                  <a:srgbClr val="007F80"/>
                </a:solidFill>
                <a:latin typeface="Noto Sans CJK JP"/>
                <a:ea typeface="Noto Sans CJK JP"/>
              </a:rPr>
              <a:t>共通の英語学習5区間</a:t>
            </a:r>
          </a:p>
        </p:txBody>
      </p:sp>
      <p:pic>
        <p:nvPicPr>
          <p:cNvPr id="14" name="Picture 13" descr="masked-b300-common-momask.jpg"/>
          <p:cNvPicPr>
            <a:picLocks noChangeAspect="1"/>
          </p:cNvPicPr>
          <p:nvPr/>
        </p:nvPicPr>
        <p:blipFill>
          <a:blip r:embed="rId6"/>
          <a:srcRect t="2" b="2"/>
          <a:stretch>
            <a:fillRect/>
          </a:stretch>
        </p:blipFill>
        <p:spPr>
          <a:xfrm>
            <a:off x="6254496" y="2560320"/>
            <a:ext cx="5239512" cy="2947111"/>
          </a:xfrm>
          <a:prstGeom prst="rect">
            <a:avLst/>
          </a:prstGeom>
        </p:spPr>
      </p:pic>
      <p:pic>
        <p:nvPicPr>
          <p:cNvPr id="15" name="masked-b300-common-momask.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6254496" y="2560320"/>
            <a:ext cx="5239512" cy="2947111"/>
          </a:xfrm>
          <a:prstGeom prst="rect">
            <a:avLst/>
          </a:prstGeom>
        </p:spPr>
      </p:pic>
      <p:sp>
        <p:nvSpPr>
          <p:cNvPr id="16" name="TextBox 15"/>
          <p:cNvSpPr txBox="1"/>
          <p:nvPr/>
        </p:nvSpPr>
        <p:spPr>
          <a:xfrm>
            <a:off x="6254496" y="5623560"/>
            <a:ext cx="5239512" cy="365760"/>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骨格生成中央値 0.300s / 英訳時間は別計測</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5"/>
                </p:tgtEl>
              </p:cMediaNode>
            </p:video>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区間単独動画30本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MoLingo-263 / 4090・12GB制限：区間単独5本</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全5区間の動画を埋め込み。1本ずつ再生してください。入力は原文をLLMで英訳した文。</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44</a:t>
            </a:r>
          </a:p>
        </p:txBody>
      </p:sp>
      <p:pic>
        <p:nvPicPr>
          <p:cNvPr id="9" name="Picture 8" descr="masked-lab_proxy-segment-molingo-01.jpg"/>
          <p:cNvPicPr>
            <a:picLocks noChangeAspect="1"/>
          </p:cNvPicPr>
          <p:nvPr/>
        </p:nvPicPr>
        <p:blipFill>
          <a:blip r:embed="rId3"/>
          <a:srcRect/>
          <a:stretch>
            <a:fillRect/>
          </a:stretch>
        </p:blipFill>
        <p:spPr>
          <a:xfrm>
            <a:off x="713232" y="2084831"/>
            <a:ext cx="3529584" cy="1985391"/>
          </a:xfrm>
          <a:prstGeom prst="rect">
            <a:avLst/>
          </a:prstGeom>
        </p:spPr>
      </p:pic>
      <p:pic>
        <p:nvPicPr>
          <p:cNvPr id="10" name="masked-lab_proxy-segment-molingo-01.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713232" y="2084831"/>
            <a:ext cx="3529584" cy="1985391"/>
          </a:xfrm>
          <a:prstGeom prst="rect">
            <a:avLst/>
          </a:prstGeom>
        </p:spPr>
      </p:pic>
      <p:sp>
        <p:nvSpPr>
          <p:cNvPr id="11" name="TextBox 10"/>
          <p:cNvSpPr txBox="1"/>
          <p:nvPr/>
        </p:nvSpPr>
        <p:spPr>
          <a:xfrm>
            <a:off x="777240"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01</a:t>
            </a:r>
          </a:p>
        </p:txBody>
      </p:sp>
      <p:pic>
        <p:nvPicPr>
          <p:cNvPr id="12" name="Picture 11" descr="masked-lab_proxy-segment-molingo-02.jpg"/>
          <p:cNvPicPr>
            <a:picLocks noChangeAspect="1"/>
          </p:cNvPicPr>
          <p:nvPr/>
        </p:nvPicPr>
        <p:blipFill>
          <a:blip r:embed="rId6"/>
          <a:srcRect/>
          <a:stretch>
            <a:fillRect/>
          </a:stretch>
        </p:blipFill>
        <p:spPr>
          <a:xfrm>
            <a:off x="4489704" y="2084831"/>
            <a:ext cx="3529584" cy="1985391"/>
          </a:xfrm>
          <a:prstGeom prst="rect">
            <a:avLst/>
          </a:prstGeom>
        </p:spPr>
      </p:pic>
      <p:pic>
        <p:nvPicPr>
          <p:cNvPr id="13" name="masked-lab_proxy-segment-molingo-02.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4489704" y="2084831"/>
            <a:ext cx="3529584" cy="1985391"/>
          </a:xfrm>
          <a:prstGeom prst="rect">
            <a:avLst/>
          </a:prstGeom>
        </p:spPr>
      </p:pic>
      <p:sp>
        <p:nvSpPr>
          <p:cNvPr id="14" name="TextBox 13"/>
          <p:cNvSpPr txBox="1"/>
          <p:nvPr/>
        </p:nvSpPr>
        <p:spPr>
          <a:xfrm>
            <a:off x="4553712"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02</a:t>
            </a:r>
          </a:p>
        </p:txBody>
      </p:sp>
      <p:pic>
        <p:nvPicPr>
          <p:cNvPr id="15" name="Picture 14" descr="masked-lab_proxy-segment-molingo-03.jpg"/>
          <p:cNvPicPr>
            <a:picLocks noChangeAspect="1"/>
          </p:cNvPicPr>
          <p:nvPr/>
        </p:nvPicPr>
        <p:blipFill>
          <a:blip r:embed="rId9"/>
          <a:srcRect/>
          <a:stretch>
            <a:fillRect/>
          </a:stretch>
        </p:blipFill>
        <p:spPr>
          <a:xfrm>
            <a:off x="8266175" y="2084831"/>
            <a:ext cx="3529584" cy="1985391"/>
          </a:xfrm>
          <a:prstGeom prst="rect">
            <a:avLst/>
          </a:prstGeom>
        </p:spPr>
      </p:pic>
      <p:pic>
        <p:nvPicPr>
          <p:cNvPr id="16" name="masked-lab_proxy-segment-molingo-03.mp4">
            <a:hlinkClick r:id="" action="ppaction://media"/>
          </p:cNvPr>
          <p:cNvPicPr>
            <a:picLocks noChangeAspect="1"/>
          </p:cNvPicPr>
          <p:nvPr>
            <a:videoFile r:link="rId11"/>
            <p:extLst>
              <p:ext uri="{DAA4B4D4-6D71-4841-9C94-3DE7FCFB9230}">
                <p14:media xmlns:p14="http://schemas.microsoft.com/office/powerpoint/2010/main" r:embed="rId10"/>
              </p:ext>
            </p:extLst>
          </p:nvPr>
        </p:nvPicPr>
        <p:blipFill>
          <a:blip r:embed="rId9"/>
          <a:stretch>
            <a:fillRect/>
          </a:stretch>
        </p:blipFill>
        <p:spPr>
          <a:xfrm>
            <a:off x="8266175" y="2084831"/>
            <a:ext cx="3529584" cy="1985391"/>
          </a:xfrm>
          <a:prstGeom prst="rect">
            <a:avLst/>
          </a:prstGeom>
        </p:spPr>
      </p:pic>
      <p:sp>
        <p:nvSpPr>
          <p:cNvPr id="17" name="TextBox 16"/>
          <p:cNvSpPr txBox="1"/>
          <p:nvPr/>
        </p:nvSpPr>
        <p:spPr>
          <a:xfrm>
            <a:off x="8330183"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03</a:t>
            </a:r>
          </a:p>
        </p:txBody>
      </p:sp>
      <p:pic>
        <p:nvPicPr>
          <p:cNvPr id="18" name="Picture 17" descr="masked-lab_proxy-segment-molingo-04.jpg"/>
          <p:cNvPicPr>
            <a:picLocks noChangeAspect="1"/>
          </p:cNvPicPr>
          <p:nvPr/>
        </p:nvPicPr>
        <p:blipFill>
          <a:blip r:embed="rId12"/>
          <a:srcRect/>
          <a:stretch>
            <a:fillRect/>
          </a:stretch>
        </p:blipFill>
        <p:spPr>
          <a:xfrm>
            <a:off x="713232" y="4178808"/>
            <a:ext cx="3529584" cy="1985391"/>
          </a:xfrm>
          <a:prstGeom prst="rect">
            <a:avLst/>
          </a:prstGeom>
        </p:spPr>
      </p:pic>
      <p:pic>
        <p:nvPicPr>
          <p:cNvPr id="19" name="masked-lab_proxy-segment-molingo-04.mp4">
            <a:hlinkClick r:id="" action="ppaction://media"/>
          </p:cNvPr>
          <p:cNvPicPr>
            <a:picLocks noChangeAspect="1"/>
          </p:cNvPicPr>
          <p:nvPr>
            <a:videoFile r:link="rId14"/>
            <p:extLst>
              <p:ext uri="{DAA4B4D4-6D71-4841-9C94-3DE7FCFB9230}">
                <p14:media xmlns:p14="http://schemas.microsoft.com/office/powerpoint/2010/main" r:embed="rId13"/>
              </p:ext>
            </p:extLst>
          </p:nvPr>
        </p:nvPicPr>
        <p:blipFill>
          <a:blip r:embed="rId12"/>
          <a:stretch>
            <a:fillRect/>
          </a:stretch>
        </p:blipFill>
        <p:spPr>
          <a:xfrm>
            <a:off x="713232" y="4178808"/>
            <a:ext cx="3529584" cy="1985391"/>
          </a:xfrm>
          <a:prstGeom prst="rect">
            <a:avLst/>
          </a:prstGeom>
        </p:spPr>
      </p:pic>
      <p:sp>
        <p:nvSpPr>
          <p:cNvPr id="20" name="TextBox 19"/>
          <p:cNvSpPr txBox="1"/>
          <p:nvPr/>
        </p:nvSpPr>
        <p:spPr>
          <a:xfrm>
            <a:off x="777240"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04</a:t>
            </a:r>
          </a:p>
        </p:txBody>
      </p:sp>
      <p:pic>
        <p:nvPicPr>
          <p:cNvPr id="21" name="Picture 20" descr="masked-lab_proxy-segment-molingo-05.jpg"/>
          <p:cNvPicPr>
            <a:picLocks noChangeAspect="1"/>
          </p:cNvPicPr>
          <p:nvPr/>
        </p:nvPicPr>
        <p:blipFill>
          <a:blip r:embed="rId15"/>
          <a:srcRect/>
          <a:stretch>
            <a:fillRect/>
          </a:stretch>
        </p:blipFill>
        <p:spPr>
          <a:xfrm>
            <a:off x="4489704" y="4178808"/>
            <a:ext cx="3529584" cy="1985391"/>
          </a:xfrm>
          <a:prstGeom prst="rect">
            <a:avLst/>
          </a:prstGeom>
        </p:spPr>
      </p:pic>
      <p:pic>
        <p:nvPicPr>
          <p:cNvPr id="22" name="masked-lab_proxy-segment-molingo-05.mp4">
            <a:hlinkClick r:id="" action="ppaction://media"/>
          </p:cNvPr>
          <p:cNvPicPr>
            <a:picLocks noChangeAspect="1"/>
          </p:cNvPicPr>
          <p:nvPr>
            <a:videoFile r:link="rId17"/>
            <p:extLst>
              <p:ext uri="{DAA4B4D4-6D71-4841-9C94-3DE7FCFB9230}">
                <p14:media xmlns:p14="http://schemas.microsoft.com/office/powerpoint/2010/main" r:embed="rId16"/>
              </p:ext>
            </p:extLst>
          </p:nvPr>
        </p:nvPicPr>
        <p:blipFill>
          <a:blip r:embed="rId15"/>
          <a:stretch>
            <a:fillRect/>
          </a:stretch>
        </p:blipFill>
        <p:spPr>
          <a:xfrm>
            <a:off x="4489704" y="4178808"/>
            <a:ext cx="3529584" cy="1985391"/>
          </a:xfrm>
          <a:prstGeom prst="rect">
            <a:avLst/>
          </a:prstGeom>
        </p:spPr>
      </p:pic>
      <p:sp>
        <p:nvSpPr>
          <p:cNvPr id="23" name="TextBox 22"/>
          <p:cNvSpPr txBox="1"/>
          <p:nvPr/>
        </p:nvSpPr>
        <p:spPr>
          <a:xfrm>
            <a:off x="4553712"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05</a:t>
            </a:r>
          </a:p>
        </p:txBody>
      </p:sp>
      <p:sp>
        <p:nvSpPr>
          <p:cNvPr id="24" name="Rounded Rectangle 23"/>
          <p:cNvSpPr/>
          <p:nvPr/>
        </p:nvSpPr>
        <p:spPr>
          <a:xfrm>
            <a:off x="8275320" y="4407408"/>
            <a:ext cx="3547872" cy="1490472"/>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75320" y="4407408"/>
            <a:ext cx="41148" cy="1490472"/>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4572000"/>
            <a:ext cx="3200400"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原文の音声・字幕を保持</a:t>
            </a:r>
          </a:p>
        </p:txBody>
      </p:sp>
      <p:sp>
        <p:nvSpPr>
          <p:cNvPr id="27" name="TextBox 26"/>
          <p:cNvSpPr txBox="1"/>
          <p:nvPr/>
        </p:nvSpPr>
        <p:spPr>
          <a:xfrm>
            <a:off x="8458200" y="5120640"/>
            <a:ext cx="3182112" cy="704087"/>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骨格入力のみLLM英訳。</a:t>
            </a:r>
          </a:p>
          <a:p>
            <a:pPr algn="l">
              <a:lnSpc>
                <a:spcPct val="114000"/>
              </a:lnSpc>
              <a:spcAft>
                <a:spcPts val="500"/>
              </a:spcAft>
            </a:pPr>
            <a:r>
              <a:rPr sz="1300" b="0" lang="ja-JP">
                <a:solidFill>
                  <a:srgbClr val="183440"/>
                </a:solidFill>
                <a:latin typeface="Noto Sans CJK JP"/>
                <a:ea typeface="Noto Sans CJK JP"/>
              </a:rPr>
              <a:t>フルHD・30fps・上半身表示。</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3"/>
                </p:tgtEl>
              </p:cMediaNode>
            </p:video>
            <p:video>
              <p:cMediaNode vol="80000">
                <p:cTn id="4" fill="hold" display="0">
                  <p:stCondLst>
                    <p:cond delay="indefinite"/>
                  </p:stCondLst>
                </p:cTn>
                <p:tgtEl>
                  <p:spTgt spid="16"/>
                </p:tgtEl>
              </p:cMediaNode>
            </p:video>
            <p:video>
              <p:cMediaNode vol="80000">
                <p:cTn id="5" fill="hold" display="0">
                  <p:stCondLst>
                    <p:cond delay="indefinite"/>
                  </p:stCondLst>
                </p:cTn>
                <p:tgtEl>
                  <p:spTgt spid="19"/>
                </p:tgtEl>
              </p:cMediaNode>
            </p:video>
            <p:video>
              <p:cMediaNode vol="80000">
                <p:cTn id="6" fill="hold" display="0">
                  <p:stCondLst>
                    <p:cond delay="indefinite"/>
                  </p:stCondLst>
                </p:cTn>
                <p:tgtEl>
                  <p:spTgt spid="22"/>
                </p:tgtEl>
              </p:cMediaNode>
            </p:video>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区間単独動画30本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ReMoMask-2 / 4090・12GB制限：区間単独5本</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全5区間の動画を埋め込み。1本ずつ再生してください。入力は原文をLLMで英訳した文。</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45</a:t>
            </a:r>
          </a:p>
        </p:txBody>
      </p:sp>
      <p:pic>
        <p:nvPicPr>
          <p:cNvPr id="9" name="Picture 8" descr="masked-lab_proxy-segment-remomask2-01.jpg"/>
          <p:cNvPicPr>
            <a:picLocks noChangeAspect="1"/>
          </p:cNvPicPr>
          <p:nvPr/>
        </p:nvPicPr>
        <p:blipFill>
          <a:blip r:embed="rId3"/>
          <a:srcRect/>
          <a:stretch>
            <a:fillRect/>
          </a:stretch>
        </p:blipFill>
        <p:spPr>
          <a:xfrm>
            <a:off x="713232" y="2084831"/>
            <a:ext cx="3529584" cy="1985391"/>
          </a:xfrm>
          <a:prstGeom prst="rect">
            <a:avLst/>
          </a:prstGeom>
        </p:spPr>
      </p:pic>
      <p:pic>
        <p:nvPicPr>
          <p:cNvPr id="10" name="masked-lab_proxy-segment-remomask2-01.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713232" y="2084831"/>
            <a:ext cx="3529584" cy="1985391"/>
          </a:xfrm>
          <a:prstGeom prst="rect">
            <a:avLst/>
          </a:prstGeom>
        </p:spPr>
      </p:pic>
      <p:sp>
        <p:nvSpPr>
          <p:cNvPr id="11" name="TextBox 10"/>
          <p:cNvSpPr txBox="1"/>
          <p:nvPr/>
        </p:nvSpPr>
        <p:spPr>
          <a:xfrm>
            <a:off x="777240"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01</a:t>
            </a:r>
          </a:p>
        </p:txBody>
      </p:sp>
      <p:pic>
        <p:nvPicPr>
          <p:cNvPr id="12" name="Picture 11" descr="masked-lab_proxy-segment-remomask2-02.jpg"/>
          <p:cNvPicPr>
            <a:picLocks noChangeAspect="1"/>
          </p:cNvPicPr>
          <p:nvPr/>
        </p:nvPicPr>
        <p:blipFill>
          <a:blip r:embed="rId6"/>
          <a:srcRect/>
          <a:stretch>
            <a:fillRect/>
          </a:stretch>
        </p:blipFill>
        <p:spPr>
          <a:xfrm>
            <a:off x="4489704" y="2084831"/>
            <a:ext cx="3529584" cy="1985391"/>
          </a:xfrm>
          <a:prstGeom prst="rect">
            <a:avLst/>
          </a:prstGeom>
        </p:spPr>
      </p:pic>
      <p:pic>
        <p:nvPicPr>
          <p:cNvPr id="13" name="masked-lab_proxy-segment-remomask2-02.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4489704" y="2084831"/>
            <a:ext cx="3529584" cy="1985391"/>
          </a:xfrm>
          <a:prstGeom prst="rect">
            <a:avLst/>
          </a:prstGeom>
        </p:spPr>
      </p:pic>
      <p:sp>
        <p:nvSpPr>
          <p:cNvPr id="14" name="TextBox 13"/>
          <p:cNvSpPr txBox="1"/>
          <p:nvPr/>
        </p:nvSpPr>
        <p:spPr>
          <a:xfrm>
            <a:off x="4553712"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02</a:t>
            </a:r>
          </a:p>
        </p:txBody>
      </p:sp>
      <p:pic>
        <p:nvPicPr>
          <p:cNvPr id="15" name="Picture 14" descr="masked-lab_proxy-segment-remomask2-03.jpg"/>
          <p:cNvPicPr>
            <a:picLocks noChangeAspect="1"/>
          </p:cNvPicPr>
          <p:nvPr/>
        </p:nvPicPr>
        <p:blipFill>
          <a:blip r:embed="rId9"/>
          <a:srcRect/>
          <a:stretch>
            <a:fillRect/>
          </a:stretch>
        </p:blipFill>
        <p:spPr>
          <a:xfrm>
            <a:off x="8266175" y="2084831"/>
            <a:ext cx="3529584" cy="1985391"/>
          </a:xfrm>
          <a:prstGeom prst="rect">
            <a:avLst/>
          </a:prstGeom>
        </p:spPr>
      </p:pic>
      <p:pic>
        <p:nvPicPr>
          <p:cNvPr id="16" name="masked-lab_proxy-segment-remomask2-03.mp4">
            <a:hlinkClick r:id="" action="ppaction://media"/>
          </p:cNvPr>
          <p:cNvPicPr>
            <a:picLocks noChangeAspect="1"/>
          </p:cNvPicPr>
          <p:nvPr>
            <a:videoFile r:link="rId11"/>
            <p:extLst>
              <p:ext uri="{DAA4B4D4-6D71-4841-9C94-3DE7FCFB9230}">
                <p14:media xmlns:p14="http://schemas.microsoft.com/office/powerpoint/2010/main" r:embed="rId10"/>
              </p:ext>
            </p:extLst>
          </p:nvPr>
        </p:nvPicPr>
        <p:blipFill>
          <a:blip r:embed="rId9"/>
          <a:stretch>
            <a:fillRect/>
          </a:stretch>
        </p:blipFill>
        <p:spPr>
          <a:xfrm>
            <a:off x="8266175" y="2084831"/>
            <a:ext cx="3529584" cy="1985391"/>
          </a:xfrm>
          <a:prstGeom prst="rect">
            <a:avLst/>
          </a:prstGeom>
        </p:spPr>
      </p:pic>
      <p:sp>
        <p:nvSpPr>
          <p:cNvPr id="17" name="TextBox 16"/>
          <p:cNvSpPr txBox="1"/>
          <p:nvPr/>
        </p:nvSpPr>
        <p:spPr>
          <a:xfrm>
            <a:off x="8330183"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03</a:t>
            </a:r>
          </a:p>
        </p:txBody>
      </p:sp>
      <p:pic>
        <p:nvPicPr>
          <p:cNvPr id="18" name="Picture 17" descr="masked-lab_proxy-segment-remomask2-04.jpg"/>
          <p:cNvPicPr>
            <a:picLocks noChangeAspect="1"/>
          </p:cNvPicPr>
          <p:nvPr/>
        </p:nvPicPr>
        <p:blipFill>
          <a:blip r:embed="rId12"/>
          <a:srcRect/>
          <a:stretch>
            <a:fillRect/>
          </a:stretch>
        </p:blipFill>
        <p:spPr>
          <a:xfrm>
            <a:off x="713232" y="4178808"/>
            <a:ext cx="3529584" cy="1985391"/>
          </a:xfrm>
          <a:prstGeom prst="rect">
            <a:avLst/>
          </a:prstGeom>
        </p:spPr>
      </p:pic>
      <p:pic>
        <p:nvPicPr>
          <p:cNvPr id="19" name="masked-lab_proxy-segment-remomask2-04.mp4">
            <a:hlinkClick r:id="" action="ppaction://media"/>
          </p:cNvPr>
          <p:cNvPicPr>
            <a:picLocks noChangeAspect="1"/>
          </p:cNvPicPr>
          <p:nvPr>
            <a:videoFile r:link="rId14"/>
            <p:extLst>
              <p:ext uri="{DAA4B4D4-6D71-4841-9C94-3DE7FCFB9230}">
                <p14:media xmlns:p14="http://schemas.microsoft.com/office/powerpoint/2010/main" r:embed="rId13"/>
              </p:ext>
            </p:extLst>
          </p:nvPr>
        </p:nvPicPr>
        <p:blipFill>
          <a:blip r:embed="rId12"/>
          <a:stretch>
            <a:fillRect/>
          </a:stretch>
        </p:blipFill>
        <p:spPr>
          <a:xfrm>
            <a:off x="713232" y="4178808"/>
            <a:ext cx="3529584" cy="1985391"/>
          </a:xfrm>
          <a:prstGeom prst="rect">
            <a:avLst/>
          </a:prstGeom>
        </p:spPr>
      </p:pic>
      <p:sp>
        <p:nvSpPr>
          <p:cNvPr id="20" name="TextBox 19"/>
          <p:cNvSpPr txBox="1"/>
          <p:nvPr/>
        </p:nvSpPr>
        <p:spPr>
          <a:xfrm>
            <a:off x="777240"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04</a:t>
            </a:r>
          </a:p>
        </p:txBody>
      </p:sp>
      <p:pic>
        <p:nvPicPr>
          <p:cNvPr id="21" name="Picture 20" descr="masked-lab_proxy-segment-remomask2-05.jpg"/>
          <p:cNvPicPr>
            <a:picLocks noChangeAspect="1"/>
          </p:cNvPicPr>
          <p:nvPr/>
        </p:nvPicPr>
        <p:blipFill>
          <a:blip r:embed="rId15"/>
          <a:srcRect/>
          <a:stretch>
            <a:fillRect/>
          </a:stretch>
        </p:blipFill>
        <p:spPr>
          <a:xfrm>
            <a:off x="4489704" y="4178808"/>
            <a:ext cx="3529584" cy="1985391"/>
          </a:xfrm>
          <a:prstGeom prst="rect">
            <a:avLst/>
          </a:prstGeom>
        </p:spPr>
      </p:pic>
      <p:pic>
        <p:nvPicPr>
          <p:cNvPr id="22" name="masked-lab_proxy-segment-remomask2-05.mp4">
            <a:hlinkClick r:id="" action="ppaction://media"/>
          </p:cNvPr>
          <p:cNvPicPr>
            <a:picLocks noChangeAspect="1"/>
          </p:cNvPicPr>
          <p:nvPr>
            <a:videoFile r:link="rId17"/>
            <p:extLst>
              <p:ext uri="{DAA4B4D4-6D71-4841-9C94-3DE7FCFB9230}">
                <p14:media xmlns:p14="http://schemas.microsoft.com/office/powerpoint/2010/main" r:embed="rId16"/>
              </p:ext>
            </p:extLst>
          </p:nvPr>
        </p:nvPicPr>
        <p:blipFill>
          <a:blip r:embed="rId15"/>
          <a:stretch>
            <a:fillRect/>
          </a:stretch>
        </p:blipFill>
        <p:spPr>
          <a:xfrm>
            <a:off x="4489704" y="4178808"/>
            <a:ext cx="3529584" cy="1985391"/>
          </a:xfrm>
          <a:prstGeom prst="rect">
            <a:avLst/>
          </a:prstGeom>
        </p:spPr>
      </p:pic>
      <p:sp>
        <p:nvSpPr>
          <p:cNvPr id="23" name="TextBox 22"/>
          <p:cNvSpPr txBox="1"/>
          <p:nvPr/>
        </p:nvSpPr>
        <p:spPr>
          <a:xfrm>
            <a:off x="4553712"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05</a:t>
            </a:r>
          </a:p>
        </p:txBody>
      </p:sp>
      <p:sp>
        <p:nvSpPr>
          <p:cNvPr id="24" name="Rounded Rectangle 23"/>
          <p:cNvSpPr/>
          <p:nvPr/>
        </p:nvSpPr>
        <p:spPr>
          <a:xfrm>
            <a:off x="8275320" y="4407408"/>
            <a:ext cx="3547872" cy="1490472"/>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75320" y="4407408"/>
            <a:ext cx="41148" cy="1490472"/>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4572000"/>
            <a:ext cx="3200400"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原文の音声・字幕を保持</a:t>
            </a:r>
          </a:p>
        </p:txBody>
      </p:sp>
      <p:sp>
        <p:nvSpPr>
          <p:cNvPr id="27" name="TextBox 26"/>
          <p:cNvSpPr txBox="1"/>
          <p:nvPr/>
        </p:nvSpPr>
        <p:spPr>
          <a:xfrm>
            <a:off x="8458200" y="5120640"/>
            <a:ext cx="3182112" cy="704087"/>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骨格入力のみLLM英訳。</a:t>
            </a:r>
          </a:p>
          <a:p>
            <a:pPr algn="l">
              <a:lnSpc>
                <a:spcPct val="114000"/>
              </a:lnSpc>
              <a:spcAft>
                <a:spcPts val="500"/>
              </a:spcAft>
            </a:pPr>
            <a:r>
              <a:rPr sz="1300" b="0" lang="ja-JP">
                <a:solidFill>
                  <a:srgbClr val="183440"/>
                </a:solidFill>
                <a:latin typeface="Noto Sans CJK JP"/>
                <a:ea typeface="Noto Sans CJK JP"/>
              </a:rPr>
              <a:t>フルHD・30fps・上半身表示。</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3"/>
                </p:tgtEl>
              </p:cMediaNode>
            </p:video>
            <p:video>
              <p:cMediaNode vol="80000">
                <p:cTn id="4" fill="hold" display="0">
                  <p:stCondLst>
                    <p:cond delay="indefinite"/>
                  </p:stCondLst>
                </p:cTn>
                <p:tgtEl>
                  <p:spTgt spid="16"/>
                </p:tgtEl>
              </p:cMediaNode>
            </p:video>
            <p:video>
              <p:cMediaNode vol="80000">
                <p:cTn id="5" fill="hold" display="0">
                  <p:stCondLst>
                    <p:cond delay="indefinite"/>
                  </p:stCondLst>
                </p:cTn>
                <p:tgtEl>
                  <p:spTgt spid="19"/>
                </p:tgtEl>
              </p:cMediaNode>
            </p:video>
            <p:video>
              <p:cMediaNode vol="80000">
                <p:cTn id="6" fill="hold" display="0">
                  <p:stCondLst>
                    <p:cond delay="indefinite"/>
                  </p:stCondLst>
                </p:cTn>
                <p:tgtEl>
                  <p:spTgt spid="22"/>
                </p:tgtEl>
              </p:cMediaNode>
            </p:video>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区間単独動画30本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MoMask / 4090・12GB制限：区間単独5本</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全5区間の動画を埋め込み。1本ずつ再生してください。入力は原文をLLMで英訳した文。</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46</a:t>
            </a:r>
          </a:p>
        </p:txBody>
      </p:sp>
      <p:pic>
        <p:nvPicPr>
          <p:cNvPr id="9" name="Picture 8" descr="masked-lab_proxy-segment-momask-01.jpg"/>
          <p:cNvPicPr>
            <a:picLocks noChangeAspect="1"/>
          </p:cNvPicPr>
          <p:nvPr/>
        </p:nvPicPr>
        <p:blipFill>
          <a:blip r:embed="rId3"/>
          <a:srcRect/>
          <a:stretch>
            <a:fillRect/>
          </a:stretch>
        </p:blipFill>
        <p:spPr>
          <a:xfrm>
            <a:off x="713232" y="2084831"/>
            <a:ext cx="3529584" cy="1985391"/>
          </a:xfrm>
          <a:prstGeom prst="rect">
            <a:avLst/>
          </a:prstGeom>
        </p:spPr>
      </p:pic>
      <p:pic>
        <p:nvPicPr>
          <p:cNvPr id="10" name="masked-lab_proxy-segment-momask-01.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713232" y="2084831"/>
            <a:ext cx="3529584" cy="1985391"/>
          </a:xfrm>
          <a:prstGeom prst="rect">
            <a:avLst/>
          </a:prstGeom>
        </p:spPr>
      </p:pic>
      <p:sp>
        <p:nvSpPr>
          <p:cNvPr id="11" name="TextBox 10"/>
          <p:cNvSpPr txBox="1"/>
          <p:nvPr/>
        </p:nvSpPr>
        <p:spPr>
          <a:xfrm>
            <a:off x="777240"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01</a:t>
            </a:r>
          </a:p>
        </p:txBody>
      </p:sp>
      <p:pic>
        <p:nvPicPr>
          <p:cNvPr id="12" name="Picture 11" descr="masked-lab_proxy-segment-momask-02.jpg"/>
          <p:cNvPicPr>
            <a:picLocks noChangeAspect="1"/>
          </p:cNvPicPr>
          <p:nvPr/>
        </p:nvPicPr>
        <p:blipFill>
          <a:blip r:embed="rId6"/>
          <a:srcRect/>
          <a:stretch>
            <a:fillRect/>
          </a:stretch>
        </p:blipFill>
        <p:spPr>
          <a:xfrm>
            <a:off x="4489704" y="2084831"/>
            <a:ext cx="3529584" cy="1985391"/>
          </a:xfrm>
          <a:prstGeom prst="rect">
            <a:avLst/>
          </a:prstGeom>
        </p:spPr>
      </p:pic>
      <p:pic>
        <p:nvPicPr>
          <p:cNvPr id="13" name="masked-lab_proxy-segment-momask-02.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4489704" y="2084831"/>
            <a:ext cx="3529584" cy="1985391"/>
          </a:xfrm>
          <a:prstGeom prst="rect">
            <a:avLst/>
          </a:prstGeom>
        </p:spPr>
      </p:pic>
      <p:sp>
        <p:nvSpPr>
          <p:cNvPr id="14" name="TextBox 13"/>
          <p:cNvSpPr txBox="1"/>
          <p:nvPr/>
        </p:nvSpPr>
        <p:spPr>
          <a:xfrm>
            <a:off x="4553712"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02</a:t>
            </a:r>
          </a:p>
        </p:txBody>
      </p:sp>
      <p:pic>
        <p:nvPicPr>
          <p:cNvPr id="15" name="Picture 14" descr="masked-lab_proxy-segment-momask-03.jpg"/>
          <p:cNvPicPr>
            <a:picLocks noChangeAspect="1"/>
          </p:cNvPicPr>
          <p:nvPr/>
        </p:nvPicPr>
        <p:blipFill>
          <a:blip r:embed="rId9"/>
          <a:srcRect/>
          <a:stretch>
            <a:fillRect/>
          </a:stretch>
        </p:blipFill>
        <p:spPr>
          <a:xfrm>
            <a:off x="8266175" y="2084831"/>
            <a:ext cx="3529584" cy="1985391"/>
          </a:xfrm>
          <a:prstGeom prst="rect">
            <a:avLst/>
          </a:prstGeom>
        </p:spPr>
      </p:pic>
      <p:pic>
        <p:nvPicPr>
          <p:cNvPr id="16" name="masked-lab_proxy-segment-momask-03.mp4">
            <a:hlinkClick r:id="" action="ppaction://media"/>
          </p:cNvPr>
          <p:cNvPicPr>
            <a:picLocks noChangeAspect="1"/>
          </p:cNvPicPr>
          <p:nvPr>
            <a:videoFile r:link="rId11"/>
            <p:extLst>
              <p:ext uri="{DAA4B4D4-6D71-4841-9C94-3DE7FCFB9230}">
                <p14:media xmlns:p14="http://schemas.microsoft.com/office/powerpoint/2010/main" r:embed="rId10"/>
              </p:ext>
            </p:extLst>
          </p:nvPr>
        </p:nvPicPr>
        <p:blipFill>
          <a:blip r:embed="rId9"/>
          <a:stretch>
            <a:fillRect/>
          </a:stretch>
        </p:blipFill>
        <p:spPr>
          <a:xfrm>
            <a:off x="8266175" y="2084831"/>
            <a:ext cx="3529584" cy="1985391"/>
          </a:xfrm>
          <a:prstGeom prst="rect">
            <a:avLst/>
          </a:prstGeom>
        </p:spPr>
      </p:pic>
      <p:sp>
        <p:nvSpPr>
          <p:cNvPr id="17" name="TextBox 16"/>
          <p:cNvSpPr txBox="1"/>
          <p:nvPr/>
        </p:nvSpPr>
        <p:spPr>
          <a:xfrm>
            <a:off x="8330183"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03</a:t>
            </a:r>
          </a:p>
        </p:txBody>
      </p:sp>
      <p:pic>
        <p:nvPicPr>
          <p:cNvPr id="18" name="Picture 17" descr="masked-lab_proxy-segment-momask-04.jpg"/>
          <p:cNvPicPr>
            <a:picLocks noChangeAspect="1"/>
          </p:cNvPicPr>
          <p:nvPr/>
        </p:nvPicPr>
        <p:blipFill>
          <a:blip r:embed="rId12"/>
          <a:srcRect/>
          <a:stretch>
            <a:fillRect/>
          </a:stretch>
        </p:blipFill>
        <p:spPr>
          <a:xfrm>
            <a:off x="713232" y="4178808"/>
            <a:ext cx="3529584" cy="1985391"/>
          </a:xfrm>
          <a:prstGeom prst="rect">
            <a:avLst/>
          </a:prstGeom>
        </p:spPr>
      </p:pic>
      <p:pic>
        <p:nvPicPr>
          <p:cNvPr id="19" name="masked-lab_proxy-segment-momask-04.mp4">
            <a:hlinkClick r:id="" action="ppaction://media"/>
          </p:cNvPr>
          <p:cNvPicPr>
            <a:picLocks noChangeAspect="1"/>
          </p:cNvPicPr>
          <p:nvPr>
            <a:videoFile r:link="rId14"/>
            <p:extLst>
              <p:ext uri="{DAA4B4D4-6D71-4841-9C94-3DE7FCFB9230}">
                <p14:media xmlns:p14="http://schemas.microsoft.com/office/powerpoint/2010/main" r:embed="rId13"/>
              </p:ext>
            </p:extLst>
          </p:nvPr>
        </p:nvPicPr>
        <p:blipFill>
          <a:blip r:embed="rId12"/>
          <a:stretch>
            <a:fillRect/>
          </a:stretch>
        </p:blipFill>
        <p:spPr>
          <a:xfrm>
            <a:off x="713232" y="4178808"/>
            <a:ext cx="3529584" cy="1985391"/>
          </a:xfrm>
          <a:prstGeom prst="rect">
            <a:avLst/>
          </a:prstGeom>
        </p:spPr>
      </p:pic>
      <p:sp>
        <p:nvSpPr>
          <p:cNvPr id="20" name="TextBox 19"/>
          <p:cNvSpPr txBox="1"/>
          <p:nvPr/>
        </p:nvSpPr>
        <p:spPr>
          <a:xfrm>
            <a:off x="777240"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04</a:t>
            </a:r>
          </a:p>
        </p:txBody>
      </p:sp>
      <p:pic>
        <p:nvPicPr>
          <p:cNvPr id="21" name="Picture 20" descr="masked-lab_proxy-segment-momask-05.jpg"/>
          <p:cNvPicPr>
            <a:picLocks noChangeAspect="1"/>
          </p:cNvPicPr>
          <p:nvPr/>
        </p:nvPicPr>
        <p:blipFill>
          <a:blip r:embed="rId15"/>
          <a:srcRect/>
          <a:stretch>
            <a:fillRect/>
          </a:stretch>
        </p:blipFill>
        <p:spPr>
          <a:xfrm>
            <a:off x="4489704" y="4178808"/>
            <a:ext cx="3529584" cy="1985391"/>
          </a:xfrm>
          <a:prstGeom prst="rect">
            <a:avLst/>
          </a:prstGeom>
        </p:spPr>
      </p:pic>
      <p:pic>
        <p:nvPicPr>
          <p:cNvPr id="22" name="masked-lab_proxy-segment-momask-05.mp4">
            <a:hlinkClick r:id="" action="ppaction://media"/>
          </p:cNvPr>
          <p:cNvPicPr>
            <a:picLocks noChangeAspect="1"/>
          </p:cNvPicPr>
          <p:nvPr>
            <a:videoFile r:link="rId17"/>
            <p:extLst>
              <p:ext uri="{DAA4B4D4-6D71-4841-9C94-3DE7FCFB9230}">
                <p14:media xmlns:p14="http://schemas.microsoft.com/office/powerpoint/2010/main" r:embed="rId16"/>
              </p:ext>
            </p:extLst>
          </p:nvPr>
        </p:nvPicPr>
        <p:blipFill>
          <a:blip r:embed="rId15"/>
          <a:stretch>
            <a:fillRect/>
          </a:stretch>
        </p:blipFill>
        <p:spPr>
          <a:xfrm>
            <a:off x="4489704" y="4178808"/>
            <a:ext cx="3529584" cy="1985391"/>
          </a:xfrm>
          <a:prstGeom prst="rect">
            <a:avLst/>
          </a:prstGeom>
        </p:spPr>
      </p:pic>
      <p:sp>
        <p:nvSpPr>
          <p:cNvPr id="23" name="TextBox 22"/>
          <p:cNvSpPr txBox="1"/>
          <p:nvPr/>
        </p:nvSpPr>
        <p:spPr>
          <a:xfrm>
            <a:off x="4553712"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05</a:t>
            </a:r>
          </a:p>
        </p:txBody>
      </p:sp>
      <p:sp>
        <p:nvSpPr>
          <p:cNvPr id="24" name="Rounded Rectangle 23"/>
          <p:cNvSpPr/>
          <p:nvPr/>
        </p:nvSpPr>
        <p:spPr>
          <a:xfrm>
            <a:off x="8275320" y="4407408"/>
            <a:ext cx="3547872" cy="1490472"/>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75320" y="4407408"/>
            <a:ext cx="41148" cy="1490472"/>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4572000"/>
            <a:ext cx="3200400"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原文の音声・字幕を保持</a:t>
            </a:r>
          </a:p>
        </p:txBody>
      </p:sp>
      <p:sp>
        <p:nvSpPr>
          <p:cNvPr id="27" name="TextBox 26"/>
          <p:cNvSpPr txBox="1"/>
          <p:nvPr/>
        </p:nvSpPr>
        <p:spPr>
          <a:xfrm>
            <a:off x="8458200" y="5120640"/>
            <a:ext cx="3182112" cy="704087"/>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骨格入力のみLLM英訳。</a:t>
            </a:r>
          </a:p>
          <a:p>
            <a:pPr algn="l">
              <a:lnSpc>
                <a:spcPct val="114000"/>
              </a:lnSpc>
              <a:spcAft>
                <a:spcPts val="500"/>
              </a:spcAft>
            </a:pPr>
            <a:r>
              <a:rPr sz="1300" b="0" lang="ja-JP">
                <a:solidFill>
                  <a:srgbClr val="183440"/>
                </a:solidFill>
                <a:latin typeface="Noto Sans CJK JP"/>
                <a:ea typeface="Noto Sans CJK JP"/>
              </a:rPr>
              <a:t>フルHD・30fps・上半身表示。</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3"/>
                </p:tgtEl>
              </p:cMediaNode>
            </p:video>
            <p:video>
              <p:cMediaNode vol="80000">
                <p:cTn id="4" fill="hold" display="0">
                  <p:stCondLst>
                    <p:cond delay="indefinite"/>
                  </p:stCondLst>
                </p:cTn>
                <p:tgtEl>
                  <p:spTgt spid="16"/>
                </p:tgtEl>
              </p:cMediaNode>
            </p:video>
            <p:video>
              <p:cMediaNode vol="80000">
                <p:cTn id="5" fill="hold" display="0">
                  <p:stCondLst>
                    <p:cond delay="indefinite"/>
                  </p:stCondLst>
                </p:cTn>
                <p:tgtEl>
                  <p:spTgt spid="19"/>
                </p:tgtEl>
              </p:cMediaNode>
            </p:video>
            <p:video>
              <p:cMediaNode vol="80000">
                <p:cTn id="6" fill="hold" display="0">
                  <p:stCondLst>
                    <p:cond delay="indefinite"/>
                  </p:stCondLst>
                </p:cTn>
                <p:tgtEl>
                  <p:spTgt spid="22"/>
                </p:tgtEl>
              </p:cMediaNode>
            </p:video>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区間単独動画30本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MoLingo-263 / B300：区間単独5本</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全5区間の動画を埋め込み。1本ずつ再生してください。入力は原文をLLMで英訳した文。</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47</a:t>
            </a:r>
          </a:p>
        </p:txBody>
      </p:sp>
      <p:pic>
        <p:nvPicPr>
          <p:cNvPr id="9" name="Picture 8" descr="masked-b300-segment-molingo-01.jpg"/>
          <p:cNvPicPr>
            <a:picLocks noChangeAspect="1"/>
          </p:cNvPicPr>
          <p:nvPr/>
        </p:nvPicPr>
        <p:blipFill>
          <a:blip r:embed="rId3"/>
          <a:srcRect/>
          <a:stretch>
            <a:fillRect/>
          </a:stretch>
        </p:blipFill>
        <p:spPr>
          <a:xfrm>
            <a:off x="713232" y="2084831"/>
            <a:ext cx="3529584" cy="1985391"/>
          </a:xfrm>
          <a:prstGeom prst="rect">
            <a:avLst/>
          </a:prstGeom>
        </p:spPr>
      </p:pic>
      <p:pic>
        <p:nvPicPr>
          <p:cNvPr id="10" name="masked-b300-segment-molingo-01.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713232" y="2084831"/>
            <a:ext cx="3529584" cy="1985391"/>
          </a:xfrm>
          <a:prstGeom prst="rect">
            <a:avLst/>
          </a:prstGeom>
        </p:spPr>
      </p:pic>
      <p:sp>
        <p:nvSpPr>
          <p:cNvPr id="11" name="TextBox 10"/>
          <p:cNvSpPr txBox="1"/>
          <p:nvPr/>
        </p:nvSpPr>
        <p:spPr>
          <a:xfrm>
            <a:off x="777240"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01</a:t>
            </a:r>
          </a:p>
        </p:txBody>
      </p:sp>
      <p:pic>
        <p:nvPicPr>
          <p:cNvPr id="12" name="Picture 11" descr="masked-b300-segment-molingo-02.jpg"/>
          <p:cNvPicPr>
            <a:picLocks noChangeAspect="1"/>
          </p:cNvPicPr>
          <p:nvPr/>
        </p:nvPicPr>
        <p:blipFill>
          <a:blip r:embed="rId6"/>
          <a:srcRect/>
          <a:stretch>
            <a:fillRect/>
          </a:stretch>
        </p:blipFill>
        <p:spPr>
          <a:xfrm>
            <a:off x="4489704" y="2084831"/>
            <a:ext cx="3529584" cy="1985391"/>
          </a:xfrm>
          <a:prstGeom prst="rect">
            <a:avLst/>
          </a:prstGeom>
        </p:spPr>
      </p:pic>
      <p:pic>
        <p:nvPicPr>
          <p:cNvPr id="13" name="masked-b300-segment-molingo-02.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4489704" y="2084831"/>
            <a:ext cx="3529584" cy="1985391"/>
          </a:xfrm>
          <a:prstGeom prst="rect">
            <a:avLst/>
          </a:prstGeom>
        </p:spPr>
      </p:pic>
      <p:sp>
        <p:nvSpPr>
          <p:cNvPr id="14" name="TextBox 13"/>
          <p:cNvSpPr txBox="1"/>
          <p:nvPr/>
        </p:nvSpPr>
        <p:spPr>
          <a:xfrm>
            <a:off x="4553712"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02</a:t>
            </a:r>
          </a:p>
        </p:txBody>
      </p:sp>
      <p:pic>
        <p:nvPicPr>
          <p:cNvPr id="15" name="Picture 14" descr="masked-b300-segment-molingo-03.jpg"/>
          <p:cNvPicPr>
            <a:picLocks noChangeAspect="1"/>
          </p:cNvPicPr>
          <p:nvPr/>
        </p:nvPicPr>
        <p:blipFill>
          <a:blip r:embed="rId9"/>
          <a:srcRect/>
          <a:stretch>
            <a:fillRect/>
          </a:stretch>
        </p:blipFill>
        <p:spPr>
          <a:xfrm>
            <a:off x="8266175" y="2084831"/>
            <a:ext cx="3529584" cy="1985391"/>
          </a:xfrm>
          <a:prstGeom prst="rect">
            <a:avLst/>
          </a:prstGeom>
        </p:spPr>
      </p:pic>
      <p:pic>
        <p:nvPicPr>
          <p:cNvPr id="16" name="masked-b300-segment-molingo-03.mp4">
            <a:hlinkClick r:id="" action="ppaction://media"/>
          </p:cNvPr>
          <p:cNvPicPr>
            <a:picLocks noChangeAspect="1"/>
          </p:cNvPicPr>
          <p:nvPr>
            <a:videoFile r:link="rId11"/>
            <p:extLst>
              <p:ext uri="{DAA4B4D4-6D71-4841-9C94-3DE7FCFB9230}">
                <p14:media xmlns:p14="http://schemas.microsoft.com/office/powerpoint/2010/main" r:embed="rId10"/>
              </p:ext>
            </p:extLst>
          </p:nvPr>
        </p:nvPicPr>
        <p:blipFill>
          <a:blip r:embed="rId9"/>
          <a:stretch>
            <a:fillRect/>
          </a:stretch>
        </p:blipFill>
        <p:spPr>
          <a:xfrm>
            <a:off x="8266175" y="2084831"/>
            <a:ext cx="3529584" cy="1985391"/>
          </a:xfrm>
          <a:prstGeom prst="rect">
            <a:avLst/>
          </a:prstGeom>
        </p:spPr>
      </p:pic>
      <p:sp>
        <p:nvSpPr>
          <p:cNvPr id="17" name="TextBox 16"/>
          <p:cNvSpPr txBox="1"/>
          <p:nvPr/>
        </p:nvSpPr>
        <p:spPr>
          <a:xfrm>
            <a:off x="8330183"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03</a:t>
            </a:r>
          </a:p>
        </p:txBody>
      </p:sp>
      <p:pic>
        <p:nvPicPr>
          <p:cNvPr id="18" name="Picture 17" descr="masked-b300-segment-molingo-04.jpg"/>
          <p:cNvPicPr>
            <a:picLocks noChangeAspect="1"/>
          </p:cNvPicPr>
          <p:nvPr/>
        </p:nvPicPr>
        <p:blipFill>
          <a:blip r:embed="rId12"/>
          <a:srcRect/>
          <a:stretch>
            <a:fillRect/>
          </a:stretch>
        </p:blipFill>
        <p:spPr>
          <a:xfrm>
            <a:off x="713232" y="4178808"/>
            <a:ext cx="3529584" cy="1985391"/>
          </a:xfrm>
          <a:prstGeom prst="rect">
            <a:avLst/>
          </a:prstGeom>
        </p:spPr>
      </p:pic>
      <p:pic>
        <p:nvPicPr>
          <p:cNvPr id="19" name="masked-b300-segment-molingo-04.mp4">
            <a:hlinkClick r:id="" action="ppaction://media"/>
          </p:cNvPr>
          <p:cNvPicPr>
            <a:picLocks noChangeAspect="1"/>
          </p:cNvPicPr>
          <p:nvPr>
            <a:videoFile r:link="rId14"/>
            <p:extLst>
              <p:ext uri="{DAA4B4D4-6D71-4841-9C94-3DE7FCFB9230}">
                <p14:media xmlns:p14="http://schemas.microsoft.com/office/powerpoint/2010/main" r:embed="rId13"/>
              </p:ext>
            </p:extLst>
          </p:nvPr>
        </p:nvPicPr>
        <p:blipFill>
          <a:blip r:embed="rId12"/>
          <a:stretch>
            <a:fillRect/>
          </a:stretch>
        </p:blipFill>
        <p:spPr>
          <a:xfrm>
            <a:off x="713232" y="4178808"/>
            <a:ext cx="3529584" cy="1985391"/>
          </a:xfrm>
          <a:prstGeom prst="rect">
            <a:avLst/>
          </a:prstGeom>
        </p:spPr>
      </p:pic>
      <p:sp>
        <p:nvSpPr>
          <p:cNvPr id="20" name="TextBox 19"/>
          <p:cNvSpPr txBox="1"/>
          <p:nvPr/>
        </p:nvSpPr>
        <p:spPr>
          <a:xfrm>
            <a:off x="777240"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04</a:t>
            </a:r>
          </a:p>
        </p:txBody>
      </p:sp>
      <p:pic>
        <p:nvPicPr>
          <p:cNvPr id="21" name="Picture 20" descr="masked-b300-segment-molingo-05.jpg"/>
          <p:cNvPicPr>
            <a:picLocks noChangeAspect="1"/>
          </p:cNvPicPr>
          <p:nvPr/>
        </p:nvPicPr>
        <p:blipFill>
          <a:blip r:embed="rId15"/>
          <a:srcRect/>
          <a:stretch>
            <a:fillRect/>
          </a:stretch>
        </p:blipFill>
        <p:spPr>
          <a:xfrm>
            <a:off x="4489704" y="4178808"/>
            <a:ext cx="3529584" cy="1985391"/>
          </a:xfrm>
          <a:prstGeom prst="rect">
            <a:avLst/>
          </a:prstGeom>
        </p:spPr>
      </p:pic>
      <p:pic>
        <p:nvPicPr>
          <p:cNvPr id="22" name="masked-b300-segment-molingo-05.mp4">
            <a:hlinkClick r:id="" action="ppaction://media"/>
          </p:cNvPr>
          <p:cNvPicPr>
            <a:picLocks noChangeAspect="1"/>
          </p:cNvPicPr>
          <p:nvPr>
            <a:videoFile r:link="rId17"/>
            <p:extLst>
              <p:ext uri="{DAA4B4D4-6D71-4841-9C94-3DE7FCFB9230}">
                <p14:media xmlns:p14="http://schemas.microsoft.com/office/powerpoint/2010/main" r:embed="rId16"/>
              </p:ext>
            </p:extLst>
          </p:nvPr>
        </p:nvPicPr>
        <p:blipFill>
          <a:blip r:embed="rId15"/>
          <a:stretch>
            <a:fillRect/>
          </a:stretch>
        </p:blipFill>
        <p:spPr>
          <a:xfrm>
            <a:off x="4489704" y="4178808"/>
            <a:ext cx="3529584" cy="1985391"/>
          </a:xfrm>
          <a:prstGeom prst="rect">
            <a:avLst/>
          </a:prstGeom>
        </p:spPr>
      </p:pic>
      <p:sp>
        <p:nvSpPr>
          <p:cNvPr id="23" name="TextBox 22"/>
          <p:cNvSpPr txBox="1"/>
          <p:nvPr/>
        </p:nvSpPr>
        <p:spPr>
          <a:xfrm>
            <a:off x="4553712"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05</a:t>
            </a:r>
          </a:p>
        </p:txBody>
      </p:sp>
      <p:sp>
        <p:nvSpPr>
          <p:cNvPr id="24" name="Rounded Rectangle 23"/>
          <p:cNvSpPr/>
          <p:nvPr/>
        </p:nvSpPr>
        <p:spPr>
          <a:xfrm>
            <a:off x="8275320" y="4407408"/>
            <a:ext cx="3547872" cy="1490472"/>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75320" y="4407408"/>
            <a:ext cx="41148" cy="1490472"/>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4572000"/>
            <a:ext cx="3200400"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原文の音声・字幕を保持</a:t>
            </a:r>
          </a:p>
        </p:txBody>
      </p:sp>
      <p:sp>
        <p:nvSpPr>
          <p:cNvPr id="27" name="TextBox 26"/>
          <p:cNvSpPr txBox="1"/>
          <p:nvPr/>
        </p:nvSpPr>
        <p:spPr>
          <a:xfrm>
            <a:off x="8458200" y="5120640"/>
            <a:ext cx="3182112" cy="704087"/>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骨格入力のみLLM英訳。</a:t>
            </a:r>
          </a:p>
          <a:p>
            <a:pPr algn="l">
              <a:lnSpc>
                <a:spcPct val="114000"/>
              </a:lnSpc>
              <a:spcAft>
                <a:spcPts val="500"/>
              </a:spcAft>
            </a:pPr>
            <a:r>
              <a:rPr sz="1300" b="0" lang="ja-JP">
                <a:solidFill>
                  <a:srgbClr val="183440"/>
                </a:solidFill>
                <a:latin typeface="Noto Sans CJK JP"/>
                <a:ea typeface="Noto Sans CJK JP"/>
              </a:rPr>
              <a:t>フルHD・30fps・上半身表示。</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3"/>
                </p:tgtEl>
              </p:cMediaNode>
            </p:video>
            <p:video>
              <p:cMediaNode vol="80000">
                <p:cTn id="4" fill="hold" display="0">
                  <p:stCondLst>
                    <p:cond delay="indefinite"/>
                  </p:stCondLst>
                </p:cTn>
                <p:tgtEl>
                  <p:spTgt spid="16"/>
                </p:tgtEl>
              </p:cMediaNode>
            </p:video>
            <p:video>
              <p:cMediaNode vol="80000">
                <p:cTn id="5" fill="hold" display="0">
                  <p:stCondLst>
                    <p:cond delay="indefinite"/>
                  </p:stCondLst>
                </p:cTn>
                <p:tgtEl>
                  <p:spTgt spid="19"/>
                </p:tgtEl>
              </p:cMediaNode>
            </p:video>
            <p:video>
              <p:cMediaNode vol="80000">
                <p:cTn id="6" fill="hold" display="0">
                  <p:stCondLst>
                    <p:cond delay="indefinite"/>
                  </p:stCondLst>
                </p:cTn>
                <p:tgtEl>
                  <p:spTgt spid="22"/>
                </p:tgtEl>
              </p:cMediaNode>
            </p:video>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区間単独動画30本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ReMoMask-2 / B300：区間単独5本</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全5区間の動画を埋め込み。1本ずつ再生してください。入力は原文をLLMで英訳した文。</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48</a:t>
            </a:r>
          </a:p>
        </p:txBody>
      </p:sp>
      <p:pic>
        <p:nvPicPr>
          <p:cNvPr id="9" name="Picture 8" descr="masked-b300-segment-remomask2-01.jpg"/>
          <p:cNvPicPr>
            <a:picLocks noChangeAspect="1"/>
          </p:cNvPicPr>
          <p:nvPr/>
        </p:nvPicPr>
        <p:blipFill>
          <a:blip r:embed="rId3"/>
          <a:srcRect/>
          <a:stretch>
            <a:fillRect/>
          </a:stretch>
        </p:blipFill>
        <p:spPr>
          <a:xfrm>
            <a:off x="713232" y="2084831"/>
            <a:ext cx="3529584" cy="1985391"/>
          </a:xfrm>
          <a:prstGeom prst="rect">
            <a:avLst/>
          </a:prstGeom>
        </p:spPr>
      </p:pic>
      <p:pic>
        <p:nvPicPr>
          <p:cNvPr id="10" name="masked-b300-segment-remomask2-01.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713232" y="2084831"/>
            <a:ext cx="3529584" cy="1985391"/>
          </a:xfrm>
          <a:prstGeom prst="rect">
            <a:avLst/>
          </a:prstGeom>
        </p:spPr>
      </p:pic>
      <p:sp>
        <p:nvSpPr>
          <p:cNvPr id="11" name="TextBox 10"/>
          <p:cNvSpPr txBox="1"/>
          <p:nvPr/>
        </p:nvSpPr>
        <p:spPr>
          <a:xfrm>
            <a:off x="777240"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01</a:t>
            </a:r>
          </a:p>
        </p:txBody>
      </p:sp>
      <p:pic>
        <p:nvPicPr>
          <p:cNvPr id="12" name="Picture 11" descr="masked-b300-segment-remomask2-02.jpg"/>
          <p:cNvPicPr>
            <a:picLocks noChangeAspect="1"/>
          </p:cNvPicPr>
          <p:nvPr/>
        </p:nvPicPr>
        <p:blipFill>
          <a:blip r:embed="rId6"/>
          <a:srcRect/>
          <a:stretch>
            <a:fillRect/>
          </a:stretch>
        </p:blipFill>
        <p:spPr>
          <a:xfrm>
            <a:off x="4489704" y="2084831"/>
            <a:ext cx="3529584" cy="1985391"/>
          </a:xfrm>
          <a:prstGeom prst="rect">
            <a:avLst/>
          </a:prstGeom>
        </p:spPr>
      </p:pic>
      <p:pic>
        <p:nvPicPr>
          <p:cNvPr id="13" name="masked-b300-segment-remomask2-02.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4489704" y="2084831"/>
            <a:ext cx="3529584" cy="1985391"/>
          </a:xfrm>
          <a:prstGeom prst="rect">
            <a:avLst/>
          </a:prstGeom>
        </p:spPr>
      </p:pic>
      <p:sp>
        <p:nvSpPr>
          <p:cNvPr id="14" name="TextBox 13"/>
          <p:cNvSpPr txBox="1"/>
          <p:nvPr/>
        </p:nvSpPr>
        <p:spPr>
          <a:xfrm>
            <a:off x="4553712"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02</a:t>
            </a:r>
          </a:p>
        </p:txBody>
      </p:sp>
      <p:pic>
        <p:nvPicPr>
          <p:cNvPr id="15" name="Picture 14" descr="masked-b300-segment-remomask2-03.jpg"/>
          <p:cNvPicPr>
            <a:picLocks noChangeAspect="1"/>
          </p:cNvPicPr>
          <p:nvPr/>
        </p:nvPicPr>
        <p:blipFill>
          <a:blip r:embed="rId9"/>
          <a:srcRect/>
          <a:stretch>
            <a:fillRect/>
          </a:stretch>
        </p:blipFill>
        <p:spPr>
          <a:xfrm>
            <a:off x="8266175" y="2084831"/>
            <a:ext cx="3529584" cy="1985391"/>
          </a:xfrm>
          <a:prstGeom prst="rect">
            <a:avLst/>
          </a:prstGeom>
        </p:spPr>
      </p:pic>
      <p:pic>
        <p:nvPicPr>
          <p:cNvPr id="16" name="masked-b300-segment-remomask2-03.mp4">
            <a:hlinkClick r:id="" action="ppaction://media"/>
          </p:cNvPr>
          <p:cNvPicPr>
            <a:picLocks noChangeAspect="1"/>
          </p:cNvPicPr>
          <p:nvPr>
            <a:videoFile r:link="rId11"/>
            <p:extLst>
              <p:ext uri="{DAA4B4D4-6D71-4841-9C94-3DE7FCFB9230}">
                <p14:media xmlns:p14="http://schemas.microsoft.com/office/powerpoint/2010/main" r:embed="rId10"/>
              </p:ext>
            </p:extLst>
          </p:nvPr>
        </p:nvPicPr>
        <p:blipFill>
          <a:blip r:embed="rId9"/>
          <a:stretch>
            <a:fillRect/>
          </a:stretch>
        </p:blipFill>
        <p:spPr>
          <a:xfrm>
            <a:off x="8266175" y="2084831"/>
            <a:ext cx="3529584" cy="1985391"/>
          </a:xfrm>
          <a:prstGeom prst="rect">
            <a:avLst/>
          </a:prstGeom>
        </p:spPr>
      </p:pic>
      <p:sp>
        <p:nvSpPr>
          <p:cNvPr id="17" name="TextBox 16"/>
          <p:cNvSpPr txBox="1"/>
          <p:nvPr/>
        </p:nvSpPr>
        <p:spPr>
          <a:xfrm>
            <a:off x="8330183"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03</a:t>
            </a:r>
          </a:p>
        </p:txBody>
      </p:sp>
      <p:pic>
        <p:nvPicPr>
          <p:cNvPr id="18" name="Picture 17" descr="masked-b300-segment-remomask2-04.jpg"/>
          <p:cNvPicPr>
            <a:picLocks noChangeAspect="1"/>
          </p:cNvPicPr>
          <p:nvPr/>
        </p:nvPicPr>
        <p:blipFill>
          <a:blip r:embed="rId12"/>
          <a:srcRect/>
          <a:stretch>
            <a:fillRect/>
          </a:stretch>
        </p:blipFill>
        <p:spPr>
          <a:xfrm>
            <a:off x="713232" y="4178808"/>
            <a:ext cx="3529584" cy="1985391"/>
          </a:xfrm>
          <a:prstGeom prst="rect">
            <a:avLst/>
          </a:prstGeom>
        </p:spPr>
      </p:pic>
      <p:pic>
        <p:nvPicPr>
          <p:cNvPr id="19" name="masked-b300-segment-remomask2-04.mp4">
            <a:hlinkClick r:id="" action="ppaction://media"/>
          </p:cNvPr>
          <p:cNvPicPr>
            <a:picLocks noChangeAspect="1"/>
          </p:cNvPicPr>
          <p:nvPr>
            <a:videoFile r:link="rId14"/>
            <p:extLst>
              <p:ext uri="{DAA4B4D4-6D71-4841-9C94-3DE7FCFB9230}">
                <p14:media xmlns:p14="http://schemas.microsoft.com/office/powerpoint/2010/main" r:embed="rId13"/>
              </p:ext>
            </p:extLst>
          </p:nvPr>
        </p:nvPicPr>
        <p:blipFill>
          <a:blip r:embed="rId12"/>
          <a:stretch>
            <a:fillRect/>
          </a:stretch>
        </p:blipFill>
        <p:spPr>
          <a:xfrm>
            <a:off x="713232" y="4178808"/>
            <a:ext cx="3529584" cy="1985391"/>
          </a:xfrm>
          <a:prstGeom prst="rect">
            <a:avLst/>
          </a:prstGeom>
        </p:spPr>
      </p:pic>
      <p:sp>
        <p:nvSpPr>
          <p:cNvPr id="20" name="TextBox 19"/>
          <p:cNvSpPr txBox="1"/>
          <p:nvPr/>
        </p:nvSpPr>
        <p:spPr>
          <a:xfrm>
            <a:off x="777240"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04</a:t>
            </a:r>
          </a:p>
        </p:txBody>
      </p:sp>
      <p:pic>
        <p:nvPicPr>
          <p:cNvPr id="21" name="Picture 20" descr="masked-b300-segment-remomask2-05.jpg"/>
          <p:cNvPicPr>
            <a:picLocks noChangeAspect="1"/>
          </p:cNvPicPr>
          <p:nvPr/>
        </p:nvPicPr>
        <p:blipFill>
          <a:blip r:embed="rId15"/>
          <a:srcRect/>
          <a:stretch>
            <a:fillRect/>
          </a:stretch>
        </p:blipFill>
        <p:spPr>
          <a:xfrm>
            <a:off x="4489704" y="4178808"/>
            <a:ext cx="3529584" cy="1985391"/>
          </a:xfrm>
          <a:prstGeom prst="rect">
            <a:avLst/>
          </a:prstGeom>
        </p:spPr>
      </p:pic>
      <p:pic>
        <p:nvPicPr>
          <p:cNvPr id="22" name="masked-b300-segment-remomask2-05.mp4">
            <a:hlinkClick r:id="" action="ppaction://media"/>
          </p:cNvPr>
          <p:cNvPicPr>
            <a:picLocks noChangeAspect="1"/>
          </p:cNvPicPr>
          <p:nvPr>
            <a:videoFile r:link="rId17"/>
            <p:extLst>
              <p:ext uri="{DAA4B4D4-6D71-4841-9C94-3DE7FCFB9230}">
                <p14:media xmlns:p14="http://schemas.microsoft.com/office/powerpoint/2010/main" r:embed="rId16"/>
              </p:ext>
            </p:extLst>
          </p:nvPr>
        </p:nvPicPr>
        <p:blipFill>
          <a:blip r:embed="rId15"/>
          <a:stretch>
            <a:fillRect/>
          </a:stretch>
        </p:blipFill>
        <p:spPr>
          <a:xfrm>
            <a:off x="4489704" y="4178808"/>
            <a:ext cx="3529584" cy="1985391"/>
          </a:xfrm>
          <a:prstGeom prst="rect">
            <a:avLst/>
          </a:prstGeom>
        </p:spPr>
      </p:pic>
      <p:sp>
        <p:nvSpPr>
          <p:cNvPr id="23" name="TextBox 22"/>
          <p:cNvSpPr txBox="1"/>
          <p:nvPr/>
        </p:nvSpPr>
        <p:spPr>
          <a:xfrm>
            <a:off x="4553712"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05</a:t>
            </a:r>
          </a:p>
        </p:txBody>
      </p:sp>
      <p:sp>
        <p:nvSpPr>
          <p:cNvPr id="24" name="Rounded Rectangle 23"/>
          <p:cNvSpPr/>
          <p:nvPr/>
        </p:nvSpPr>
        <p:spPr>
          <a:xfrm>
            <a:off x="8275320" y="4407408"/>
            <a:ext cx="3547872" cy="1490472"/>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75320" y="4407408"/>
            <a:ext cx="41148" cy="1490472"/>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4572000"/>
            <a:ext cx="3200400"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原文の音声・字幕を保持</a:t>
            </a:r>
          </a:p>
        </p:txBody>
      </p:sp>
      <p:sp>
        <p:nvSpPr>
          <p:cNvPr id="27" name="TextBox 26"/>
          <p:cNvSpPr txBox="1"/>
          <p:nvPr/>
        </p:nvSpPr>
        <p:spPr>
          <a:xfrm>
            <a:off x="8458200" y="5120640"/>
            <a:ext cx="3182112" cy="704087"/>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骨格入力のみLLM英訳。</a:t>
            </a:r>
          </a:p>
          <a:p>
            <a:pPr algn="l">
              <a:lnSpc>
                <a:spcPct val="114000"/>
              </a:lnSpc>
              <a:spcAft>
                <a:spcPts val="500"/>
              </a:spcAft>
            </a:pPr>
            <a:r>
              <a:rPr sz="1300" b="0" lang="ja-JP">
                <a:solidFill>
                  <a:srgbClr val="183440"/>
                </a:solidFill>
                <a:latin typeface="Noto Sans CJK JP"/>
                <a:ea typeface="Noto Sans CJK JP"/>
              </a:rPr>
              <a:t>フルHD・30fps・上半身表示。</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3"/>
                </p:tgtEl>
              </p:cMediaNode>
            </p:video>
            <p:video>
              <p:cMediaNode vol="80000">
                <p:cTn id="4" fill="hold" display="0">
                  <p:stCondLst>
                    <p:cond delay="indefinite"/>
                  </p:stCondLst>
                </p:cTn>
                <p:tgtEl>
                  <p:spTgt spid="16"/>
                </p:tgtEl>
              </p:cMediaNode>
            </p:video>
            <p:video>
              <p:cMediaNode vol="80000">
                <p:cTn id="5" fill="hold" display="0">
                  <p:stCondLst>
                    <p:cond delay="indefinite"/>
                  </p:stCondLst>
                </p:cTn>
                <p:tgtEl>
                  <p:spTgt spid="19"/>
                </p:tgtEl>
              </p:cMediaNode>
            </p:video>
            <p:video>
              <p:cMediaNode vol="80000">
                <p:cTn id="6" fill="hold" display="0">
                  <p:stCondLst>
                    <p:cond delay="indefinite"/>
                  </p:stCondLst>
                </p:cTn>
                <p:tgtEl>
                  <p:spTgt spid="22"/>
                </p:tgtEl>
              </p:cMediaNode>
            </p:video>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第2期 / 区間単独動画30本</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MoMask / B300：区間単独5本</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全5区間の動画を埋め込み。1本ずつ再生してください。入力は原文をLLMで英訳した文。</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追加実験 2026-10-16 / reports/masked-models-20261016 / seed0の全編を収録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49</a:t>
            </a:r>
          </a:p>
        </p:txBody>
      </p:sp>
      <p:pic>
        <p:nvPicPr>
          <p:cNvPr id="9" name="Picture 8" descr="masked-b300-segment-momask-01.jpg"/>
          <p:cNvPicPr>
            <a:picLocks noChangeAspect="1"/>
          </p:cNvPicPr>
          <p:nvPr/>
        </p:nvPicPr>
        <p:blipFill>
          <a:blip r:embed="rId3"/>
          <a:srcRect/>
          <a:stretch>
            <a:fillRect/>
          </a:stretch>
        </p:blipFill>
        <p:spPr>
          <a:xfrm>
            <a:off x="713232" y="2084831"/>
            <a:ext cx="3529584" cy="1985391"/>
          </a:xfrm>
          <a:prstGeom prst="rect">
            <a:avLst/>
          </a:prstGeom>
        </p:spPr>
      </p:pic>
      <p:pic>
        <p:nvPicPr>
          <p:cNvPr id="10" name="masked-b300-segment-momask-01.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713232" y="2084831"/>
            <a:ext cx="3529584" cy="1985391"/>
          </a:xfrm>
          <a:prstGeom prst="rect">
            <a:avLst/>
          </a:prstGeom>
        </p:spPr>
      </p:pic>
      <p:sp>
        <p:nvSpPr>
          <p:cNvPr id="11" name="TextBox 10"/>
          <p:cNvSpPr txBox="1"/>
          <p:nvPr/>
        </p:nvSpPr>
        <p:spPr>
          <a:xfrm>
            <a:off x="777240"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01</a:t>
            </a:r>
          </a:p>
        </p:txBody>
      </p:sp>
      <p:pic>
        <p:nvPicPr>
          <p:cNvPr id="12" name="Picture 11" descr="masked-b300-segment-momask-02.jpg"/>
          <p:cNvPicPr>
            <a:picLocks noChangeAspect="1"/>
          </p:cNvPicPr>
          <p:nvPr/>
        </p:nvPicPr>
        <p:blipFill>
          <a:blip r:embed="rId6"/>
          <a:srcRect/>
          <a:stretch>
            <a:fillRect/>
          </a:stretch>
        </p:blipFill>
        <p:spPr>
          <a:xfrm>
            <a:off x="4489704" y="2084831"/>
            <a:ext cx="3529584" cy="1985391"/>
          </a:xfrm>
          <a:prstGeom prst="rect">
            <a:avLst/>
          </a:prstGeom>
        </p:spPr>
      </p:pic>
      <p:pic>
        <p:nvPicPr>
          <p:cNvPr id="13" name="masked-b300-segment-momask-02.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6"/>
          <a:stretch>
            <a:fillRect/>
          </a:stretch>
        </p:blipFill>
        <p:spPr>
          <a:xfrm>
            <a:off x="4489704" y="2084831"/>
            <a:ext cx="3529584" cy="1985391"/>
          </a:xfrm>
          <a:prstGeom prst="rect">
            <a:avLst/>
          </a:prstGeom>
        </p:spPr>
      </p:pic>
      <p:sp>
        <p:nvSpPr>
          <p:cNvPr id="14" name="TextBox 13"/>
          <p:cNvSpPr txBox="1"/>
          <p:nvPr/>
        </p:nvSpPr>
        <p:spPr>
          <a:xfrm>
            <a:off x="4553712"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02</a:t>
            </a:r>
          </a:p>
        </p:txBody>
      </p:sp>
      <p:pic>
        <p:nvPicPr>
          <p:cNvPr id="15" name="Picture 14" descr="masked-b300-segment-momask-03.jpg"/>
          <p:cNvPicPr>
            <a:picLocks noChangeAspect="1"/>
          </p:cNvPicPr>
          <p:nvPr/>
        </p:nvPicPr>
        <p:blipFill>
          <a:blip r:embed="rId9"/>
          <a:srcRect/>
          <a:stretch>
            <a:fillRect/>
          </a:stretch>
        </p:blipFill>
        <p:spPr>
          <a:xfrm>
            <a:off x="8266175" y="2084831"/>
            <a:ext cx="3529584" cy="1985391"/>
          </a:xfrm>
          <a:prstGeom prst="rect">
            <a:avLst/>
          </a:prstGeom>
        </p:spPr>
      </p:pic>
      <p:pic>
        <p:nvPicPr>
          <p:cNvPr id="16" name="masked-b300-segment-momask-03.mp4">
            <a:hlinkClick r:id="" action="ppaction://media"/>
          </p:cNvPr>
          <p:cNvPicPr>
            <a:picLocks noChangeAspect="1"/>
          </p:cNvPicPr>
          <p:nvPr>
            <a:videoFile r:link="rId11"/>
            <p:extLst>
              <p:ext uri="{DAA4B4D4-6D71-4841-9C94-3DE7FCFB9230}">
                <p14:media xmlns:p14="http://schemas.microsoft.com/office/powerpoint/2010/main" r:embed="rId10"/>
              </p:ext>
            </p:extLst>
          </p:nvPr>
        </p:nvPicPr>
        <p:blipFill>
          <a:blip r:embed="rId9"/>
          <a:stretch>
            <a:fillRect/>
          </a:stretch>
        </p:blipFill>
        <p:spPr>
          <a:xfrm>
            <a:off x="8266175" y="2084831"/>
            <a:ext cx="3529584" cy="1985391"/>
          </a:xfrm>
          <a:prstGeom prst="rect">
            <a:avLst/>
          </a:prstGeom>
        </p:spPr>
      </p:pic>
      <p:sp>
        <p:nvSpPr>
          <p:cNvPr id="17" name="TextBox 16"/>
          <p:cNvSpPr txBox="1"/>
          <p:nvPr/>
        </p:nvSpPr>
        <p:spPr>
          <a:xfrm>
            <a:off x="8330183" y="2112263"/>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03</a:t>
            </a:r>
          </a:p>
        </p:txBody>
      </p:sp>
      <p:pic>
        <p:nvPicPr>
          <p:cNvPr id="18" name="Picture 17" descr="masked-b300-segment-momask-04.jpg"/>
          <p:cNvPicPr>
            <a:picLocks noChangeAspect="1"/>
          </p:cNvPicPr>
          <p:nvPr/>
        </p:nvPicPr>
        <p:blipFill>
          <a:blip r:embed="rId12"/>
          <a:srcRect/>
          <a:stretch>
            <a:fillRect/>
          </a:stretch>
        </p:blipFill>
        <p:spPr>
          <a:xfrm>
            <a:off x="713232" y="4178808"/>
            <a:ext cx="3529584" cy="1985391"/>
          </a:xfrm>
          <a:prstGeom prst="rect">
            <a:avLst/>
          </a:prstGeom>
        </p:spPr>
      </p:pic>
      <p:pic>
        <p:nvPicPr>
          <p:cNvPr id="19" name="masked-b300-segment-momask-04.mp4">
            <a:hlinkClick r:id="" action="ppaction://media"/>
          </p:cNvPr>
          <p:cNvPicPr>
            <a:picLocks noChangeAspect="1"/>
          </p:cNvPicPr>
          <p:nvPr>
            <a:videoFile r:link="rId14"/>
            <p:extLst>
              <p:ext uri="{DAA4B4D4-6D71-4841-9C94-3DE7FCFB9230}">
                <p14:media xmlns:p14="http://schemas.microsoft.com/office/powerpoint/2010/main" r:embed="rId13"/>
              </p:ext>
            </p:extLst>
          </p:nvPr>
        </p:nvPicPr>
        <p:blipFill>
          <a:blip r:embed="rId12"/>
          <a:stretch>
            <a:fillRect/>
          </a:stretch>
        </p:blipFill>
        <p:spPr>
          <a:xfrm>
            <a:off x="713232" y="4178808"/>
            <a:ext cx="3529584" cy="1985391"/>
          </a:xfrm>
          <a:prstGeom prst="rect">
            <a:avLst/>
          </a:prstGeom>
        </p:spPr>
      </p:pic>
      <p:sp>
        <p:nvSpPr>
          <p:cNvPr id="20" name="TextBox 19"/>
          <p:cNvSpPr txBox="1"/>
          <p:nvPr/>
        </p:nvSpPr>
        <p:spPr>
          <a:xfrm>
            <a:off x="777240"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04</a:t>
            </a:r>
          </a:p>
        </p:txBody>
      </p:sp>
      <p:pic>
        <p:nvPicPr>
          <p:cNvPr id="21" name="Picture 20" descr="masked-b300-segment-momask-05.jpg"/>
          <p:cNvPicPr>
            <a:picLocks noChangeAspect="1"/>
          </p:cNvPicPr>
          <p:nvPr/>
        </p:nvPicPr>
        <p:blipFill>
          <a:blip r:embed="rId15"/>
          <a:srcRect/>
          <a:stretch>
            <a:fillRect/>
          </a:stretch>
        </p:blipFill>
        <p:spPr>
          <a:xfrm>
            <a:off x="4489704" y="4178808"/>
            <a:ext cx="3529584" cy="1985391"/>
          </a:xfrm>
          <a:prstGeom prst="rect">
            <a:avLst/>
          </a:prstGeom>
        </p:spPr>
      </p:pic>
      <p:pic>
        <p:nvPicPr>
          <p:cNvPr id="22" name="masked-b300-segment-momask-05.mp4">
            <a:hlinkClick r:id="" action="ppaction://media"/>
          </p:cNvPr>
          <p:cNvPicPr>
            <a:picLocks noChangeAspect="1"/>
          </p:cNvPicPr>
          <p:nvPr>
            <a:videoFile r:link="rId17"/>
            <p:extLst>
              <p:ext uri="{DAA4B4D4-6D71-4841-9C94-3DE7FCFB9230}">
                <p14:media xmlns:p14="http://schemas.microsoft.com/office/powerpoint/2010/main" r:embed="rId16"/>
              </p:ext>
            </p:extLst>
          </p:nvPr>
        </p:nvPicPr>
        <p:blipFill>
          <a:blip r:embed="rId15"/>
          <a:stretch>
            <a:fillRect/>
          </a:stretch>
        </p:blipFill>
        <p:spPr>
          <a:xfrm>
            <a:off x="4489704" y="4178808"/>
            <a:ext cx="3529584" cy="1985391"/>
          </a:xfrm>
          <a:prstGeom prst="rect">
            <a:avLst/>
          </a:prstGeom>
        </p:spPr>
      </p:pic>
      <p:sp>
        <p:nvSpPr>
          <p:cNvPr id="23" name="TextBox 22"/>
          <p:cNvSpPr txBox="1"/>
          <p:nvPr/>
        </p:nvSpPr>
        <p:spPr>
          <a:xfrm>
            <a:off x="4553712" y="4206240"/>
            <a:ext cx="640080" cy="201168"/>
          </a:xfrm>
          <a:prstGeom prst="rect">
            <a:avLst/>
          </a:prstGeom>
          <a:noFill/>
        </p:spPr>
        <p:txBody>
          <a:bodyPr wrap="square" lIns="0" rIns="0" tIns="0" bIns="0" anchor="t">
            <a:spAutoFit/>
          </a:bodyPr>
          <a:lstStyle/>
          <a:p>
            <a:pPr algn="l">
              <a:lnSpc>
                <a:spcPct val="114000"/>
              </a:lnSpc>
              <a:spcAft>
                <a:spcPts val="500"/>
              </a:spcAft>
            </a:pPr>
            <a:r>
              <a:rPr sz="1000" b="1" lang="ja-JP">
                <a:solidFill>
                  <a:srgbClr val="FFFFFF"/>
                </a:solidFill>
                <a:latin typeface="Noto Sans CJK JP"/>
                <a:ea typeface="Noto Sans CJK JP"/>
              </a:rPr>
              <a:t>05</a:t>
            </a:r>
          </a:p>
        </p:txBody>
      </p:sp>
      <p:sp>
        <p:nvSpPr>
          <p:cNvPr id="24" name="Rounded Rectangle 23"/>
          <p:cNvSpPr/>
          <p:nvPr/>
        </p:nvSpPr>
        <p:spPr>
          <a:xfrm>
            <a:off x="8275320" y="4407408"/>
            <a:ext cx="3547872" cy="1490472"/>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75320" y="4407408"/>
            <a:ext cx="41148" cy="1490472"/>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4572000"/>
            <a:ext cx="3200400"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原文の音声・字幕を保持</a:t>
            </a:r>
          </a:p>
        </p:txBody>
      </p:sp>
      <p:sp>
        <p:nvSpPr>
          <p:cNvPr id="27" name="TextBox 26"/>
          <p:cNvSpPr txBox="1"/>
          <p:nvPr/>
        </p:nvSpPr>
        <p:spPr>
          <a:xfrm>
            <a:off x="8458200" y="5120640"/>
            <a:ext cx="3182112" cy="704087"/>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骨格入力のみLLM英訳。</a:t>
            </a:r>
          </a:p>
          <a:p>
            <a:pPr algn="l">
              <a:lnSpc>
                <a:spcPct val="114000"/>
              </a:lnSpc>
              <a:spcAft>
                <a:spcPts val="500"/>
              </a:spcAft>
            </a:pPr>
            <a:r>
              <a:rPr sz="1300" b="0" lang="ja-JP">
                <a:solidFill>
                  <a:srgbClr val="183440"/>
                </a:solidFill>
                <a:latin typeface="Noto Sans CJK JP"/>
                <a:ea typeface="Noto Sans CJK JP"/>
              </a:rPr>
              <a:t>フルHD・30fps・上半身表示。</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3"/>
                </p:tgtEl>
              </p:cMediaNode>
            </p:video>
            <p:video>
              <p:cMediaNode vol="80000">
                <p:cTn id="4" fill="hold" display="0">
                  <p:stCondLst>
                    <p:cond delay="indefinite"/>
                  </p:stCondLst>
                </p:cTn>
                <p:tgtEl>
                  <p:spTgt spid="16"/>
                </p:tgtEl>
              </p:cMediaNode>
            </p:video>
            <p:video>
              <p:cMediaNode vol="80000">
                <p:cTn id="5" fill="hold" display="0">
                  <p:stCondLst>
                    <p:cond delay="indefinite"/>
                  </p:stCondLst>
                </p:cTn>
                <p:tgtEl>
                  <p:spTgt spid="19"/>
                </p:tgtEl>
              </p:cMediaNode>
            </p:video>
            <p:video>
              <p:cMediaNode vol="80000">
                <p:cTn id="6" fill="hold" display="0">
                  <p:stCondLst>
                    <p:cond delay="indefinite"/>
                  </p:stCondLst>
                </p:cTn>
                <p:tgtEl>
                  <p:spTgt spid="2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音声対話 × Text-to-Motion × VRM — 英訳入力の追加実験報告</dc:title>
  <dc:subject>9モデルの既存検証、MoLingo・ReMoMask-2・MoMaskの2GPU比較、全60動画</dc:subject>
  <dc:creator>textToMotion experiment report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